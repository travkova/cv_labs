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85d4fc0f148b1" /><Relationship Type="http://schemas.openxmlformats.org/officeDocument/2006/relationships/extended-properties" Target="/docProps/app.xml" Id="Rac81ee9183794c36" /><Relationship Type="http://schemas.openxmlformats.org/officeDocument/2006/relationships/officeDocument" Target="/ppt/presentation.xml" Id="R18b928a193074f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18b34effc4902"/>
  </p:sldMasterIdLst>
  <p:notesMasterIdLst>
    <p:notesMasterId xmlns:r="http://schemas.openxmlformats.org/officeDocument/2006/relationships" r:id="R49c14f54316a44bf"/>
  </p:notesMasterIdLst>
  <p:sldIdLst>
    <p:sldId xmlns:r="http://schemas.openxmlformats.org/officeDocument/2006/relationships" id="256" r:id="Ra5782e759eba4e53"/>
    <p:sldId xmlns:r="http://schemas.openxmlformats.org/officeDocument/2006/relationships" id="257" r:id="R20086abf713947fd"/>
    <p:sldId xmlns:r="http://schemas.openxmlformats.org/officeDocument/2006/relationships" id="258" r:id="R7b6ec8722ffc4377"/>
    <p:sldId xmlns:r="http://schemas.openxmlformats.org/officeDocument/2006/relationships" id="259" r:id="Ra967ff0b5b264cf2"/>
    <p:sldId xmlns:r="http://schemas.openxmlformats.org/officeDocument/2006/relationships" id="260" r:id="Reb8a59c40af74c8a"/>
    <p:sldId xmlns:r="http://schemas.openxmlformats.org/officeDocument/2006/relationships" id="261" r:id="R6617649284e240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5e489f681416f" /><Relationship Type="http://schemas.openxmlformats.org/officeDocument/2006/relationships/slideMaster" Target="/ppt/slideMasters/slideMaster1.xml" Id="R2ac18b34effc4902" /><Relationship Type="http://schemas.openxmlformats.org/officeDocument/2006/relationships/notesMaster" Target="/ppt/notesMasters/notesMaster1.xml" Id="R49c14f54316a44bf" /><Relationship Type="http://schemas.openxmlformats.org/officeDocument/2006/relationships/presProps" Target="/ppt/presProps.xml" Id="R13bd70f8006f45c4" /><Relationship Type="http://schemas.openxmlformats.org/officeDocument/2006/relationships/tableStyles" Target="/ppt/tableStyles.xml" Id="Rea47703529e646d5" /><Relationship Type="http://schemas.openxmlformats.org/officeDocument/2006/relationships/slide" Target="/ppt/slides/slide1.xml" Id="Ra5782e759eba4e53" /><Relationship Type="http://schemas.openxmlformats.org/officeDocument/2006/relationships/slide" Target="/ppt/slides/slide2.xml" Id="R20086abf713947fd" /><Relationship Type="http://schemas.openxmlformats.org/officeDocument/2006/relationships/slide" Target="/ppt/slides/slide3.xml" Id="R7b6ec8722ffc4377" /><Relationship Type="http://schemas.openxmlformats.org/officeDocument/2006/relationships/slide" Target="/ppt/slides/slide4.xml" Id="Ra967ff0b5b264cf2" /><Relationship Type="http://schemas.openxmlformats.org/officeDocument/2006/relationships/slide" Target="/ppt/slides/slide5.xml" Id="Reb8a59c40af74c8a" /><Relationship Type="http://schemas.openxmlformats.org/officeDocument/2006/relationships/slide" Target="/ppt/slides/slide6.xml" Id="R6617649284e240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5c123f3a4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ab37717c0146e3" /><Relationship Type="http://schemas.openxmlformats.org/officeDocument/2006/relationships/notesMaster" Target="/ppt/notesMasters/notesMaster1.xml" Id="R27e5fc9ca36341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3a34abfa74b1c" /><Relationship Type="http://schemas.openxmlformats.org/officeDocument/2006/relationships/notesMaster" Target="/ppt/notesMasters/notesMaster1.xml" Id="R598e232eea1743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83c940ca94421" /><Relationship Type="http://schemas.openxmlformats.org/officeDocument/2006/relationships/notesMaster" Target="/ppt/notesMasters/notesMaster1.xml" Id="R7cf849dd549e47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2179997d14e6a" /><Relationship Type="http://schemas.openxmlformats.org/officeDocument/2006/relationships/notesMaster" Target="/ppt/notesMasters/notesMaster1.xml" Id="R9689a93ef29b4a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56b8729b34475a" /><Relationship Type="http://schemas.openxmlformats.org/officeDocument/2006/relationships/notesMaster" Target="/ppt/notesMasters/notesMaster1.xml" Id="Re4a701034aea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0333ae7d54111" /><Relationship Type="http://schemas.openxmlformats.org/officeDocument/2006/relationships/notesMaster" Target="/ppt/notesMasters/notesMaster1.xml" Id="Ra7be702cc2d7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с ответами на контрольные вопросы 1–10.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Ответы на вопросы 1 и 2. Значения на диаграммах условные и иллюстрируют форму распределения.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Ответы на вопросы 3 и 4. Профиль строят по одной фиксированной строке или одному фиксированному столбцу.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Ответы на вопросы 5 и 6. Направление проекции указано по направлению суммирования.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Ответы на вопросы 7, 9 и 10. Примеры диаграмм условные. Конкретное изменение после сглаживания зависит от исходного изображения и фильтра.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 на вопрос 8. Проекции бинарных изображений часто применяют в сегментации документов и системах распознавания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77da62066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1f95f50154de4" /><Relationship Type="http://schemas.openxmlformats.org/officeDocument/2006/relationships/slideLayout" Target="/ppt/slideLayouts/slideLayout1.xml" Id="Raa6328774b554c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328774b554c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0a09369dc4ec3" /><Relationship Type="http://schemas.openxmlformats.org/officeDocument/2006/relationships/notesSlide" Target="/ppt/notesSlides/notesSlide1.xml" Id="Re5010a98afba49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78b339704c71" /><Relationship Type="http://schemas.openxmlformats.org/officeDocument/2006/relationships/chart" Target="/ppt/slides/charts/chart1.xml" Id="R213c967afb73451f" /><Relationship Type="http://schemas.openxmlformats.org/officeDocument/2006/relationships/chart" Target="/ppt/slides/charts/chart2.xml" Id="Ra0806200f4d14cdb" /><Relationship Type="http://schemas.openxmlformats.org/officeDocument/2006/relationships/notesSlide" Target="/ppt/notesSlides/notesSlide2.xml" Id="R4b7ab8dd8144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d8422d3048d7" /><Relationship Type="http://schemas.openxmlformats.org/officeDocument/2006/relationships/chart" Target="/ppt/slides/charts/chart3.xml" Id="R9e4405e568eb4cff" /><Relationship Type="http://schemas.openxmlformats.org/officeDocument/2006/relationships/chart" Target="/ppt/slides/charts/chart4.xml" Id="Rc369159975164b31" /><Relationship Type="http://schemas.openxmlformats.org/officeDocument/2006/relationships/notesSlide" Target="/ppt/notesSlides/notesSlide3.xml" Id="R265dc4d285534f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71ac476b84715" /><Relationship Type="http://schemas.openxmlformats.org/officeDocument/2006/relationships/notesSlide" Target="/ppt/notesSlides/notesSlide4.xml" Id="R593a1340990a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8f49b78e417a" /><Relationship Type="http://schemas.openxmlformats.org/officeDocument/2006/relationships/chart" Target="/ppt/slides/charts/chart5.xml" Id="Rd545acba4b704364" /><Relationship Type="http://schemas.openxmlformats.org/officeDocument/2006/relationships/chart" Target="/ppt/slides/charts/chart6.xml" Id="R66f4451714e44f90" /><Relationship Type="http://schemas.openxmlformats.org/officeDocument/2006/relationships/notesSlide" Target="/ppt/notesSlides/notesSlide5.xml" Id="R290fb5458178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b751b86e4603" /><Relationship Type="http://schemas.openxmlformats.org/officeDocument/2006/relationships/chart" Target="/ppt/slides/charts/chart7.xml" Id="Rcdf8da4078dd4dc1" /><Relationship Type="http://schemas.openxmlformats.org/officeDocument/2006/relationships/chart" Target="/ppt/slides/charts/chart8.xml" Id="R7619a2926e9c42cf" /><Relationship Type="http://schemas.openxmlformats.org/officeDocument/2006/relationships/notesSlide" Target="/ppt/notesSlides/notesSlide6.xml" Id="Re6e22a26618349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Пиксели</c:v>
          </c:tx>
          <c:spPr>
            <a:solidFill xmlns:a="http://schemas.openxmlformats.org/drawingml/2006/main">
              <a:srgbClr val="7B8790"/>
            </a:solidFill>
          </c:spP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  <c:pt idx="5">
                  <c:v>160</c:v>
                </c:pt>
                <c:pt idx="6">
                  <c:v>192</c:v>
                </c:pt>
                <c:pt idx="7">
                  <c:v>224</c:v>
                </c:pt>
                <c:pt idx="8">
                  <c:v>255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4</c:v>
                </c:pt>
                <c:pt idx="1">
                  <c:v>9</c:v>
                </c:pt>
                <c:pt idx="2">
                  <c:v>17</c:v>
                </c:pt>
                <c:pt idx="3">
                  <c:v>31</c:v>
                </c:pt>
                <c:pt idx="4">
                  <c:v>46</c:v>
                </c:pt>
                <c:pt idx="5">
                  <c:v>38</c:v>
                </c:pt>
                <c:pt idx="6">
                  <c:v>23</c:v>
                </c:pt>
                <c:pt idx="7">
                  <c:v>12</c:v>
                </c:pt>
                <c:pt idx="8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</c:v>
          </c:tx>
          <c:spPr>
            <a:solidFill xmlns:a="http://schemas.openxmlformats.org/drawingml/2006/main">
              <a:srgbClr val="C94C4C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64</c:v>
                </c:pt>
                <c:pt idx="2">
                  <c:v>128</c:v>
                </c:pt>
                <c:pt idx="3">
                  <c:v>192</c:v>
                </c:pt>
                <c:pt idx="4">
                  <c:v>255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</c:v>
                </c:pt>
                <c:pt idx="1">
                  <c:v>19</c:v>
                </c:pt>
                <c:pt idx="2">
                  <c:v>40</c:v>
                </c:pt>
                <c:pt idx="3">
                  <c:v>28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v>G</c:v>
          </c:tx>
          <c:spPr>
            <a:solidFill xmlns:a="http://schemas.openxmlformats.org/drawingml/2006/main">
              <a:srgbClr val="4B9B72"/>
            </a:solidFill>
          </c:spP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64</c:v>
                </c:pt>
                <c:pt idx="2">
                  <c:v>128</c:v>
                </c:pt>
                <c:pt idx="3">
                  <c:v>192</c:v>
                </c:pt>
                <c:pt idx="4">
                  <c:v>255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3</c:v>
                </c:pt>
                <c:pt idx="1">
                  <c:v>12</c:v>
                </c:pt>
                <c:pt idx="2">
                  <c:v>31</c:v>
                </c:pt>
                <c:pt idx="3">
                  <c:v>43</c:v>
                </c:pt>
                <c:pt idx="4">
                  <c:v>15</c:v>
                </c:pt>
              </c:numCache>
            </c:numRef>
          </c:val>
        </c:ser>
        <c:ser>
          <c:idx val="2"/>
          <c:order val="2"/>
          <c:tx>
            <c:v>B</c:v>
          </c:tx>
          <c:spPr>
            <a:solidFill xmlns:a="http://schemas.openxmlformats.org/drawingml/2006/main">
              <a:srgbClr val="4078C0"/>
            </a:solidFill>
          </c:spPr>
          <c:cat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64</c:v>
                </c:pt>
                <c:pt idx="2">
                  <c:v>128</c:v>
                </c:pt>
                <c:pt idx="3">
                  <c:v>192</c:v>
                </c:pt>
                <c:pt idx="4">
                  <c:v>255</c:v>
                </c:pt>
              </c:numCache>
            </c:num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11</c:v>
                </c:pt>
                <c:pt idx="1">
                  <c:v>27</c:v>
                </c:pt>
                <c:pt idx="2">
                  <c:v>35</c:v>
                </c:pt>
                <c:pt idx="3">
                  <c:v>20</c:v>
                </c:pt>
                <c:pt idx="4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Яркость</c:v>
          </c:tx>
          <c:spPr>
            <a:solidFill xmlns:a="http://schemas.openxmlformats.org/drawingml/2006/main">
              <a:srgbClr val="2B6F91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32</c:v>
                </c:pt>
                <c:pt idx="1">
                  <c:v>38</c:v>
                </c:pt>
                <c:pt idx="2">
                  <c:v>42</c:v>
                </c:pt>
                <c:pt idx="3">
                  <c:v>182</c:v>
                </c:pt>
                <c:pt idx="4">
                  <c:v>196</c:v>
                </c:pt>
                <c:pt idx="5">
                  <c:v>188</c:v>
                </c:pt>
                <c:pt idx="6">
                  <c:v>57</c:v>
                </c:pt>
                <c:pt idx="7">
                  <c:v>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Яркость</c:v>
          </c:tx>
          <c:spPr>
            <a:solidFill xmlns:a="http://schemas.openxmlformats.org/drawingml/2006/main">
              <a:srgbClr val="62B6CB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21</c:v>
                </c:pt>
                <c:pt idx="1">
                  <c:v>27</c:v>
                </c:pt>
                <c:pt idx="2">
                  <c:v>122</c:v>
                </c:pt>
                <c:pt idx="3">
                  <c:v>174</c:v>
                </c:pt>
                <c:pt idx="4">
                  <c:v>168</c:v>
                </c:pt>
                <c:pt idx="5">
                  <c:v>92</c:v>
                </c:pt>
                <c:pt idx="6">
                  <c:v>41</c:v>
                </c:pt>
                <c:pt idx="7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</c:v>
          </c:tx>
          <c:spPr>
            <a:solidFill xmlns:a="http://schemas.openxmlformats.org/drawingml/2006/main">
              <a:srgbClr val="7B8790"/>
            </a:solidFill>
          </c:spP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  <c:pt idx="5">
                  <c:v>160</c:v>
                </c:pt>
                <c:pt idx="6">
                  <c:v>192</c:v>
                </c:pt>
                <c:pt idx="7">
                  <c:v>224</c:v>
                </c:pt>
                <c:pt idx="8">
                  <c:v>255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24</c:v>
                </c:pt>
                <c:pt idx="4">
                  <c:v>52</c:v>
                </c:pt>
                <c:pt idx="5">
                  <c:v>31</c:v>
                </c:pt>
                <c:pt idx="6">
                  <c:v>10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После</c:v>
          </c:tx>
          <c:spPr>
            <a:solidFill xmlns:a="http://schemas.openxmlformats.org/drawingml/2006/main">
              <a:srgbClr val="2B6F91"/>
            </a:solidFill>
          </c:spP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  <c:pt idx="5">
                  <c:v>160</c:v>
                </c:pt>
                <c:pt idx="6">
                  <c:v>192</c:v>
                </c:pt>
                <c:pt idx="7">
                  <c:v>224</c:v>
                </c:pt>
                <c:pt idx="8">
                  <c:v>255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17</c:v>
                </c:pt>
                <c:pt idx="6">
                  <c:v>15</c:v>
                </c:pt>
                <c:pt idx="7">
                  <c:v>12</c:v>
                </c:pt>
                <c:pt idx="8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Строка</c:v>
          </c:tx>
          <c:spPr>
            <a:solidFill xmlns:a="http://schemas.openxmlformats.org/drawingml/2006/main">
              <a:srgbClr val="62B6CB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</c:v>
                </c:pt>
                <c:pt idx="1">
                  <c:v>6</c:v>
                </c:pt>
                <c:pt idx="2">
                  <c:v>4</c:v>
                </c:pt>
                <c:pt idx="3">
                  <c:v>6</c:v>
                </c:pt>
                <c:pt idx="4">
                  <c:v>0</c:v>
                </c:pt>
                <c:pt idx="5">
                  <c:v>6</c:v>
                </c:pt>
                <c:pt idx="6">
                  <c:v>4</c:v>
                </c:pt>
                <c:pt idx="7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Столбец</c:v>
          </c:tx>
          <c:spPr>
            <a:solidFill xmlns:a="http://schemas.openxmlformats.org/drawingml/2006/main">
              <a:srgbClr val="2B6F91"/>
            </a:solidFill>
          </c:spP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59A4A-966C-4F02-BB2E-3C3C76A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4F6EE-773D-480F-8B6B-6C307F9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B62AA-D2D2-4736-A3FB-4E43E85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2382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BC6E-56F5-4787-8DD2-FDE64D4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57350"/>
            <a:ext cx="1571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03C3E-D2AF-400C-9870-D3B1E14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7645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CFA2E-7B44-4FD3-8809-9FCB81C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956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1D5A6-2544-4CF5-ACEB-BF7D5D08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956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C015-E5D7-4EDF-ABFB-A0AD740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291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F771D-0446-4159-9C0B-FED4153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291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4312C-A0DC-45E1-ACE2-9BFB633A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B6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2B6CB"/>
                </a:solidFill>
                <a:latin typeface="Bitstream Charter"/>
                <a:ea typeface="Bitstream Charter"/>
                <a:cs typeface="Bitstream Charter"/>
              </a:rPr>
              <a:t>КОНТРОЛЬНЫЕ ВОПРОСЫ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768D2-B24C-46DB-899A-1688D78E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95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Гистограммы, профили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и проекции изображений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6DD8B-B40B-4F8F-8FA8-CE0637D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7E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9E7EC"/>
                </a:solidFill>
                <a:latin typeface="Bitstream Charter"/>
                <a:ea typeface="Bitstream Charter"/>
                <a:cs typeface="Bitstream Charter"/>
              </a:rPr>
              <a:t>Краткие ответы к защите лабораторной работы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77D75-D61F-4571-8CB5-C5B9935F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7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7D2"/>
                </a:solidFill>
                <a:latin typeface="Bitstream Charter"/>
                <a:ea typeface="Bitstream Charter"/>
                <a:cs typeface="Bitstream Charter"/>
              </a:rPr>
              <a:t>Обработка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1814547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2FBD6-AAF5-4D46-AE15-5416503A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2644F-1CD0-4C10-93BD-912C1AC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ВОПРОСЫ 1,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9D962-378E-4B11-924C-660FACF9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Гистограмма 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3FEE0-150D-49C0-8564-EE728BF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1555C-632C-435A-B36C-99E20F8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Гистограмма показывает, сколько пикселей приходится на каждый уровень яркости или значение цветового канала.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32F9-CEDD-4B8B-9DF9-04F981B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Серое изображение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52E68-93D0-4474-B12C-428E169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Одна гистограмма яркости, обычно для значений от 0 до 255.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3181350"/>
          <a:ext xmlns:a="http://schemas.openxmlformats.org/drawingml/2006/main" cx="4953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3c967afb73451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1E673-AF28-4A0E-B94C-D57DAED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Цветное изображение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79565-AD1E-495F-8668-15AA875F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Каналы R, G и B анализируют отдельно. Их распределения могут заметно различаться.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05550" y="3181350"/>
          <a:ext xmlns:a="http://schemas.openxmlformats.org/drawingml/2006/main" cx="5143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806200f4d14cd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3EAC8-D461-44E7-8301-8CFF34E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Назначение: оценка яркости, контраста, экспозиции и выбор порога обработки.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1FFDD-E954-4CC6-ABF1-9BCA39EB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0714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F9E3-FD5E-4D63-8A25-8871E4CC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31AD7-DCA0-45AD-A6C9-3E45BF33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ВОПРОСЫ 3,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260C-11BA-4AFB-AD38-7610764E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Профиль 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C3CE2-F090-4F78-B03B-AA27CA31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55F8-8530-41F9-BE9D-96C82EB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Профиль описывает изменение яркости вдоль одной выбранной строки или одного выбранного столбца изображения.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A3D59-C69C-466E-A699-484811D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Горизонтальный профиль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F0BE8-5FBC-4FDF-BC7D-FAFDDC4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pₕ(x) = I(x, y₀)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3471F-402F-4960-9028-7BBAEBC9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Берём значения пикселей слева направо в строке y₀.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90550" y="363855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4405e568eb4cf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51185-B61D-4970-9392-372F4B4D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Вертикальный профиль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5977A-76B2-4725-A500-8E852A2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pᵥ(y) = I(x₀, 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4A486-DB27-4338-A84E-D25A23F0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Берём значения пикселей сверху вниз в столбце x₀.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305550" y="3638550"/>
          <a:ext xmlns:a="http://schemas.openxmlformats.org/drawingml/2006/main" cx="51435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9159975164b31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68DE1-5B1C-4A1D-9A2C-2F2D0CB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Профиль сохраняет порядок локальных изменений и помогает находить границы и перепады яркости.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30097-B776-4260-84DE-F1D9F1BF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9472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65185-8756-414D-A111-FEE39D7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7D8AC-8201-453E-B93E-F1ABFB6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ВОПРОСЫ 5,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FC9C6-6B11-401A-8DC3-8CF4907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Проекция 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6C774-7F36-4461-8913-363B2008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8667-066E-47F6-9F08-EBB68ED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Проекция объединяет значения пикселей вдоль целого направления. Чаще всего используют сумму, реже среднее значение.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75251-726D-47B8-879D-A95F347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1104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6D6A9-9750-4EC2-83C4-D172CC0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Горизонтальная: H(y) = Σₓ I(x,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459B-A11F-442A-A919-79D3959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Вертикальная: V(x) = Σᵧ I(x, 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6FBE9-1EE7-4B4A-B4FA-183ACFF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Профиль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5B93D-0FD6-46B5-99B0-444327A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Использует одну выбранную линию изображения.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Показывает последовательность локальных значений.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Результат зависит от выбора строки или столбца.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36096-038E-473C-B573-EA9B3599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190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2F8CD-211D-4717-8102-DF849E6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E7C49-5E4C-4653-B706-F9668B8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Суммирует или усредняет все линии изображения.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Показывает общую плотность объектов по координате.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Устойчива к локальным изменениям одной строки.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0CE7B-13BC-4847-9FCF-AA3AA21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Главное различие: профиль сохраняет значения одной линии, проекция выполняет агрегирование по всему изображению.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63643-BDC9-41FB-AC4D-D14C4033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6737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DB17E-F388-4FA2-84CD-3015CD2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F6528-47E8-41A5-A246-F469F6B2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ВОПРОСЫ 7, 9,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38BA7-FF3B-4E35-8F89-A3F75D7C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Контраст, сглаживание и пики гистограммы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89BCA-01AB-4994-B0EB-D4694F3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F5E12-F9C8-4200-B812-7F0C4A0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Узкое распределение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90550" y="1943100"/>
          <a:ext xmlns:a="http://schemas.openxmlformats.org/drawingml/2006/main" cx="49530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45acba4b70436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FC06-A665-4100-870D-B9C0AB69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После расширения контраста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305550" y="1943100"/>
          <a:ext xmlns:a="http://schemas.openxmlformats.org/drawingml/2006/main" cx="5143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f4451714e44f9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2B319-E2E1-4681-9989-5A678E4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Улучшение контраста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742B9-1B88-480E-90E7-0786CA9C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Растяжение диапазона или выравнивание гистограммы делает различия между тонами заметнее.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FF994-85A8-4D70-BDD3-F4905F62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62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Сглаживание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D8329-C0A2-4F03-B58C-3769131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767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Локальное усреднение уменьшает крайние значения. Пики могут стать ниже, шире или объединиться.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1E575-6B47-415C-9F31-2D6B111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Пик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6940C-5946-4DAF-B599-4FCFE95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Пик означает, что многие пиксели имеют близкую яркость. Слева преобладают тёмные тона, справа светлые.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09D6F-F6EF-4213-8FFE-E62DCCD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Форма гистограммы описывает распределение тонов, но не показывает расположение пикселей в кадре.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E6560-6205-41EF-9C46-3D09461C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5606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4152C40-58E2-4523-AEE1-A5DDE52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6C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A275-B28D-4851-A5EF-864850A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ВОПРОС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D4F82-A566-4A14-A335-EFFD302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Проекции бинарного изображения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428C9-F781-4FE5-94ED-0D21B87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940B-DBC4-4FE0-8758-BBA0FC35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Для бинарного изображения сумма равна числу единичных пикселей в каждой строке или каждом столбце.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FC06-0797-4B3F-880B-E798E49B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38040-549B-4D04-A9A5-A2C7170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69F8C-4098-42AE-8F35-2C58657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F207B-475D-4625-AAA7-239A241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46086-DF82-4543-B6D5-C79A050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33343-20DB-40C1-A343-62494B9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D144C-844B-4DEF-A568-69A71D0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BAD91-653B-4E5D-9E3D-14777CF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7ABCB-C0A8-47C7-8948-595438F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D52D1-9998-465B-80D1-16FB07AE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860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63EFC-E6EF-4B04-A97D-666DC28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7E455-3C6A-4DA8-9F8B-FA7254C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E6EE2-3E69-4733-9DB3-190B7BFA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FBF6F-0D6C-4648-8DF8-9D19562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41D2C-DD5D-417A-9840-D02E37B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BCE8-586D-4AD7-A6A9-379E652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0507C-7974-45FC-9335-DE50578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19704-81DA-4053-9004-FD62A22D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5D7D6-6E5B-41B6-B2F4-08A680A9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D40CF-CB90-4E6B-86EC-73077ABA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B7B4A-C36A-478C-ADB7-FD8B32A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C438A-1CE2-4F0A-8C1F-E64AF48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05455-6444-4BF8-BF22-0404E50B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6BAF8C-E9BA-4661-81A9-523750F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0EF81-48D1-4ACC-A65C-A8036F6D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0764E-E62D-4A28-AF53-B4683A4C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076B5-D119-4F99-86D5-5B2665D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93D99-2DA9-421E-A984-87655A1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1C04B-440F-463A-BE8C-CACF8A56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8197A-D2EE-4D4B-AD16-4B6A16A6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EFE67E-BBE5-45A5-9CF9-39AA0D56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7F396C-2975-47E2-9139-F5017A1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D58090-249C-4C7B-BAB7-22BC2B4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2BA30F-8AA4-4219-ABF6-9BBC5CCD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74079F-EBCA-47E0-B9AA-A443B9B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137489-36B2-4A3C-9A01-6BBB33A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3642A8-7AD4-4990-892D-554B6E96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1EC936-59D3-494F-A214-D33B6ED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66DB40-279D-4BDD-B034-48E048E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46C7E0-7CD8-4EB5-AEA1-3BBF326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861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00945-12C7-4C26-848A-3421500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537CEE-280C-40A9-8FF4-83BADAD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86839-B5C0-4D72-8276-7FAC256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FCF192-0531-41E3-8CE1-A4A8AD0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FFA449-2F59-4D36-B905-14123FE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963096-125A-44F0-A2D1-A21FB9E9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991880-2CD8-449F-8CCE-2760FEF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0BC4DD-CEE2-4554-BAF1-4189D947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F767C3-93A8-4277-93DB-E2A1AF2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8715DD-6DA3-4521-B9CA-D5BEF4C5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195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7D56A-506E-4130-80A7-3B6C744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BDDE65-E70F-45B0-80C7-0C0821A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907384-D301-45F8-9780-8458687A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824958-0534-4AE5-8403-42745DB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CC87B7-924B-4B4B-9CDC-0B9B838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688BDA-D91B-4273-B896-E51E8CD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5E9ED7-CC54-43DC-AEE8-DF18A04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E80ED8-4D2A-4ECB-A1DE-ED5369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5AAFAC-A932-433B-8B93-21F8B6B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259E0F-FB92-455B-B504-F37D2ED4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528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4E00DF-5951-4CBD-A6D7-BAC357D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11F52D-D668-4CB9-A977-57C1092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1AC87D-ABC4-483D-8E18-F7BB0B73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F9DEB3-4971-400A-ADEF-DCF22B6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4FE21B-3B96-4A10-A87E-64B9CE8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AE4C27-F2B3-4F4C-9CC9-E691D1D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3D362C-DF18-4A7E-80D9-046A5706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4889FD-3496-4130-9C12-42B9339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036ACD-8D8C-4EBD-B0EB-091A9E69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EA749F-6FDF-4B97-BC7A-075DF75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8625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F5AB48-AFD8-4A4B-BC3C-4A6623C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5C207D2-3F5D-4C62-85EA-9793DEA4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2C61EA-0FFA-4732-AA7D-4817783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F1B1F8-1E97-41B1-B1F1-20404EFF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FB6184-6C74-4546-85D8-3903C690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736E9F-9CBF-45FC-88E8-3F03BDB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E8E9F9-F11C-408A-898A-C3AE49D1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2D86A9-BEE2-474A-966B-F9287FEF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4712B9-6AFF-452E-86E6-413680AD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F20877-0857-4A49-A46D-D1DA63D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1962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6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8C76A92-2A95-4E16-8A06-7E76352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Бинарное изображение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FDB7E1-0825-4C1D-8C81-8268CB3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Горизонтальная проекция</a:t>
            </a:r>
          </a:p>
        </p:txBody>
      </p:sp>
      <p:graphicFrame>
        <p:nvGraphicFramePr>
          <p:cNvPr id="181" name="Chart"/>
          <p:cNvGraphicFramePr/>
          <p:nvPr/>
        </p:nvGraphicFramePr>
        <p:xfrm>
          <a:off xmlns:a="http://schemas.openxmlformats.org/drawingml/2006/main" x="4572000" y="2457450"/>
          <a:ext xmlns:a="http://schemas.openxmlformats.org/drawingml/2006/main" cx="3095625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f8da4078dd4dc1"/>
          </a:graphicData>
        </a:graphic>
      </p:graphicFrame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6F3D52-1517-4876-88F4-0AD670B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Вертикальная проекция</a:t>
            </a:r>
          </a:p>
        </p:txBody>
      </p:sp>
      <p:graphicFrame>
        <p:nvGraphicFramePr>
          <p:cNvPr id="183" name="Chart"/>
          <p:cNvGraphicFramePr/>
          <p:nvPr/>
        </p:nvGraphicFramePr>
        <p:xfrm>
          <a:off xmlns:a="http://schemas.openxmlformats.org/drawingml/2006/main" x="8001000" y="2457450"/>
          <a:ext xmlns:a="http://schemas.openxmlformats.org/drawingml/2006/main" cx="32385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19a2926e9c42cf"/>
          </a:graphicData>
        </a:graphic>
      </p:graphicFrame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C405EC8-FD91-4D82-9520-A47667EB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96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2B6F91"/>
                </a:solidFill>
                <a:latin typeface="Bitstream Charter"/>
                <a:ea typeface="Bitstream Charter"/>
                <a:cs typeface="Bitstream Charter"/>
              </a:rPr>
              <a:t>Применение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694369-F256-4307-AC69-F47EB1F9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255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По горизонтальным пикам находят строки текста.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По вертикальным провалам разделяют символы и слова.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7242F"/>
                </a:solidFill>
                <a:latin typeface="Bitstream Charter"/>
                <a:ea typeface="Bitstream Charter"/>
                <a:cs typeface="Bitstream Charter"/>
              </a:rPr>
              <a:t>По ненулевым областям определяют границы объекта и область обрезки.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E6F9C0F-BD4B-436D-8BD9-9418DEA1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D6B76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2291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2026-09-22T09:00:03.0520000Z</dcterms:created>
  <dcterms:modified xsi:type="dcterms:W3CDTF">2026-09-22T09:00:03.0520000Z</dcterms:modified>
</coreProperties>
</file>