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0936"/>
            <a:ext cx="1024128" cy="3200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649224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350">
                <a:solidFill>
                  <a:srgbClr val="6BE2D3"/>
                </a:solidFill>
                <a:latin typeface="Inter"/>
              </a:rPr>
              <a:t>ЦИФРОВАЯ ОБРАБОТКА ИЗОБРАЖЕНИЙ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6858000" cy="1572768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4200">
                <a:solidFill>
                  <a:srgbClr val="F7F7FD"/>
                </a:solidFill>
                <a:latin typeface="Inter Display"/>
              </a:rPr>
              <a:t>Лабораторная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4200">
                <a:solidFill>
                  <a:srgbClr val="F7F7FD"/>
                </a:solidFill>
                <a:latin typeface="Inter Display"/>
              </a:rPr>
              <a:t>работа №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45536"/>
            <a:ext cx="6492240" cy="1207008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A3B0CC"/>
                </a:solidFill>
                <a:latin typeface="Inter Display"/>
              </a:rPr>
              <a:t>Методы цифровой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A3B0CC"/>
                </a:solidFill>
                <a:latin typeface="Inter Display"/>
              </a:rPr>
              <a:t>фильтрации изображений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828032"/>
            <a:ext cx="6190488" cy="21031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5074920"/>
            <a:ext cx="6400800" cy="4206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F7F7FD"/>
                </a:solidFill>
                <a:latin typeface="Inter"/>
              </a:rPr>
              <a:t>Лебёдкин Владислав  •  Травкова Ирина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559552"/>
            <a:ext cx="594360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00">
                <a:solidFill>
                  <a:srgbClr val="A3B0CC"/>
                </a:solidFill>
                <a:latin typeface="Inter"/>
              </a:rPr>
              <a:t>Группа 932302  /  Вариант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521207"/>
            <a:ext cx="3502152" cy="5760720"/>
          </a:xfrm>
          <a:prstGeom prst="roundRect">
            <a:avLst>
              <a:gd name="adj" fmla="val 7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riginal_337_5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722376"/>
            <a:ext cx="3081528" cy="53583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829800" y="877824"/>
            <a:ext cx="1197864" cy="329184"/>
          </a:xfrm>
          <a:prstGeom prst="roundRect">
            <a:avLst>
              <a:gd name="adj" fmla="val 2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84664" y="891540"/>
            <a:ext cx="10881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6BE2D3"/>
                </a:solidFill>
                <a:latin typeface="Inter"/>
              </a:rPr>
              <a:t>LAB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2448" y="6355080"/>
            <a:ext cx="100584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7082A6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Задания варианта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1009376" cy="73152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" y="1901952"/>
            <a:ext cx="475488" cy="44805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36576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65376"/>
            <a:ext cx="3977639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Фильтрация шума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47088"/>
            <a:ext cx="57150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90">
                <a:solidFill>
                  <a:srgbClr val="A3B0CC"/>
                </a:solidFill>
                <a:latin typeface="Inter"/>
              </a:rPr>
              <a:t>Гауссов фильтр (σ = 2) и медианный фильтр 5×5; сравнение результатов.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42615"/>
            <a:ext cx="11009376" cy="731520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" y="2788920"/>
            <a:ext cx="475488" cy="44805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34639"/>
            <a:ext cx="36576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29A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52344"/>
            <a:ext cx="3977639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Поиск вертикальных границ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34056"/>
            <a:ext cx="57150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90">
                <a:solidFill>
                  <a:srgbClr val="A3B0CC"/>
                </a:solidFill>
                <a:latin typeface="Inter"/>
              </a:rPr>
              <a:t>Оператор Превитта для выделения вертикальных контуров.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9584"/>
            <a:ext cx="11009376" cy="73152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" y="3675887"/>
            <a:ext cx="475488" cy="44805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36576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29A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39312"/>
            <a:ext cx="3977639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Повышение резкости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21024"/>
            <a:ext cx="57150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90">
                <a:solidFill>
                  <a:srgbClr val="A3B0CC"/>
                </a:solidFill>
                <a:latin typeface="Inter"/>
              </a:rPr>
              <a:t>Усиление деталей с использованием ядра свёртки.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16552"/>
            <a:ext cx="11009376" cy="731520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" y="4562856"/>
            <a:ext cx="475488" cy="44805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08576"/>
            <a:ext cx="36576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26280"/>
            <a:ext cx="3977639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Сравнение производительности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507992"/>
            <a:ext cx="57150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90">
                <a:solidFill>
                  <a:srgbClr val="A3B0CC"/>
                </a:solidFill>
                <a:latin typeface="Inter"/>
              </a:rPr>
              <a:t>Измерение скорости фильтров при окне 11×11.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03520"/>
            <a:ext cx="11009376" cy="73152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" y="5449824"/>
            <a:ext cx="475488" cy="44805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95544"/>
            <a:ext cx="36576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B29AFF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13248"/>
            <a:ext cx="3977639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Работа со спектром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394959"/>
            <a:ext cx="57150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90">
                <a:solidFill>
                  <a:srgbClr val="A3B0CC"/>
                </a:solidFill>
                <a:latin typeface="Inter"/>
              </a:rPr>
              <a:t>Гауссов высокочастотный фильтр в частотной области.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ОСНОВНЫЕ ПРИНЦИПЫ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Как работают цифровые фильтры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801368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929384"/>
            <a:ext cx="54864" cy="150876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093976"/>
            <a:ext cx="59436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057400"/>
            <a:ext cx="3913632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F7F7FD"/>
                </a:solidFill>
                <a:latin typeface="Inter"/>
              </a:rPr>
              <a:t>ПРОСТРАНСТВО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551176"/>
            <a:ext cx="40416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40">
                <a:solidFill>
                  <a:srgbClr val="A3B0CC"/>
                </a:solidFill>
                <a:latin typeface="Inter"/>
              </a:rPr>
              <a:t>Работа непосредственно с пикселями изображения в локальной окрестности.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801368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9944" y="1929384"/>
            <a:ext cx="54864" cy="1508760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2093976"/>
            <a:ext cx="59436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6BE2D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2057400"/>
            <a:ext cx="3913632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F7F7FD"/>
                </a:solidFill>
                <a:latin typeface="Inter"/>
              </a:rPr>
              <a:t>СГЛАЖИВАНИЕ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551176"/>
            <a:ext cx="40416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40">
                <a:solidFill>
                  <a:srgbClr val="A3B0CC"/>
                </a:solidFill>
                <a:latin typeface="Inter"/>
              </a:rPr>
              <a:t>Гауссов фильтр размывает, а медианный подавляет импульсный шум.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3822191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" y="3950207"/>
            <a:ext cx="54864" cy="1508760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114800"/>
            <a:ext cx="59436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FFC27A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078224"/>
            <a:ext cx="3913632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F7F7FD"/>
                </a:solidFill>
                <a:latin typeface="Inter"/>
              </a:rPr>
              <a:t>ГРАНИЦЫ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572000"/>
            <a:ext cx="40416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40">
                <a:solidFill>
                  <a:srgbClr val="A3B0CC"/>
                </a:solidFill>
                <a:latin typeface="Inter"/>
              </a:rPr>
              <a:t>Операторы градиента и ядра повышения резкости выделяют перепады яркости.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822191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9944" y="3950207"/>
            <a:ext cx="54864" cy="150876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4114800"/>
            <a:ext cx="594360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4078224"/>
            <a:ext cx="3913632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F7F7FD"/>
                </a:solidFill>
                <a:latin typeface="Inter"/>
              </a:rPr>
              <a:t>ЧАСТОТА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2" y="4572000"/>
            <a:ext cx="4041648" cy="7863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40">
                <a:solidFill>
                  <a:srgbClr val="A3B0CC"/>
                </a:solidFill>
                <a:latin typeface="Inter"/>
              </a:rPr>
              <a:t>Преобразование Фурье переводит изображение в спектр для фильтрации.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0">
                <a:solidFill>
                  <a:srgbClr val="A3B0CC"/>
                </a:solidFill>
                <a:latin typeface="Inter"/>
              </a:rPr>
              <a:t>Фильтрация применяется для подавления шумов, повышения резкости и выделения объектов.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ИСХОДНЫЕ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Изображение и добавленный шум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46504"/>
            <a:ext cx="3063240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1938528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883664"/>
            <a:ext cx="2532888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Исходное изображение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7199" y="2386584"/>
            <a:ext cx="2265576" cy="340156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87" y="2404872"/>
            <a:ext cx="2229000" cy="33649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95344" y="1746504"/>
            <a:ext cx="3063240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78224" y="1938528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883664"/>
            <a:ext cx="2532888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Шум «соль и перец»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5140" y="2386584"/>
            <a:ext cx="2263648" cy="340156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noi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427" y="2404872"/>
            <a:ext cx="2227072" cy="33649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187184" y="1746504"/>
            <a:ext cx="4315968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1947672"/>
            <a:ext cx="877824" cy="329184"/>
          </a:xfrm>
          <a:prstGeom prst="roundRect">
            <a:avLst>
              <a:gd name="adj" fmla="val 2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1961388"/>
            <a:ext cx="76809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6BE2D3"/>
                </a:solidFill>
                <a:latin typeface="Inter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459736"/>
            <a:ext cx="3593592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7F7FD"/>
                </a:solidFill>
                <a:latin typeface="Inter"/>
              </a:rPr>
              <a:t>Исходные параметры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035808"/>
            <a:ext cx="3584448" cy="1188720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A3B0CC"/>
                </a:solidFill>
                <a:latin typeface="Inter"/>
              </a:rPr>
              <a:t>Файл: cv_image.jpg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A3B0CC"/>
                </a:solidFill>
                <a:latin typeface="Inter"/>
              </a:rPr>
              <a:t>Цветность: оттенки серого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A3B0CC"/>
                </a:solidFill>
                <a:latin typeface="Inter"/>
              </a:rPr>
              <a:t>Шум: amount = 0.05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34072" y="4398264"/>
            <a:ext cx="3813048" cy="1078992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16952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81544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46136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873752"/>
            <a:ext cx="3337560" cy="4571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180">
                <a:solidFill>
                  <a:srgbClr val="DDE8F9"/>
                </a:solidFill>
                <a:latin typeface="DejaVu Sans Mono"/>
              </a:rPr>
              <a:t>img = cv2.imread("cv_image.jpg",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180">
                <a:solidFill>
                  <a:srgbClr val="DDE8F9"/>
                </a:solidFill>
                <a:latin typeface="DejaVu Sans Mono"/>
              </a:rPr>
              <a:t>    cv2.IMREAD_GRAYSCALE)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35040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40">
                <a:solidFill>
                  <a:srgbClr val="A3B0CC"/>
                </a:solidFill>
                <a:latin typeface="Inter"/>
              </a:rPr>
              <a:t>Для заданий 3–5 изображения восстановлены из сохранённого вывода ноутбука.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1 / 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Гауссов и медианный фильтры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1947672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7"/>
            <a:ext cx="2871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Зашумлённое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0685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i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73" y="2414015"/>
            <a:ext cx="2208916" cy="33375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98264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81144" y="1947672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892807"/>
            <a:ext cx="2871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Гаусс · σ =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301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auss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589" y="2414015"/>
            <a:ext cx="2208916" cy="333755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83879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59" y="1947672"/>
            <a:ext cx="54864" cy="237744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892807"/>
            <a:ext cx="2871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Медиана · 5×5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1917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d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205" y="2414015"/>
            <a:ext cx="2208916" cy="33375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35040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60">
                <a:solidFill>
                  <a:srgbClr val="A3B0CC"/>
                </a:solidFill>
                <a:latin typeface="Inter"/>
              </a:rPr>
              <a:t>Медианный фильтр лучше удаляет отдельные шумовые точки и сохраняет контуры.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1 / КОД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Принцип фильтрации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37943"/>
            <a:ext cx="6492240" cy="2057400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33856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13432"/>
            <a:ext cx="6016752" cy="14356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30">
                <a:solidFill>
                  <a:srgbClr val="DDE8F9"/>
                </a:solidFill>
                <a:latin typeface="DejaVu Sans Mono"/>
              </a:rPr>
              <a:t>gaussian = cv2.GaussianBlur(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30">
                <a:solidFill>
                  <a:srgbClr val="DDE8F9"/>
                </a:solidFill>
                <a:latin typeface="DejaVu Sans Mono"/>
              </a:rPr>
              <a:t>    img_noisy, (5, 5), sigmaX=2.0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30">
                <a:solidFill>
                  <a:srgbClr val="DDE8F9"/>
                </a:solidFill>
                <a:latin typeface="DejaVu Sans Mon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730">
                <a:solidFill>
                  <a:srgbClr val="DDE8F9"/>
                </a:solidFill>
                <a:latin typeface="DejaVu Sans Mono"/>
              </a:rPr>
              <a:t>median = cv2.medianBlur(img_noisy,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837943"/>
            <a:ext cx="4151376" cy="20574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34656" y="1965960"/>
            <a:ext cx="54864" cy="1801368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2020824"/>
            <a:ext cx="50292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6BE2D3"/>
                </a:solidFill>
                <a:latin typeface="Inter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020824"/>
            <a:ext cx="291693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F7F7FD"/>
                </a:solidFill>
                <a:latin typeface="Inter"/>
              </a:rPr>
              <a:t>Гауссов фильтр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2551176"/>
            <a:ext cx="3511296" cy="1188720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A3B0CC"/>
                </a:solidFill>
                <a:latin typeface="Inter"/>
              </a:rPr>
              <a:t>Взвешенно усредняет соседние значения. Создаёт плавное размытие.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4206240"/>
            <a:ext cx="10927080" cy="1481328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" y="4334255"/>
            <a:ext cx="54864" cy="1225296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407408"/>
            <a:ext cx="411480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7F7FD"/>
                </a:solidFill>
                <a:latin typeface="Inter"/>
              </a:rPr>
              <a:t>Медианный фильтр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55464"/>
            <a:ext cx="10049256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A3B0CC"/>
                </a:solidFill>
                <a:latin typeface="Inter"/>
              </a:rPr>
              <a:t>Заменяет пиксель медианой значений в окне 5×5. Эффективен против импульсного шума «соль и перец».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2 / ПРЕВИТТ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Выделение вертикальных границ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73936"/>
            <a:ext cx="4709160" cy="3090672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4712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249424"/>
            <a:ext cx="4233672" cy="24688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kernel = np.array([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    [-1, 0, 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    [-1, 0, 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    [-1, 0, 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], dtype=np.float32)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10">
                <a:solidFill>
                  <a:srgbClr val="DDE8F9"/>
                </a:solidFill>
                <a:latin typeface="DejaVu Sans Mono"/>
              </a:rPr>
              <a:t>prewitt = cv2.filter2D(img, cv2.CV_64F, kernel)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73936"/>
            <a:ext cx="2880360" cy="410565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96712" y="1965960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1911095"/>
            <a:ext cx="2350008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Оригинал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63623" y="2414016"/>
            <a:ext cx="2180777" cy="3273552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911" y="2432304"/>
            <a:ext cx="2144201" cy="323697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567928" y="1773936"/>
            <a:ext cx="2880360" cy="410565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0807" y="1965960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911095"/>
            <a:ext cx="2350008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Границы по 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7719" y="2414016"/>
            <a:ext cx="2180777" cy="3273552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ewi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007" y="2432304"/>
            <a:ext cx="2144201" cy="32369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25896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60">
                <a:solidFill>
                  <a:srgbClr val="A3B0CC"/>
                </a:solidFill>
                <a:latin typeface="Inter"/>
              </a:rPr>
              <a:t>Ядро Превитта выявляет изменения яркости по оси X, поэтому подчёркивает вертикальные линии.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3 / СВЁРТКА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Повышение резкости изображения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5614416" cy="3136392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33856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49424"/>
            <a:ext cx="5138927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kernel = np.array([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    [ 0, -1,  0],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    [-1,  5, -1],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    [ 0, -1,  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], dtype=np.float32)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DDE8F9"/>
                </a:solidFill>
                <a:latin typeface="DejaVu Sans Mono"/>
              </a:rPr>
              <a:t>sharp = cv2.filter2D(img, -1, kernel)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1773936"/>
            <a:ext cx="5084064" cy="31363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011680"/>
            <a:ext cx="438912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F7F7FD"/>
                </a:solidFill>
                <a:latin typeface="Inter"/>
              </a:rPr>
              <a:t>Ядро 3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6096" y="2578608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610612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2578608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2610612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-1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2578608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2610612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3191256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3223260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7072" y="3191256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3223260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B1020"/>
                </a:solidFill>
                <a:latin typeface="Inter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8048" y="3191256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3223260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-1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3803904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835908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7072" y="3803904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3835908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-1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8048" y="3803904"/>
            <a:ext cx="768096" cy="493776"/>
          </a:xfrm>
          <a:prstGeom prst="roundRect">
            <a:avLst>
              <a:gd name="adj" fmla="val 1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3835908"/>
            <a:ext cx="768096" cy="37490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193792"/>
            <a:ext cx="10936224" cy="66751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" y="5321807"/>
            <a:ext cx="54864" cy="411479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330952"/>
            <a:ext cx="1004925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F7F7FD"/>
                </a:solidFill>
                <a:latin typeface="Inter"/>
              </a:rPr>
              <a:t>Центральный пиксель усиливается, соседние вычитаются — границы становятся контрастнее.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3 /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До и после повышения резкости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737360"/>
            <a:ext cx="4361688" cy="425196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929384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3831335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Исходный кадр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0718" y="2377440"/>
            <a:ext cx="2277690" cy="3419856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06" y="2395728"/>
            <a:ext cx="2241114" cy="3383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38544" y="1737360"/>
            <a:ext cx="4361688" cy="425196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21424" y="1929384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874519"/>
            <a:ext cx="3831335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После свёртки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542" y="2377440"/>
            <a:ext cx="2277690" cy="3419856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a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830" y="2395728"/>
            <a:ext cx="2241114" cy="3383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025896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A3B0CC"/>
                </a:solidFill>
                <a:latin typeface="Inter"/>
              </a:rPr>
              <a:t>Подчёркиваются границы колонн и мелкие архитектурные детали, но может усиливаться шум.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4 /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Как измеряется скорость фильтров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64792"/>
            <a:ext cx="7333488" cy="4315968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9476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19476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33856" y="19476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6858000" cy="3694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n = 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start = time.perf_counter()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for _ in range(n):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    avg11 = cv2.blur(img, (11, 11))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t_avg = (time.perf_counter()-start)/n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start = time.perf_counter()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for _ in range(n):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    med11 = cv2.medianBlur(img, 11)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15">
                <a:solidFill>
                  <a:srgbClr val="DDE8F9"/>
                </a:solidFill>
                <a:latin typeface="DejaVu Sans Mono"/>
              </a:rPr>
              <a:t>t_med = (time.perf_counter()-start)/n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773936"/>
            <a:ext cx="3346704" cy="4306824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048256"/>
            <a:ext cx="283464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F7F7FD"/>
                </a:solidFill>
                <a:latin typeface="Inter"/>
              </a:rPr>
              <a:t>Параметры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779776"/>
            <a:ext cx="1335024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40">
                <a:solidFill>
                  <a:srgbClr val="A3B0CC"/>
                </a:solidFill>
                <a:latin typeface="Inter"/>
              </a:rPr>
              <a:t>Окно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2779776"/>
            <a:ext cx="1453896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6BE2D3"/>
                </a:solidFill>
                <a:latin typeface="Inter"/>
              </a:rPr>
              <a:t>11 ×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465576"/>
            <a:ext cx="1335024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40">
                <a:solidFill>
                  <a:srgbClr val="A3B0CC"/>
                </a:solidFill>
                <a:latin typeface="Inter"/>
              </a:rPr>
              <a:t>Запусков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3465576"/>
            <a:ext cx="1453896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6BE2D3"/>
                </a:solidFill>
                <a:latin typeface="Inter"/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151376"/>
            <a:ext cx="1335024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40">
                <a:solidFill>
                  <a:srgbClr val="A3B0CC"/>
                </a:solidFill>
                <a:latin typeface="Inter"/>
              </a:rPr>
              <a:t>Серий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4151376"/>
            <a:ext cx="1453896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6BE2D3"/>
                </a:solidFill>
                <a:latin typeface="Inte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4837176"/>
            <a:ext cx="1335024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40">
                <a:solidFill>
                  <a:srgbClr val="A3B0CC"/>
                </a:solidFill>
                <a:latin typeface="Inter"/>
              </a:rPr>
              <a:t>Оценка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4837176"/>
            <a:ext cx="1453896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6BE2D3"/>
                </a:solidFill>
                <a:latin typeface="Inter"/>
              </a:rPr>
              <a:t>медиана средних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4 / ИЗМЕРЕНИЯ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Сравнение быстродействия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28216"/>
            <a:ext cx="6675120" cy="432511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84248"/>
            <a:ext cx="61447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F7F7FD"/>
                </a:solidFill>
                <a:latin typeface="Inter"/>
              </a:rPr>
              <a:t>Среднее время обработки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98064"/>
            <a:ext cx="1837943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F7F7FD"/>
                </a:solidFill>
                <a:latin typeface="Inter"/>
              </a:rPr>
              <a:t>Усредняющий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807208"/>
            <a:ext cx="82296" cy="310896"/>
          </a:xfrm>
          <a:prstGeom prst="roundRect">
            <a:avLst>
              <a:gd name="adj" fmla="val 8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2770632"/>
            <a:ext cx="310896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6BE2D3"/>
                </a:solidFill>
                <a:latin typeface="Inter"/>
              </a:rPr>
              <a:t>0,153 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785615"/>
            <a:ext cx="190195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F7F7FD"/>
                </a:solidFill>
                <a:latin typeface="Inter"/>
              </a:rPr>
              <a:t>Медианный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3813048"/>
            <a:ext cx="3611880" cy="310896"/>
          </a:xfrm>
          <a:prstGeom prst="roundRect">
            <a:avLst>
              <a:gd name="adj" fmla="val 8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4279392"/>
            <a:ext cx="324612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B29AFF"/>
                </a:solidFill>
                <a:latin typeface="Inter"/>
              </a:rPr>
              <a:t>8,359 мс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111496"/>
            <a:ext cx="5998464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480">
                <a:solidFill>
                  <a:srgbClr val="A3B0CC"/>
                </a:solidFill>
                <a:latin typeface="Inter"/>
              </a:rPr>
              <a:t>В данном измерении усредняющий фильтр был примерно в 55 раз быстрее.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5512" y="1728216"/>
            <a:ext cx="1892807" cy="432511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08392" y="1920240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2" y="1865376"/>
            <a:ext cx="1362455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220">
                <a:solidFill>
                  <a:srgbClr val="F7F7FD"/>
                </a:solidFill>
                <a:latin typeface="Inter"/>
              </a:rPr>
              <a:t>Среднее · 11×11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2971472"/>
            <a:ext cx="1527048" cy="2286654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v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2989760"/>
            <a:ext cx="1490472" cy="225007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564624" y="1728216"/>
            <a:ext cx="1892807" cy="432511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47504" y="1920240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1865376"/>
            <a:ext cx="1362455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220">
                <a:solidFill>
                  <a:srgbClr val="F7F7FD"/>
                </a:solidFill>
                <a:latin typeface="Inter"/>
              </a:rPr>
              <a:t>Медиана · 11×11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2971472"/>
            <a:ext cx="1527048" cy="2286654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edi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989760"/>
            <a:ext cx="1490472" cy="225007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" y="6053328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60">
                <a:solidFill>
                  <a:srgbClr val="A3B0CC"/>
                </a:solidFill>
                <a:latin typeface="Inter"/>
              </a:rPr>
              <a:t>Замеры выполнены на кадре 363×548; на другой машине время будет отличаться.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5 / ТЕОРИЯ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От пикселей к пространственным частотам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783080"/>
            <a:ext cx="5312664" cy="25146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911095"/>
            <a:ext cx="54864" cy="2258568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48256"/>
            <a:ext cx="452628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6BE2D3"/>
                </a:solidFill>
                <a:latin typeface="Inter"/>
              </a:rPr>
              <a:t>НИЗКИЕ ЧАСТОТЫ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06624"/>
            <a:ext cx="4553712" cy="10149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800">
                <a:solidFill>
                  <a:srgbClr val="A3B0CC"/>
                </a:solidFill>
                <a:latin typeface="Inter"/>
              </a:rPr>
              <a:t>Плавные изменения яркости, общая структура и большие однородные области.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783080"/>
            <a:ext cx="5312664" cy="25146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911095"/>
            <a:ext cx="54864" cy="2258568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452628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B29AFF"/>
                </a:solidFill>
                <a:latin typeface="Inter"/>
              </a:rPr>
              <a:t>ВЫСОКИЕ ЧАСТОТЫ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06624"/>
            <a:ext cx="4535424" cy="1014984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800">
                <a:solidFill>
                  <a:srgbClr val="A3B0CC"/>
                </a:solidFill>
                <a:latin typeface="Inter"/>
              </a:rPr>
              <a:t>Границы объектов, тонкие детали, текстура, а также часть шума.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26864"/>
            <a:ext cx="10826496" cy="1078992"/>
          </a:xfrm>
          <a:prstGeom prst="roundRect">
            <a:avLst>
              <a:gd name="adj" fmla="val 9000"/>
            </a:avLst>
          </a:prstGeom>
          <a:solidFill>
            <a:srgbClr val="202E4D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46320"/>
            <a:ext cx="10122408" cy="45720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F7F7FD"/>
                </a:solidFill>
                <a:latin typeface="DejaVu Sans"/>
              </a:rPr>
              <a:t>H(u, v) = 1 − exp( −D(u, v)² / (2D₀²)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25896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A3B0CC"/>
                </a:solidFill>
                <a:latin typeface="Inter"/>
              </a:rPr>
              <a:t>Гауссов ВЧ-фильтр плавно ослабляет низкие частоты и пропускает более высокие.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5 /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Фильтрация изображения через FFT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28216"/>
            <a:ext cx="10936224" cy="4425696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911095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11095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4712" y="1911095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203704"/>
            <a:ext cx="10460736" cy="3803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f = np.fft.fft2(img)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fshift = np.fft.fftshift(f)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rows, cols = img.shape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y, x = np.ogrid[:rows, :cols]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D2 = (x-cols//2)**2 + (y-rows//2)**2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D0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mask = 1 - np.exp(-D2 / (2*D0**2))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f_filtered = fshift * mask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back = np.fft.ifft2(np.fft.ifftshift(f_filtered))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result = cv2.normalize(np.abs(back), None,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50">
                <a:solidFill>
                  <a:srgbClr val="DDE8F9"/>
                </a:solidFill>
                <a:latin typeface="DejaVu Sans Mono"/>
              </a:rPr>
              <a:t>                       0, 255, cv2.NORM_MINMAX)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5 / ФИЛЬТР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Как выглядит гауссова ВЧ-маска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764792"/>
            <a:ext cx="4105656" cy="4215384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3474720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Маска D₀ =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85599" y="2542032"/>
            <a:ext cx="1950608" cy="2926080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sk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87" y="2560320"/>
            <a:ext cx="1914032" cy="28895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10912" y="1764792"/>
            <a:ext cx="6483096" cy="4215384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984248"/>
            <a:ext cx="574243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F7F7FD"/>
                </a:solidFill>
                <a:latin typeface="Inter"/>
              </a:rPr>
              <a:t>Передаточная характеристика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39103" y="2532888"/>
            <a:ext cx="5617569" cy="2779776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391" y="2551176"/>
            <a:ext cx="5580993" cy="274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016752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60">
                <a:solidFill>
                  <a:srgbClr val="A3B0CC"/>
                </a:solidFill>
                <a:latin typeface="Inter"/>
              </a:rPr>
              <a:t>Центр маски тёмный — низкие частоты подавляются; к краям значение плавно приближается к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5 /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Выделение высоких частот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64792"/>
            <a:ext cx="3392424" cy="4187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956816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Исходное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358" y="2404872"/>
            <a:ext cx="2235290" cy="335584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46" y="2423160"/>
            <a:ext cx="2198714" cy="33192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07408" y="1764792"/>
            <a:ext cx="3392424" cy="4187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1956816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Маска · D₀ =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5974" y="2404872"/>
            <a:ext cx="2235290" cy="335584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sk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262" y="2423160"/>
            <a:ext cx="2198714" cy="33192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93024" y="1764792"/>
            <a:ext cx="3392424" cy="4187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4" y="1956816"/>
            <a:ext cx="54864" cy="237744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После ВЧ-фильтра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1590" y="2404872"/>
            <a:ext cx="2235290" cy="335584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pf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878" y="2423160"/>
            <a:ext cx="2198714" cy="3319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35040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90">
                <a:solidFill>
                  <a:srgbClr val="A3B0CC"/>
                </a:solidFill>
                <a:latin typeface="Inter"/>
              </a:rPr>
              <a:t>Становятся заметнее контуры, карнизы и текстуры; гладкие участки становятся темнее.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ЗАДАНИЕ 5 / 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Как D₀ влияет на фильтрацию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64792"/>
            <a:ext cx="3392424" cy="419709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956816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D₀ =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7330" y="2404872"/>
            <a:ext cx="2241347" cy="3364991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pf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18" y="2423160"/>
            <a:ext cx="2204771" cy="332841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98264" y="1764792"/>
            <a:ext cx="3392424" cy="419709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81144" y="1956816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D₀ =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3802" y="2404872"/>
            <a:ext cx="2241347" cy="3364991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pf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090" y="2423160"/>
            <a:ext cx="2204771" cy="332841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74736" y="1764792"/>
            <a:ext cx="3392424" cy="419709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57615" y="1956816"/>
            <a:ext cx="54864" cy="237744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901952"/>
            <a:ext cx="2862072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10">
                <a:solidFill>
                  <a:srgbClr val="F7F7FD"/>
                </a:solidFill>
                <a:latin typeface="Inter"/>
              </a:rPr>
              <a:t>D₀ = 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50274" y="2404872"/>
            <a:ext cx="2241347" cy="3364991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pf_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562" y="2423160"/>
            <a:ext cx="2204771" cy="33284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16752"/>
            <a:ext cx="10881360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90">
                <a:solidFill>
                  <a:srgbClr val="A3B0CC"/>
                </a:solidFill>
                <a:latin typeface="Inter"/>
              </a:rPr>
              <a:t>Чем больше D₀, тем шире диапазон низких и средних частот, которые подавляются.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Выводы по лабораторной работе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46504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54864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874519"/>
            <a:ext cx="214884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80">
                <a:solidFill>
                  <a:srgbClr val="F7F7FD"/>
                </a:solidFill>
                <a:latin typeface="Inter"/>
              </a:rPr>
              <a:t>ШУМ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1828800"/>
            <a:ext cx="7342631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30">
                <a:solidFill>
                  <a:srgbClr val="A3B0CC"/>
                </a:solidFill>
                <a:latin typeface="Inter"/>
              </a:rPr>
              <a:t>Медианный фильтр 5×5 эффективнее гауссова устранил импульсный шум.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600553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737713"/>
            <a:ext cx="54864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B29A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2728569"/>
            <a:ext cx="214884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80">
                <a:solidFill>
                  <a:srgbClr val="F7F7FD"/>
                </a:solidFill>
                <a:latin typeface="Inter"/>
              </a:rPr>
              <a:t>ГРАНИЦЫ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682849"/>
            <a:ext cx="7342631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30">
                <a:solidFill>
                  <a:srgbClr val="A3B0CC"/>
                </a:solidFill>
                <a:latin typeface="Inter"/>
              </a:rPr>
              <a:t>Оператор Превитта выделил вертикальные контуры архитектурных объектов.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454603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91763"/>
            <a:ext cx="54864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B29AFF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3582619"/>
            <a:ext cx="214884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80">
                <a:solidFill>
                  <a:srgbClr val="F7F7FD"/>
                </a:solidFill>
                <a:latin typeface="Inter"/>
              </a:rPr>
              <a:t>РЕЗКОСТЬ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3536899"/>
            <a:ext cx="7342631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30">
                <a:solidFill>
                  <a:srgbClr val="A3B0CC"/>
                </a:solidFill>
                <a:latin typeface="Inter"/>
              </a:rPr>
              <a:t>Свёртка усилила перепады яркости и подчеркнула мелкие детали.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4308652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445812"/>
            <a:ext cx="54864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436668"/>
            <a:ext cx="214884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80">
                <a:solidFill>
                  <a:srgbClr val="F7F7FD"/>
                </a:solidFill>
                <a:latin typeface="Inter"/>
              </a:rPr>
              <a:t>СКОРОСТЬ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4390948"/>
            <a:ext cx="7342631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30">
                <a:solidFill>
                  <a:srgbClr val="A3B0CC"/>
                </a:solidFill>
                <a:latin typeface="Inter"/>
              </a:rPr>
              <a:t>Усредняющий фильтр работал быстрее медианного при окне 11×11.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162702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299862"/>
            <a:ext cx="54864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B29AFF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5290718"/>
            <a:ext cx="214884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80">
                <a:solidFill>
                  <a:srgbClr val="F7F7FD"/>
                </a:solidFill>
                <a:latin typeface="Inter"/>
              </a:rPr>
              <a:t>СПЕКТР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5244998"/>
            <a:ext cx="7342631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530">
                <a:solidFill>
                  <a:srgbClr val="A3B0CC"/>
                </a:solidFill>
                <a:latin typeface="Inter"/>
              </a:rPr>
              <a:t>Гауссова ВЧ-маска позволила выделить высокочастотные составляющие.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Ответы на вопросы  ·  1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56231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05939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Что такое фильтрация изображений?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24151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Изменение значений пикселей для подавления шума, сглаживания, повышения резкости и выделения границ.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743199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692908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Линейная и нелинейная фильтрация?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011119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Линейная использует взвешенную сумму соседей; нелинейная — медиану, минимум или максимум.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93008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30168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579876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Какие бывают виды шума?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98087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Гауссовский, импульсный («соль и перец»), равномерный и периодический.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79976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66844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Как размер окна влияет на результат?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785055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Большое окно сильнее сглаживает, но может терять детали и увеличивать время обработки.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66944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404104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353812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Когда нужны пространственная и частотная фильтрация?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672023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Пространственная — для локальной обработки; частотная — для работы со спектром и периодическим шумом.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Ответы на вопросы  ·  2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56231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05939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Принцип усредняющего фильтра?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24151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Пиксель заменяется средним арифметическим значением в окне заданного размера.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743199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692908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Отличие Гаусса от усредняющего фильтра?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011119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Вес центральных пикселей у Гаусса больше и плавно уменьшается к краям.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93008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30168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579876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Для какого шума подходит медианный фильтр?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98087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Для импульсного шума «соль и перец», при этом сохраняются резкие границы.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79976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66844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Что делают Собель и Превитт?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785055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Вычисляют приближённый градиент яркости по X или Y и выделяют границы.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66944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404104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353812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Чем Лаплас отличается от Собеля?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672023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Лаплас использует вторую производную и не выделяет конкретное направление градиента.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Ответы на вопросы  ·  3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56231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05939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Как реализуется повышение резкости?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24151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Через ядро с положительным центром и отрицательными соседями либо unsharp masking.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743199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692908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Что представляют низкие и высокие частоты?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011119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Низкие — плавные области; высокие — контуры, мелкие детали и шум.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93008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30168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579876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Чем перейти в частотную область?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98087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Дискретным преобразованием Фурье; для вычислений используется быстрый алгоритм FFT.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79976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66844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Как выполняется частотная фильтрация?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785055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FFT → центрирование → умножение на маску → обратный сдвиг → обратное FFT.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66944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404104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353812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Чем идеальный НЧ-фильтр отличается от гауссова?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672023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У идеального резкая граница среза; у гауссова плавное ослабление частот.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B29AFF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F7F7FD"/>
                </a:solidFill>
                <a:latin typeface="Inter Display"/>
              </a:rPr>
              <a:t>Ответы на вопросы  ·  4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6400800" cy="192024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7082A6"/>
                </a:solidFill>
                <a:latin typeface="Inter"/>
              </a:rPr>
              <a:t>COMPUTER VISION  /  ЛАБОРАТОРНАЯ №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30">
                <a:solidFill>
                  <a:srgbClr val="A3B0CC"/>
                </a:solidFill>
                <a:latin typeface="Inter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56231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05939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Какие артефакты даёт идеальный НЧ-фильтр?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24151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«Звон» — паразитные волны рядом с резкими границами изображения.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39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743199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692908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Для чего нужен ВЧ-фильтр?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011119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Подавляет низкие частоты, подчёркивает контуры и мелкие детали.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93008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30168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579876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Что такое полосовой фильтр BPF?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98087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Пропускает заданный диапазон частот, подавляя более низкие и более высокие.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79976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66844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Преимущества частотной фильтрации?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785055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Удобный контроль спектральных компонент, в частности подавление периодических помех.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66944"/>
            <a:ext cx="11009376" cy="75895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404104"/>
            <a:ext cx="585216" cy="393192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B29AFF"/>
                </a:solidFill>
                <a:latin typeface="Inter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353812"/>
            <a:ext cx="9619488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F7F7FD"/>
                </a:solidFill>
                <a:latin typeface="Inter"/>
              </a:rPr>
              <a:t>Когда FFT-фильтрация может быть быстрее?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672023"/>
            <a:ext cx="9582912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330">
                <a:solidFill>
                  <a:srgbClr val="A3B0CC"/>
                </a:solidFill>
                <a:latin typeface="Inter"/>
              </a:rPr>
              <a:t>При больших ядрах: прямая свёртка дорожает с размером ядра, а FFT может быть эффективнее.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