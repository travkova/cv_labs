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2" d="100"/>
          <a:sy n="92" d="100"/>
        </p:scale>
        <p:origin x="-110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630936"/>
            <a:ext cx="1024128" cy="32004"/>
          </a:xfrm>
          <a:prstGeom prst="rect">
            <a:avLst/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877824"/>
            <a:ext cx="649224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6BE2D3"/>
                </a:solidFill>
                <a:latin typeface="Inter"/>
              </a:rPr>
              <a:t>ЦИФРОВАЯ ОБРАБОТКА ИЗОБРАЖЕНИЙ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6858000" cy="1572768"/>
          </a:xfrm>
          <a:prstGeom prst="rect">
            <a:avLst/>
          </a:prstGeom>
          <a:noFill/>
        </p:spPr>
        <p:txBody>
          <a:bodyPr wrap="square" lIns="9144" tIns="9144" r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7F7FD"/>
                </a:solidFill>
                <a:latin typeface="Inter Display"/>
              </a:rPr>
              <a:t>Лабораторная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7F7FD"/>
                </a:solidFill>
                <a:latin typeface="Inter Display"/>
              </a:rPr>
              <a:t>работа №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145536"/>
            <a:ext cx="6492240" cy="1207008"/>
          </a:xfrm>
          <a:prstGeom prst="rect">
            <a:avLst/>
          </a:prstGeom>
          <a:noFill/>
        </p:spPr>
        <p:txBody>
          <a:bodyPr wrap="square" lIns="9144" tIns="9144" r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A3B0CC"/>
                </a:solidFill>
                <a:latin typeface="Inter Display"/>
              </a:rPr>
              <a:t>Методы цифровой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A3B0CC"/>
                </a:solidFill>
                <a:latin typeface="Inter Display"/>
              </a:rPr>
              <a:t>фильтрации изображений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4828032"/>
            <a:ext cx="6190488" cy="21031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" y="5074920"/>
            <a:ext cx="6400800" cy="42062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7F7FD"/>
                </a:solidFill>
                <a:latin typeface="Inter"/>
              </a:rPr>
              <a:t>Лебёдкин Владислав  •  Травкова Ирина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5559552"/>
            <a:ext cx="5943600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3B0CC"/>
                </a:solidFill>
                <a:latin typeface="Inter"/>
              </a:rPr>
              <a:t>Группа 932302  /  Вариант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521207"/>
            <a:ext cx="3502152" cy="5760720"/>
          </a:xfrm>
          <a:prstGeom prst="roundRect">
            <a:avLst>
              <a:gd name="adj" fmla="val 7000"/>
            </a:avLst>
          </a:prstGeom>
          <a:solidFill>
            <a:srgbClr val="1A2742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original_337_5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722376"/>
            <a:ext cx="3081528" cy="535838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829800" y="877824"/>
            <a:ext cx="1197864" cy="329184"/>
          </a:xfrm>
          <a:prstGeom prst="roundRect">
            <a:avLst>
              <a:gd name="adj" fmla="val 20000"/>
            </a:avLst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84664" y="891540"/>
            <a:ext cx="1088136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E2D3"/>
                </a:solidFill>
                <a:latin typeface="Inter"/>
              </a:rPr>
              <a:t>LAB 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42448" y="6355080"/>
            <a:ext cx="1005840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082A6"/>
                </a:solidFill>
                <a:latin typeface="Inter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1300" b="1">
                <a:solidFill>
                  <a:srgbClr val="B297FB"/>
                </a:solidFill>
                <a:latin typeface="Inter"/>
              </a:rPr>
              <a:t>ОБЗОР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2900" b="1">
                <a:solidFill>
                  <a:srgbClr val="F6F8FF"/>
                </a:solidFill>
                <a:latin typeface="Inter Display"/>
              </a:rPr>
              <a:t>Задания варианта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1150" b="0">
                <a:solidFill>
                  <a:srgbClr val="B3C1DB"/>
                </a:solidFill>
                <a:latin typeface="Inter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46504"/>
            <a:ext cx="10963656" cy="740664"/>
          </a:xfrm>
          <a:prstGeom prst="roundRect">
            <a:avLst>
              <a:gd name="adj" fmla="val 11000"/>
            </a:avLst>
          </a:prstGeom>
          <a:solidFill>
            <a:srgbClr val="182239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2" y="1874519"/>
            <a:ext cx="484632" cy="466344"/>
          </a:xfrm>
          <a:prstGeom prst="roundRect">
            <a:avLst>
              <a:gd name="adj" fmla="val 11000"/>
            </a:avLst>
          </a:prstGeom>
          <a:solidFill>
            <a:srgbClr val="B297FB"/>
          </a:solidFill>
          <a:ln w="8255">
            <a:solidFill>
              <a:srgbClr val="B29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956816"/>
            <a:ext cx="347472" cy="256032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1020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1892807"/>
            <a:ext cx="9710928" cy="521207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>
                <a:solidFill>
                  <a:srgbClr val="F6F8FF"/>
                </a:solidFill>
                <a:latin typeface="Inter"/>
              </a:rPr>
              <a:t>Применить фильтр Гаусса (σ = 2) и медианный фильтр (5×5). Сравнить.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624328"/>
            <a:ext cx="10963656" cy="740664"/>
          </a:xfrm>
          <a:prstGeom prst="roundRect">
            <a:avLst>
              <a:gd name="adj" fmla="val 11000"/>
            </a:avLst>
          </a:prstGeom>
          <a:solidFill>
            <a:srgbClr val="1E2A43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4672" y="2752344"/>
            <a:ext cx="484632" cy="466344"/>
          </a:xfrm>
          <a:prstGeom prst="roundRect">
            <a:avLst>
              <a:gd name="adj" fmla="val 11000"/>
            </a:avLst>
          </a:prstGeom>
          <a:solidFill>
            <a:srgbClr val="67DCCE"/>
          </a:solidFill>
          <a:ln w="8255">
            <a:solidFill>
              <a:srgbClr val="67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1020"/>
                </a:solidFill>
                <a:latin typeface="Inte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5336" y="2770632"/>
            <a:ext cx="9710928" cy="521207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>
                <a:solidFill>
                  <a:srgbClr val="F6F8FF"/>
                </a:solidFill>
                <a:latin typeface="Inter"/>
              </a:rPr>
              <a:t>Выделить вертикальные границы оператором Превитта.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502152"/>
            <a:ext cx="10963656" cy="740664"/>
          </a:xfrm>
          <a:prstGeom prst="roundRect">
            <a:avLst>
              <a:gd name="adj" fmla="val 11000"/>
            </a:avLst>
          </a:prstGeom>
          <a:solidFill>
            <a:srgbClr val="182239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4672" y="3630168"/>
            <a:ext cx="484632" cy="466344"/>
          </a:xfrm>
          <a:prstGeom prst="roundRect">
            <a:avLst>
              <a:gd name="adj" fmla="val 11000"/>
            </a:avLst>
          </a:prstGeom>
          <a:solidFill>
            <a:srgbClr val="B297FB"/>
          </a:solidFill>
          <a:ln w="8255">
            <a:solidFill>
              <a:srgbClr val="B29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712464"/>
            <a:ext cx="347472" cy="256032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1020"/>
                </a:solidFill>
                <a:latin typeface="Inte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5336" y="3648456"/>
            <a:ext cx="9710928" cy="521207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>
                <a:solidFill>
                  <a:srgbClr val="F6F8FF"/>
                </a:solidFill>
                <a:latin typeface="Inter"/>
              </a:rPr>
              <a:t>Усилить резкость изображения с помощью свёртки.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4379976"/>
            <a:ext cx="10963656" cy="740664"/>
          </a:xfrm>
          <a:prstGeom prst="roundRect">
            <a:avLst>
              <a:gd name="adj" fmla="val 11000"/>
            </a:avLst>
          </a:prstGeom>
          <a:solidFill>
            <a:srgbClr val="1E2A43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4672" y="4507992"/>
            <a:ext cx="484632" cy="466344"/>
          </a:xfrm>
          <a:prstGeom prst="roundRect">
            <a:avLst>
              <a:gd name="adj" fmla="val 11000"/>
            </a:avLst>
          </a:prstGeom>
          <a:solidFill>
            <a:srgbClr val="67DCCE"/>
          </a:solidFill>
          <a:ln w="8255">
            <a:solidFill>
              <a:srgbClr val="67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590288"/>
            <a:ext cx="347472" cy="256032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1020"/>
                </a:solidFill>
                <a:latin typeface="Inte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5336" y="4526280"/>
            <a:ext cx="9710928" cy="521207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>
                <a:solidFill>
                  <a:srgbClr val="F6F8FF"/>
                </a:solidFill>
                <a:latin typeface="Inter"/>
              </a:rPr>
              <a:t>Сравнить скорость работы усредняющего и медианного фильтров при окне 11×11.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5257800"/>
            <a:ext cx="10963656" cy="740664"/>
          </a:xfrm>
          <a:prstGeom prst="roundRect">
            <a:avLst>
              <a:gd name="adj" fmla="val 11000"/>
            </a:avLst>
          </a:prstGeom>
          <a:solidFill>
            <a:srgbClr val="182239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04672" y="5385816"/>
            <a:ext cx="484632" cy="466344"/>
          </a:xfrm>
          <a:prstGeom prst="roundRect">
            <a:avLst>
              <a:gd name="adj" fmla="val 11000"/>
            </a:avLst>
          </a:prstGeom>
          <a:solidFill>
            <a:srgbClr val="B297FB"/>
          </a:solidFill>
          <a:ln w="8255">
            <a:solidFill>
              <a:srgbClr val="B29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468112"/>
            <a:ext cx="347472" cy="256032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1020"/>
                </a:solidFill>
                <a:latin typeface="Inter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45336" y="5404104"/>
            <a:ext cx="9710928" cy="521207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>
                <a:solidFill>
                  <a:srgbClr val="F6F8FF"/>
                </a:solidFill>
                <a:latin typeface="Inter"/>
              </a:rPr>
              <a:t>Реализовать гауссов ВЧ-фильтр в частотной области.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29AFF"/>
                </a:solidFill>
                <a:latin typeface="Inter"/>
              </a:rPr>
              <a:t>ОСНОВНЫЕ ПРИНЦИПЫ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7F7FD"/>
                </a:solidFill>
                <a:latin typeface="Inter Display"/>
              </a:rPr>
              <a:t>Как работают цифровые фильтры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A3B0CC"/>
                </a:solidFill>
                <a:latin typeface="Inter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801368"/>
            <a:ext cx="5422392" cy="176479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0664" y="1929384"/>
            <a:ext cx="54864" cy="150876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" y="2093976"/>
            <a:ext cx="594360" cy="457200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29AFF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3352" y="2057400"/>
            <a:ext cx="3913632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7F7FD"/>
                </a:solidFill>
                <a:latin typeface="Inter"/>
              </a:rPr>
              <a:t>ПРОСТРАНСТВО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3352" y="2551176"/>
            <a:ext cx="4041648" cy="786384"/>
          </a:xfrm>
          <a:prstGeom prst="rect">
            <a:avLst/>
          </a:prstGeom>
          <a:noFill/>
        </p:spPr>
        <p:txBody>
          <a:bodyPr wrap="square" lIns="9144" tIns="9144" r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A3B0CC"/>
                </a:solidFill>
                <a:latin typeface="Inter"/>
              </a:rPr>
              <a:t>Работа непосредственно с пикселями изображения в локальной окрестности.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1801368"/>
            <a:ext cx="5422392" cy="176479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9944" y="1929384"/>
            <a:ext cx="54864" cy="1508760"/>
          </a:xfrm>
          <a:prstGeom prst="rect">
            <a:avLst/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74536" y="2093976"/>
            <a:ext cx="594360" cy="457200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6BE2D3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2632" y="2057400"/>
            <a:ext cx="3913632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7F7FD"/>
                </a:solidFill>
                <a:latin typeface="Inter"/>
              </a:rPr>
              <a:t>СГЛАЖИВАНИЕ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2632" y="2551176"/>
            <a:ext cx="4041648" cy="786384"/>
          </a:xfrm>
          <a:prstGeom prst="rect">
            <a:avLst/>
          </a:prstGeom>
          <a:noFill/>
        </p:spPr>
        <p:txBody>
          <a:bodyPr wrap="square" lIns="9144" tIns="9144" r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A3B0CC"/>
                </a:solidFill>
                <a:latin typeface="Inter"/>
              </a:rPr>
              <a:t>Гауссов фильтр размывает, а медианный подавляет импульсный шум.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" y="3822191"/>
            <a:ext cx="5422392" cy="176479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0664" y="3950207"/>
            <a:ext cx="54864" cy="1508760"/>
          </a:xfrm>
          <a:prstGeom prst="rect">
            <a:avLst/>
          </a:prstGeom>
          <a:solidFill>
            <a:srgbClr val="FF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" y="4114800"/>
            <a:ext cx="594360" cy="457200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C27A"/>
                </a:solidFill>
                <a:latin typeface="Inter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3352" y="4078224"/>
            <a:ext cx="3913632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7F7FD"/>
                </a:solidFill>
                <a:latin typeface="Inter"/>
              </a:rPr>
              <a:t>ГРАНИЦЫ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3352" y="4572000"/>
            <a:ext cx="4041648" cy="786384"/>
          </a:xfrm>
          <a:prstGeom prst="rect">
            <a:avLst/>
          </a:prstGeom>
          <a:noFill/>
        </p:spPr>
        <p:txBody>
          <a:bodyPr wrap="square" lIns="9144" tIns="9144" r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A3B0CC"/>
                </a:solidFill>
                <a:latin typeface="Inter"/>
              </a:rPr>
              <a:t>Операторы градиента и ядра повышения резкости выделяют перепады яркости.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2784" y="3822191"/>
            <a:ext cx="5422392" cy="176479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9944" y="3950207"/>
            <a:ext cx="54864" cy="150876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74536" y="4114800"/>
            <a:ext cx="594360" cy="457200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29AFF"/>
                </a:solidFill>
                <a:latin typeface="Inter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2632" y="4078224"/>
            <a:ext cx="3913632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7F7FD"/>
                </a:solidFill>
                <a:latin typeface="Inter"/>
              </a:rPr>
              <a:t>ЧАСТОТА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2632" y="4572000"/>
            <a:ext cx="4041648" cy="786384"/>
          </a:xfrm>
          <a:prstGeom prst="rect">
            <a:avLst/>
          </a:prstGeom>
          <a:noFill/>
        </p:spPr>
        <p:txBody>
          <a:bodyPr wrap="square" lIns="9144" tIns="9144" r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A3B0CC"/>
                </a:solidFill>
                <a:latin typeface="Inter"/>
              </a:rPr>
              <a:t>Преобразование Фурье переводит изображение в спектр для фильтрации.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9320"/>
            <a:ext cx="10881360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10" b="0">
                <a:solidFill>
                  <a:srgbClr val="A3B0CC"/>
                </a:solidFill>
                <a:latin typeface="Inter"/>
              </a:rPr>
              <a:t>Фильтрация применяется для подавления шумов, повышения резкости и выделения объектов.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29AFF"/>
                </a:solidFill>
                <a:latin typeface="Inter"/>
              </a:rPr>
              <a:t>ИСХОДНЫЕ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7F7FD"/>
                </a:solidFill>
                <a:latin typeface="Inter Display"/>
              </a:rPr>
              <a:t>Изображение и добавленный шум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A3B0CC"/>
                </a:solidFill>
                <a:latin typeface="Inter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46504"/>
            <a:ext cx="3063240" cy="423367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1247" y="1938528"/>
            <a:ext cx="54864" cy="237744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1883664"/>
            <a:ext cx="2532888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F7F7FD"/>
                </a:solidFill>
                <a:latin typeface="Inter"/>
              </a:rPr>
              <a:t>Исходное изображение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7199" y="2386584"/>
            <a:ext cx="2265576" cy="3401568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487" y="2404872"/>
            <a:ext cx="2229000" cy="336499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895344" y="1746504"/>
            <a:ext cx="3063240" cy="423367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078224" y="1938528"/>
            <a:ext cx="54864" cy="237744"/>
          </a:xfrm>
          <a:prstGeom prst="rect">
            <a:avLst/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61104" y="1883664"/>
            <a:ext cx="2532888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F7F7FD"/>
                </a:solidFill>
                <a:latin typeface="Inter"/>
              </a:rPr>
              <a:t>Шум «соль и перец»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5140" y="2386584"/>
            <a:ext cx="2263648" cy="3401568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nois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427" y="2404872"/>
            <a:ext cx="2227072" cy="336499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187184" y="1746504"/>
            <a:ext cx="4315968" cy="4233672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52360" y="1947672"/>
            <a:ext cx="877824" cy="329184"/>
          </a:xfrm>
          <a:prstGeom prst="roundRect">
            <a:avLst>
              <a:gd name="adj" fmla="val 20000"/>
            </a:avLst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07224" y="1961388"/>
            <a:ext cx="768096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E2D3"/>
                </a:solidFill>
                <a:latin typeface="Inter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1504" y="2459736"/>
            <a:ext cx="3593592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7F7FD"/>
                </a:solidFill>
                <a:latin typeface="Inter"/>
              </a:rPr>
              <a:t>Исходные параметры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4" y="3035808"/>
            <a:ext cx="3584448" cy="1188720"/>
          </a:xfrm>
          <a:prstGeom prst="rect">
            <a:avLst/>
          </a:prstGeom>
          <a:noFill/>
        </p:spPr>
        <p:txBody>
          <a:bodyPr wrap="square" lIns="9144" tIns="9144" r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3B0CC"/>
                </a:solidFill>
                <a:latin typeface="Inter"/>
              </a:rPr>
              <a:t>Файл: cv_image.jpg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3B0CC"/>
                </a:solidFill>
                <a:latin typeface="Inter"/>
              </a:rPr>
              <a:t>Цветность: оттенки серого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3B0CC"/>
                </a:solidFill>
                <a:latin typeface="Inter"/>
              </a:rPr>
              <a:t>Шум: amount = 0.05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34072" y="4398264"/>
            <a:ext cx="3813048" cy="1078992"/>
          </a:xfrm>
          <a:prstGeom prst="roundRect">
            <a:avLst>
              <a:gd name="adj" fmla="val 9000"/>
            </a:avLst>
          </a:prstGeom>
          <a:solidFill>
            <a:srgbClr val="090F1F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616952" y="45811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781544" y="45811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946136" y="458114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FF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0" y="4873752"/>
            <a:ext cx="3337560" cy="4571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 b="0" dirty="0" err="1">
                <a:solidFill>
                  <a:srgbClr val="DDE8F9"/>
                </a:solidFill>
                <a:latin typeface="DejaVu Sans Mono"/>
              </a:rPr>
              <a:t>img</a:t>
            </a:r>
            <a:r>
              <a:rPr sz="1180" b="0" dirty="0">
                <a:solidFill>
                  <a:srgbClr val="DDE8F9"/>
                </a:solidFill>
                <a:latin typeface="DejaVu Sans Mono"/>
              </a:rPr>
              <a:t> = cv2.imread("cv_image.jpg",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80" b="0" dirty="0">
                <a:solidFill>
                  <a:srgbClr val="DDE8F9"/>
                </a:solidFill>
                <a:latin typeface="DejaVu Sans Mono"/>
              </a:rPr>
              <a:t>    cv2.IMREAD_GRAYSCALE)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1300" b="1">
                <a:solidFill>
                  <a:srgbClr val="B297FB"/>
                </a:solidFill>
                <a:latin typeface="Inter"/>
              </a:rPr>
              <a:t>ЗАДАНИЕ 1 / КОД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2900" b="1">
                <a:solidFill>
                  <a:srgbClr val="F6F8FF"/>
                </a:solidFill>
                <a:latin typeface="Inter Display"/>
              </a:rPr>
              <a:t>Принцип фильтрации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1150" b="0">
                <a:solidFill>
                  <a:srgbClr val="B3C1DB"/>
                </a:solidFill>
                <a:latin typeface="Inter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37943"/>
            <a:ext cx="6492240" cy="2057400"/>
          </a:xfrm>
          <a:prstGeom prst="roundRect">
            <a:avLst>
              <a:gd name="adj" fmla="val 9000"/>
            </a:avLst>
          </a:prstGeom>
          <a:solidFill>
            <a:srgbClr val="090F1F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2" y="202082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9264" y="202082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33856" y="202082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FF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313432"/>
            <a:ext cx="6016752" cy="14356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30" b="0" dirty="0" err="1" smtClean="0">
                <a:solidFill>
                  <a:srgbClr val="DDE8F9"/>
                </a:solidFill>
                <a:latin typeface="DejaVu Sans Mono"/>
              </a:rPr>
              <a:t>gaussian</a:t>
            </a:r>
            <a:r>
              <a:rPr sz="1730" b="0" dirty="0" smtClean="0">
                <a:solidFill>
                  <a:srgbClr val="DDE8F9"/>
                </a:solidFill>
                <a:latin typeface="DejaVu Sans Mono"/>
              </a:rPr>
              <a:t> = cv2.GaussianBlur(</a:t>
            </a:r>
            <a:r>
              <a:rPr sz="1730" b="0" dirty="0" err="1" smtClean="0">
                <a:solidFill>
                  <a:srgbClr val="DDE8F9"/>
                </a:solidFill>
                <a:latin typeface="DejaVu Sans Mono"/>
              </a:rPr>
              <a:t>img_noisy</a:t>
            </a:r>
            <a:r>
              <a:rPr sz="1730" b="0" dirty="0" smtClean="0">
                <a:solidFill>
                  <a:srgbClr val="DDE8F9"/>
                </a:solidFill>
                <a:latin typeface="DejaVu Sans Mono"/>
              </a:rPr>
              <a:t>, (5, 5), </a:t>
            </a:r>
            <a:r>
              <a:rPr sz="1730" b="0" dirty="0" err="1" smtClean="0">
                <a:solidFill>
                  <a:srgbClr val="DDE8F9"/>
                </a:solidFill>
                <a:latin typeface="DejaVu Sans Mono"/>
              </a:rPr>
              <a:t>sigmaX</a:t>
            </a:r>
            <a:r>
              <a:rPr sz="1730" b="0" dirty="0" smtClean="0">
                <a:solidFill>
                  <a:srgbClr val="DDE8F9"/>
                </a:solidFill>
                <a:latin typeface="DejaVu Sans Mono"/>
              </a:rPr>
              <a:t>=2.0)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30" b="0" dirty="0" smtClean="0">
                <a:solidFill>
                  <a:srgbClr val="DDE8F9"/>
                </a:solidFill>
                <a:latin typeface="DejaVu Sans Mono"/>
              </a:rPr>
              <a:t>median = cv2.medianBlur(</a:t>
            </a:r>
            <a:r>
              <a:rPr sz="1730" b="0" dirty="0" err="1" smtClean="0">
                <a:solidFill>
                  <a:srgbClr val="DDE8F9"/>
                </a:solidFill>
                <a:latin typeface="DejaVu Sans Mono"/>
              </a:rPr>
              <a:t>img_noisy</a:t>
            </a:r>
            <a:r>
              <a:rPr sz="1730" b="0" dirty="0" smtClean="0">
                <a:solidFill>
                  <a:srgbClr val="DDE8F9"/>
                </a:solidFill>
                <a:latin typeface="DejaVu Sans Mono"/>
              </a:rPr>
              <a:t>, 5)</a:t>
            </a:r>
            <a:endParaRPr sz="1730" b="0" dirty="0">
              <a:solidFill>
                <a:srgbClr val="DDE8F9"/>
              </a:solidFill>
              <a:latin typeface="DejaVu Sans Mono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97496" y="1837943"/>
            <a:ext cx="4151376" cy="2057400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34656" y="1965960"/>
            <a:ext cx="54864" cy="1801368"/>
          </a:xfrm>
          <a:prstGeom prst="rect">
            <a:avLst/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1896" y="2020824"/>
            <a:ext cx="2916936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7F7FD"/>
                </a:solidFill>
                <a:latin typeface="Inter"/>
              </a:rPr>
              <a:t>Гауссов фильтр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7536" y="2551176"/>
            <a:ext cx="3511296" cy="1188720"/>
          </a:xfrm>
          <a:prstGeom prst="rect">
            <a:avLst/>
          </a:prstGeom>
          <a:noFill/>
        </p:spPr>
        <p:txBody>
          <a:bodyPr wrap="square" lIns="9144" tIns="9144" r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3B0CC"/>
                </a:solidFill>
                <a:latin typeface="Inter"/>
              </a:rPr>
              <a:t>Взвешенно усредняет соседние значения. Создаёт плавное размытие.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" y="4206240"/>
            <a:ext cx="10927080" cy="1481328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68096" y="4334255"/>
            <a:ext cx="54864" cy="1225296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4407408"/>
            <a:ext cx="4114800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7F7FD"/>
                </a:solidFill>
                <a:latin typeface="Inter"/>
              </a:rPr>
              <a:t>Медианный фильтр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855464"/>
            <a:ext cx="10049256" cy="603504"/>
          </a:xfrm>
          <a:prstGeom prst="rect">
            <a:avLst/>
          </a:prstGeom>
          <a:noFill/>
        </p:spPr>
        <p:txBody>
          <a:bodyPr wrap="square" lIns="9144" tIns="9144" r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3B0CC"/>
                </a:solidFill>
                <a:latin typeface="Inter"/>
              </a:rPr>
              <a:t>Заменяет пиксель медианой значений в окне 5×5. Эффективен против импульсного шума «соль и перец».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1300" b="1">
                <a:solidFill>
                  <a:srgbClr val="B297FB"/>
                </a:solidFill>
                <a:latin typeface="Inter"/>
              </a:rPr>
              <a:t>ЗАДАНИЕ 1 / СРАВНЕНИЕ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2900" b="1">
                <a:solidFill>
                  <a:srgbClr val="F6F8FF"/>
                </a:solidFill>
                <a:latin typeface="Inter Display"/>
              </a:rPr>
              <a:t>Гауссов и медианный фильтры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1150" b="0">
                <a:solidFill>
                  <a:srgbClr val="B3C1DB"/>
                </a:solidFill>
                <a:latin typeface="Inter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755648"/>
            <a:ext cx="3401568" cy="4206240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5528" y="1947672"/>
            <a:ext cx="54864" cy="237744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1892807"/>
            <a:ext cx="2871216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F7F7FD"/>
                </a:solidFill>
                <a:latin typeface="Inter"/>
              </a:rPr>
              <a:t>Зашумлённое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0685" y="2395727"/>
            <a:ext cx="2245492" cy="3374135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nois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973" y="2414015"/>
            <a:ext cx="2208916" cy="333755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398264" y="1755648"/>
            <a:ext cx="3401568" cy="4206240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81144" y="1947672"/>
            <a:ext cx="54864" cy="237744"/>
          </a:xfrm>
          <a:prstGeom prst="rect">
            <a:avLst/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64024" y="1892807"/>
            <a:ext cx="2871216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F7F7FD"/>
                </a:solidFill>
                <a:latin typeface="Inter"/>
              </a:rPr>
              <a:t>Гаусс · σ =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6301" y="2395727"/>
            <a:ext cx="2245492" cy="3374135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gaussi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589" y="2414015"/>
            <a:ext cx="2208916" cy="333755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183879" y="1755648"/>
            <a:ext cx="3401568" cy="4206240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66759" y="1947672"/>
            <a:ext cx="54864" cy="237744"/>
          </a:xfrm>
          <a:prstGeom prst="rect">
            <a:avLst/>
          </a:prstGeom>
          <a:solidFill>
            <a:srgbClr val="FF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1892807"/>
            <a:ext cx="2871216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F7F7FD"/>
                </a:solidFill>
                <a:latin typeface="Inter"/>
              </a:rPr>
              <a:t>Медиана · 5×5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61917" y="2395727"/>
            <a:ext cx="2245492" cy="3374135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medi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0205" y="2414015"/>
            <a:ext cx="2208916" cy="333755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" y="6035040"/>
            <a:ext cx="10881360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60" b="0">
                <a:solidFill>
                  <a:srgbClr val="A3B0CC"/>
                </a:solidFill>
                <a:latin typeface="Inter"/>
              </a:rPr>
              <a:t>Медианный фильтр лучше удаляет отдельные шумовые точки и сохраняет контуры.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29AFF"/>
                </a:solidFill>
                <a:latin typeface="Inter"/>
              </a:rPr>
              <a:t>ЗАДАНИЕ 2 / ПРЕВИТТ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7F7FD"/>
                </a:solidFill>
                <a:latin typeface="Inter Display"/>
              </a:rPr>
              <a:t>Выделение вертикальных границ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A3B0CC"/>
                </a:solidFill>
                <a:latin typeface="Inter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773936"/>
            <a:ext cx="4709160" cy="3090672"/>
          </a:xfrm>
          <a:prstGeom prst="roundRect">
            <a:avLst>
              <a:gd name="adj" fmla="val 9000"/>
            </a:avLst>
          </a:prstGeom>
          <a:solidFill>
            <a:srgbClr val="090F1F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95528" y="195681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0120" y="195681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24712" y="195681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FF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249424"/>
            <a:ext cx="4233672" cy="24688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lvl="1"/>
            <a:r>
              <a:rPr sz="1310" b="0" dirty="0" smtClean="0">
                <a:solidFill>
                  <a:srgbClr val="DDE8F9"/>
                </a:solidFill>
                <a:latin typeface="DejaVu Sans Mono"/>
              </a:rPr>
              <a:t>kernel = </a:t>
            </a:r>
            <a:r>
              <a:rPr sz="1310" b="0" dirty="0" err="1" smtClean="0">
                <a:solidFill>
                  <a:srgbClr val="DDE8F9"/>
                </a:solidFill>
                <a:latin typeface="DejaVu Sans Mono"/>
              </a:rPr>
              <a:t>np.array</a:t>
            </a:r>
            <a:r>
              <a:rPr sz="1310" b="0" dirty="0" smtClean="0">
                <a:solidFill>
                  <a:srgbClr val="DDE8F9"/>
                </a:solidFill>
                <a:latin typeface="DejaVu Sans Mono"/>
              </a:rPr>
              <a:t>([</a:t>
            </a:r>
          </a:p>
          <a:p>
            <a:pPr lvl="3"/>
            <a:r>
              <a:rPr sz="1310" b="0" dirty="0" smtClean="0">
                <a:solidFill>
                  <a:srgbClr val="DDE8F9"/>
                </a:solidFill>
                <a:latin typeface="DejaVu Sans Mono"/>
              </a:rPr>
              <a:t>    [-1, 0, 1],</a:t>
            </a:r>
          </a:p>
          <a:p>
            <a:pPr lvl="3"/>
            <a:r>
              <a:rPr sz="1310" b="0" dirty="0" smtClean="0">
                <a:solidFill>
                  <a:srgbClr val="DDE8F9"/>
                </a:solidFill>
                <a:latin typeface="DejaVu Sans Mono"/>
              </a:rPr>
              <a:t>    [-1, 0, 1],</a:t>
            </a:r>
          </a:p>
          <a:p>
            <a:pPr lvl="3"/>
            <a:r>
              <a:rPr sz="1310" b="0" dirty="0" smtClean="0">
                <a:solidFill>
                  <a:srgbClr val="DDE8F9"/>
                </a:solidFill>
                <a:latin typeface="DejaVu Sans Mono"/>
              </a:rPr>
              <a:t>    [-1, 0, 1]</a:t>
            </a:r>
          </a:p>
          <a:p>
            <a:pPr lvl="3"/>
            <a:r>
              <a:rPr sz="1310" b="0" dirty="0" smtClean="0">
                <a:solidFill>
                  <a:srgbClr val="DDE8F9"/>
                </a:solidFill>
                <a:latin typeface="DejaVu Sans Mono"/>
              </a:rPr>
              <a:t>], </a:t>
            </a:r>
            <a:r>
              <a:rPr sz="1310" b="0" dirty="0" err="1" smtClean="0">
                <a:solidFill>
                  <a:srgbClr val="DDE8F9"/>
                </a:solidFill>
                <a:latin typeface="DejaVu Sans Mono"/>
              </a:rPr>
              <a:t>dtype</a:t>
            </a:r>
            <a:r>
              <a:rPr sz="1310" b="0" dirty="0" smtClean="0">
                <a:solidFill>
                  <a:srgbClr val="DDE8F9"/>
                </a:solidFill>
                <a:latin typeface="DejaVu Sans Mono"/>
              </a:rPr>
              <a:t>=np.float32)</a:t>
            </a:r>
            <a:endParaRPr lang="ru-RU" sz="1310" b="0" dirty="0" smtClean="0">
              <a:solidFill>
                <a:srgbClr val="DDE8F9"/>
              </a:solidFill>
              <a:latin typeface="DejaVu Sans Mono"/>
            </a:endParaRPr>
          </a:p>
          <a:p>
            <a:pPr lvl="3"/>
            <a:endParaRPr sz="1310" b="0" dirty="0" smtClean="0">
              <a:solidFill>
                <a:srgbClr val="DDE8F9"/>
              </a:solidFill>
              <a:latin typeface="DejaVu Sans Mono"/>
            </a:endParaRPr>
          </a:p>
          <a:p>
            <a:pPr lvl="1"/>
            <a:r>
              <a:rPr sz="1310" b="0" dirty="0" err="1" smtClean="0">
                <a:solidFill>
                  <a:srgbClr val="DDE8F9"/>
                </a:solidFill>
                <a:latin typeface="DejaVu Sans Mono"/>
              </a:rPr>
              <a:t>prewitt</a:t>
            </a:r>
            <a:r>
              <a:rPr sz="1310" b="0" dirty="0" smtClean="0">
                <a:solidFill>
                  <a:srgbClr val="DDE8F9"/>
                </a:solidFill>
                <a:latin typeface="DejaVu Sans Mono"/>
              </a:rPr>
              <a:t> = cv2.filter2D(</a:t>
            </a:r>
            <a:r>
              <a:rPr sz="1310" b="0" dirty="0" err="1" smtClean="0">
                <a:solidFill>
                  <a:srgbClr val="DDE8F9"/>
                </a:solidFill>
                <a:latin typeface="DejaVu Sans Mono"/>
              </a:rPr>
              <a:t>img</a:t>
            </a:r>
            <a:r>
              <a:rPr sz="1310" b="0" dirty="0" smtClean="0">
                <a:solidFill>
                  <a:srgbClr val="DDE8F9"/>
                </a:solidFill>
                <a:latin typeface="DejaVu Sans Mono"/>
              </a:rPr>
              <a:t>, cv2.CV_64F, kernel)</a:t>
            </a:r>
            <a:endParaRPr lang="ru-RU" sz="1310" b="0" dirty="0" smtClean="0">
              <a:solidFill>
                <a:srgbClr val="DDE8F9"/>
              </a:solidFill>
              <a:latin typeface="DejaVu Sans Mono"/>
            </a:endParaRPr>
          </a:p>
          <a:p>
            <a:pPr lvl="1"/>
            <a:r>
              <a:rPr lang="en-US" sz="1310" dirty="0" err="1" smtClean="0">
                <a:solidFill>
                  <a:srgbClr val="DDE8F9"/>
                </a:solidFill>
                <a:latin typeface="DejaVu Sans Mono"/>
              </a:rPr>
              <a:t>prewitt_v_abs</a:t>
            </a:r>
            <a:r>
              <a:rPr lang="en-US" sz="1310" dirty="0" smtClean="0">
                <a:solidFill>
                  <a:srgbClr val="DDE8F9"/>
                </a:solidFill>
                <a:latin typeface="DejaVu Sans Mono"/>
              </a:rPr>
              <a:t> </a:t>
            </a:r>
            <a:r>
              <a:rPr lang="en-US" sz="1310" dirty="0">
                <a:solidFill>
                  <a:srgbClr val="DDE8F9"/>
                </a:solidFill>
                <a:latin typeface="DejaVu Sans Mono"/>
              </a:rPr>
              <a:t>= </a:t>
            </a:r>
            <a:r>
              <a:rPr lang="en-US" sz="1310" dirty="0" err="1">
                <a:solidFill>
                  <a:srgbClr val="DDE8F9"/>
                </a:solidFill>
                <a:latin typeface="DejaVu Sans Mono"/>
              </a:rPr>
              <a:t>np.abs</a:t>
            </a:r>
            <a:r>
              <a:rPr lang="en-US" sz="1310" dirty="0">
                <a:solidFill>
                  <a:srgbClr val="DDE8F9"/>
                </a:solidFill>
                <a:latin typeface="DejaVu Sans Mono"/>
              </a:rPr>
              <a:t>(</a:t>
            </a:r>
            <a:r>
              <a:rPr lang="en-US" sz="1310" dirty="0" err="1">
                <a:solidFill>
                  <a:srgbClr val="DDE8F9"/>
                </a:solidFill>
                <a:latin typeface="DejaVu Sans Mono"/>
              </a:rPr>
              <a:t>prewitt_v</a:t>
            </a:r>
            <a:r>
              <a:rPr lang="en-US" sz="1310" dirty="0">
                <a:solidFill>
                  <a:srgbClr val="DDE8F9"/>
                </a:solidFill>
                <a:latin typeface="DejaVu Sans Mono"/>
              </a:rPr>
              <a:t>)</a:t>
            </a:r>
          </a:p>
          <a:p>
            <a:pPr lvl="1"/>
            <a:r>
              <a:rPr lang="en-US" sz="1310" dirty="0" err="1" smtClean="0">
                <a:solidFill>
                  <a:srgbClr val="DDE8F9"/>
                </a:solidFill>
                <a:latin typeface="DejaVu Sans Mono"/>
              </a:rPr>
              <a:t>prewitt_v_norm</a:t>
            </a:r>
            <a:r>
              <a:rPr lang="en-US" sz="1310" dirty="0" smtClean="0">
                <a:solidFill>
                  <a:srgbClr val="DDE8F9"/>
                </a:solidFill>
                <a:latin typeface="DejaVu Sans Mono"/>
              </a:rPr>
              <a:t> </a:t>
            </a:r>
            <a:r>
              <a:rPr lang="en-US" sz="1310" dirty="0">
                <a:solidFill>
                  <a:srgbClr val="DDE8F9"/>
                </a:solidFill>
                <a:latin typeface="DejaVu Sans Mono"/>
              </a:rPr>
              <a:t>= cv2.normalize(</a:t>
            </a:r>
            <a:r>
              <a:rPr lang="en-US" sz="1310" dirty="0" err="1">
                <a:solidFill>
                  <a:srgbClr val="DDE8F9"/>
                </a:solidFill>
                <a:latin typeface="DejaVu Sans Mono"/>
              </a:rPr>
              <a:t>prewitt_v_abs</a:t>
            </a:r>
            <a:r>
              <a:rPr lang="en-US" sz="1310" dirty="0">
                <a:solidFill>
                  <a:srgbClr val="DDE8F9"/>
                </a:solidFill>
                <a:latin typeface="DejaVu Sans Mono"/>
              </a:rPr>
              <a:t>, None, 0, 255, cv2.NORM_MINMAX).</a:t>
            </a:r>
            <a:r>
              <a:rPr lang="en-US" sz="1310" dirty="0" err="1">
                <a:solidFill>
                  <a:srgbClr val="DDE8F9"/>
                </a:solidFill>
                <a:latin typeface="DejaVu Sans Mono"/>
              </a:rPr>
              <a:t>astype</a:t>
            </a:r>
            <a:r>
              <a:rPr lang="en-US" sz="1310" dirty="0">
                <a:solidFill>
                  <a:srgbClr val="DDE8F9"/>
                </a:solidFill>
                <a:latin typeface="DejaVu Sans Mono"/>
              </a:rPr>
              <a:t>(np.uint8)</a:t>
            </a:r>
            <a:endParaRPr sz="1310" b="0" dirty="0">
              <a:solidFill>
                <a:srgbClr val="DDE8F9"/>
              </a:solidFill>
              <a:latin typeface="DejaVu Sans Mono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513832" y="1773936"/>
            <a:ext cx="2880360" cy="4105656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96712" y="1965960"/>
            <a:ext cx="54864" cy="237744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79592" y="1911095"/>
            <a:ext cx="2350008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F7F7FD"/>
                </a:solidFill>
                <a:latin typeface="Inter"/>
              </a:rPr>
              <a:t>Оригинал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63623" y="2414016"/>
            <a:ext cx="2180777" cy="3273552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911" y="2432304"/>
            <a:ext cx="2144201" cy="323697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567928" y="1773936"/>
            <a:ext cx="2880360" cy="4105656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750807" y="1965960"/>
            <a:ext cx="54864" cy="237744"/>
          </a:xfrm>
          <a:prstGeom prst="rect">
            <a:avLst/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33688" y="1911095"/>
            <a:ext cx="2350008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10" b="1">
                <a:solidFill>
                  <a:srgbClr val="F7F7FD"/>
                </a:solidFill>
                <a:latin typeface="Inter"/>
              </a:rPr>
              <a:t>Границы по 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7719" y="2414016"/>
            <a:ext cx="2180777" cy="3273552"/>
          </a:xfrm>
          <a:prstGeom prst="rect">
            <a:avLst/>
          </a:prstGeom>
          <a:solidFill>
            <a:srgbClr val="20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prewi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6007" y="2432304"/>
            <a:ext cx="2144201" cy="32369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" y="6025896"/>
            <a:ext cx="10881360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A3B0CC"/>
                </a:solidFill>
                <a:latin typeface="Inter"/>
              </a:rPr>
              <a:t>Ядро Превитта выявляет изменения яркости по оси X, поэтому подчёркивает вертикальные линии.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29AFF"/>
                </a:solidFill>
                <a:latin typeface="Inter"/>
              </a:rPr>
              <a:t>ЗАДАНИЕ 3 / СВЁРТКА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2900" b="1">
                <a:solidFill>
                  <a:srgbClr val="F6F8FF"/>
                </a:solidFill>
                <a:latin typeface="Inter Display"/>
              </a:rPr>
              <a:t>Три ядра повышения резкости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A3B0CC"/>
                </a:solidFill>
                <a:latin typeface="Inter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46504"/>
            <a:ext cx="4800600" cy="4288536"/>
          </a:xfrm>
          <a:prstGeom prst="roundRect">
            <a:avLst>
              <a:gd name="adj" fmla="val 16000"/>
            </a:avLst>
          </a:prstGeom>
          <a:solidFill>
            <a:srgbClr val="0C1120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13815" y="1901952"/>
            <a:ext cx="91440" cy="91440"/>
          </a:xfrm>
          <a:prstGeom prst="ellipse">
            <a:avLst/>
          </a:prstGeom>
          <a:solidFill>
            <a:srgbClr val="67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87551" y="1901952"/>
            <a:ext cx="91440" cy="91440"/>
          </a:xfrm>
          <a:prstGeom prst="ellipse">
            <a:avLst/>
          </a:prstGeom>
          <a:solidFill>
            <a:srgbClr val="B29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1288" y="1901952"/>
            <a:ext cx="91440" cy="91440"/>
          </a:xfrm>
          <a:prstGeom prst="ellipse">
            <a:avLst/>
          </a:prstGeom>
          <a:solidFill>
            <a:srgbClr val="F4B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2157984"/>
            <a:ext cx="4325112" cy="3758184"/>
          </a:xfrm>
          <a:prstGeom prst="rect">
            <a:avLst/>
          </a:prstGeom>
          <a:noFill/>
        </p:spPr>
        <p:txBody>
          <a:bodyPr wrap="square" lIns="13716" tIns="13716" rIns="13716" bIns="13716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F6F8FF"/>
                </a:solidFill>
                <a:latin typeface="DejaVu Sans Mono"/>
              </a:rPr>
              <a:t>kernel1 = np.array([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F6F8FF"/>
                </a:solidFill>
                <a:latin typeface="DejaVu Sans Mono"/>
              </a:rPr>
              <a:t>    [0, -1, 0],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F6F8FF"/>
                </a:solidFill>
                <a:latin typeface="DejaVu Sans Mono"/>
              </a:rPr>
              <a:t>    [-1, 5, -1],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F6F8FF"/>
                </a:solidFill>
                <a:latin typeface="DejaVu Sans Mono"/>
              </a:rPr>
              <a:t>    [0, -1, 0]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F6F8FF"/>
                </a:solidFill>
                <a:latin typeface="DejaVu Sans Mono"/>
              </a:rPr>
              <a:t>])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F6F8FF"/>
                </a:solidFill>
                <a:latin typeface="DejaVu Sans Mono"/>
              </a:rPr>
              <a:t>kernel2 = np.array([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F6F8FF"/>
                </a:solidFill>
                <a:latin typeface="DejaVu Sans Mono"/>
              </a:rPr>
              <a:t>    [0, -2, 0],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F6F8FF"/>
                </a:solidFill>
                <a:latin typeface="DejaVu Sans Mono"/>
              </a:rPr>
              <a:t>    [-2, 9, -2],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F6F8FF"/>
                </a:solidFill>
                <a:latin typeface="DejaVu Sans Mono"/>
              </a:rPr>
              <a:t>    [0, -2, 0]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F6F8FF"/>
                </a:solidFill>
                <a:latin typeface="DejaVu Sans Mono"/>
              </a:rPr>
              <a:t>])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F6F8FF"/>
                </a:solidFill>
                <a:latin typeface="DejaVu Sans Mono"/>
              </a:rPr>
              <a:t>kernel3 = np.array([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F6F8FF"/>
                </a:solidFill>
                <a:latin typeface="DejaVu Sans Mono"/>
              </a:rPr>
              <a:t>    [-1, -1, -1],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F6F8FF"/>
                </a:solidFill>
                <a:latin typeface="DejaVu Sans Mono"/>
              </a:rPr>
              <a:t>    [-1, 9, -1],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F6F8FF"/>
                </a:solidFill>
                <a:latin typeface="DejaVu Sans Mono"/>
              </a:rPr>
              <a:t>    [-1, -1, -1]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F6F8FF"/>
                </a:solidFill>
                <a:latin typeface="DejaVu Sans Mono"/>
              </a:rPr>
              <a:t>])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F6F8FF"/>
                </a:solidFill>
                <a:latin typeface="DejaVu Sans Mono"/>
              </a:rPr>
              <a:t>sharp1 = cv2.filter2D(img, -1, kernel1)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F6F8FF"/>
                </a:solidFill>
                <a:latin typeface="DejaVu Sans Mono"/>
              </a:rPr>
              <a:t>sharp2 = cv2.filter2D(img, -1, kernel2)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F6F8FF"/>
                </a:solidFill>
                <a:latin typeface="DejaVu Sans Mono"/>
              </a:rPr>
              <a:t>sharp3 = cv2.filter2D(img, -1, kernel3)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41848" y="1746504"/>
            <a:ext cx="1865376" cy="4288536"/>
          </a:xfrm>
          <a:prstGeom prst="roundRect">
            <a:avLst>
              <a:gd name="adj" fmla="val 16000"/>
            </a:avLst>
          </a:prstGeom>
          <a:solidFill>
            <a:srgbClr val="172035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88152" y="1956816"/>
            <a:ext cx="54864" cy="256032"/>
          </a:xfrm>
          <a:prstGeom prst="rect">
            <a:avLst/>
          </a:prstGeom>
          <a:solidFill>
            <a:srgbClr val="67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07024" y="1956816"/>
            <a:ext cx="1481328" cy="61264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Умеренная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70448" y="2779776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70448" y="2839212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3076" y="2779776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3076" y="2839212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-1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75704" y="2779776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75704" y="2839212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70448" y="3232404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70448" y="3291840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-1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3076" y="3232404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B297FB"/>
          </a:solidFill>
          <a:ln w="8255">
            <a:solidFill>
              <a:srgbClr val="B29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23076" y="3291840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1120"/>
                </a:solidFill>
                <a:latin typeface="Inter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75704" y="3232404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75704" y="3291840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-1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70448" y="3685032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70448" y="3744468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23076" y="3685032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23076" y="3744468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-1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75704" y="3685032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75704" y="3744468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97296" y="4736592"/>
            <a:ext cx="1554480" cy="6400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A9B5CF"/>
                </a:solidFill>
                <a:latin typeface="Inter"/>
              </a:rPr>
              <a:t>4 соседних пикселя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26096" y="1746504"/>
            <a:ext cx="1865376" cy="4288536"/>
          </a:xfrm>
          <a:prstGeom prst="roundRect">
            <a:avLst>
              <a:gd name="adj" fmla="val 16000"/>
            </a:avLst>
          </a:prstGeom>
          <a:solidFill>
            <a:srgbClr val="172035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72400" y="1956816"/>
            <a:ext cx="54864" cy="256032"/>
          </a:xfrm>
          <a:prstGeom prst="rect">
            <a:avLst/>
          </a:prstGeom>
          <a:solidFill>
            <a:srgbClr val="B29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91271" y="1956816"/>
            <a:ext cx="1481328" cy="61264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Сильная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54696" y="2779776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54696" y="2839212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07323" y="2779776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07323" y="2839212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-2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59952" y="2779776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59952" y="2839212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54696" y="3232404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854696" y="3291840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-2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07323" y="3232404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B297FB"/>
          </a:solidFill>
          <a:ln w="8255">
            <a:solidFill>
              <a:srgbClr val="B29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07323" y="3291840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1120"/>
                </a:solidFill>
                <a:latin typeface="Inter"/>
              </a:rPr>
              <a:t>9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759952" y="3232404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759952" y="3291840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-2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54696" y="3685032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854696" y="3744468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07323" y="3685032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07323" y="3744468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-2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759952" y="3685032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759952" y="3744468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81544" y="4736592"/>
            <a:ext cx="1554480" cy="6400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A9B5CF"/>
                </a:solidFill>
                <a:latin typeface="Inter"/>
              </a:rPr>
              <a:t>Более сильное усиление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10344" y="1746504"/>
            <a:ext cx="1865376" cy="4288536"/>
          </a:xfrm>
          <a:prstGeom prst="roundRect">
            <a:avLst>
              <a:gd name="adj" fmla="val 16000"/>
            </a:avLst>
          </a:prstGeom>
          <a:solidFill>
            <a:srgbClr val="172035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756648" y="1956816"/>
            <a:ext cx="54864" cy="256032"/>
          </a:xfrm>
          <a:prstGeom prst="rect">
            <a:avLst/>
          </a:prstGeom>
          <a:solidFill>
            <a:srgbClr val="B29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875519" y="1956816"/>
            <a:ext cx="1481328" cy="61264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Все направления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838944" y="2779776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838944" y="2839212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-1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291572" y="2779776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291572" y="2839212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-1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744200" y="2779776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744200" y="2839212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-1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838944" y="3232404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838944" y="3291840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-1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291572" y="3232404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B297FB"/>
          </a:solidFill>
          <a:ln w="8255">
            <a:solidFill>
              <a:srgbClr val="B29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291572" y="3291840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C1120"/>
                </a:solidFill>
                <a:latin typeface="Inter"/>
              </a:rPr>
              <a:t>9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744200" y="3232404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744200" y="3291840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-1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838944" y="3685032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838944" y="3744468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-1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291572" y="3685032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291572" y="3744468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-1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744200" y="3685032"/>
            <a:ext cx="384048" cy="384048"/>
          </a:xfrm>
          <a:prstGeom prst="roundRect">
            <a:avLst>
              <a:gd name="adj" fmla="val 13000"/>
            </a:avLst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744200" y="3744468"/>
            <a:ext cx="384048" cy="21945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F8FF"/>
                </a:solidFill>
                <a:latin typeface="Inter"/>
              </a:rPr>
              <a:t>-1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65792" y="4736592"/>
            <a:ext cx="1554480" cy="6400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A9B5CF"/>
                </a:solidFill>
                <a:latin typeface="Inter"/>
              </a:rPr>
              <a:t>Все 8 соседей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4088" y="6025896"/>
            <a:ext cx="10881360" cy="3566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9B5CF"/>
                </a:solidFill>
                <a:latin typeface="Inter"/>
              </a:rPr>
              <a:t>Все три ядра имеют сумму коэффициентов 1 и сохраняют яркость однородных участков.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29AFF"/>
                </a:solidFill>
                <a:latin typeface="Inter"/>
              </a:rPr>
              <a:t>ЗАДАНИЕ 3 / РЕЗУЛЬТАТ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2900" b="1">
                <a:solidFill>
                  <a:srgbClr val="F6F8FF"/>
                </a:solidFill>
                <a:latin typeface="Inter Display"/>
              </a:rPr>
              <a:t>Сравнение трёх вариантов резкости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A3B0CC"/>
                </a:solidFill>
                <a:latin typeface="Inter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" y="1746504"/>
            <a:ext cx="2724912" cy="4334256"/>
          </a:xfrm>
          <a:prstGeom prst="roundRect">
            <a:avLst>
              <a:gd name="adj" fmla="val 16000"/>
            </a:avLst>
          </a:prstGeom>
          <a:solidFill>
            <a:srgbClr val="172035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13815" y="1965960"/>
            <a:ext cx="54864" cy="256032"/>
          </a:xfrm>
          <a:prstGeom prst="rect">
            <a:avLst/>
          </a:prstGeom>
          <a:solidFill>
            <a:srgbClr val="67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7" y="1901952"/>
            <a:ext cx="2258568" cy="4114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6F8FF"/>
                </a:solidFill>
                <a:latin typeface="Inter"/>
              </a:rPr>
              <a:t>Исходное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2980" y="2400300"/>
            <a:ext cx="1993391" cy="2962656"/>
          </a:xfrm>
          <a:prstGeom prst="rect">
            <a:avLst/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harp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3" y="2432304"/>
            <a:ext cx="1929384" cy="289864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511296" y="1746504"/>
            <a:ext cx="2724912" cy="4334256"/>
          </a:xfrm>
          <a:prstGeom prst="roundRect">
            <a:avLst>
              <a:gd name="adj" fmla="val 16000"/>
            </a:avLst>
          </a:prstGeom>
          <a:solidFill>
            <a:srgbClr val="172035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94176" y="1965960"/>
            <a:ext cx="54864" cy="256032"/>
          </a:xfrm>
          <a:prstGeom prst="rect">
            <a:avLst/>
          </a:prstGeom>
          <a:solidFill>
            <a:srgbClr val="67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58768" y="1901952"/>
            <a:ext cx="2258568" cy="4114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6F8FF"/>
                </a:solidFill>
                <a:latin typeface="Inter"/>
              </a:rPr>
              <a:t>Умеренная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63339" y="2400300"/>
            <a:ext cx="1993391" cy="2962656"/>
          </a:xfrm>
          <a:prstGeom prst="rect">
            <a:avLst/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harp_m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344" y="2432304"/>
            <a:ext cx="1929384" cy="289864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391656" y="1746504"/>
            <a:ext cx="2724912" cy="4334256"/>
          </a:xfrm>
          <a:prstGeom prst="roundRect">
            <a:avLst>
              <a:gd name="adj" fmla="val 16000"/>
            </a:avLst>
          </a:prstGeom>
          <a:solidFill>
            <a:srgbClr val="172035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74536" y="1965960"/>
            <a:ext cx="54864" cy="256032"/>
          </a:xfrm>
          <a:prstGeom prst="rect">
            <a:avLst/>
          </a:prstGeom>
          <a:solidFill>
            <a:srgbClr val="B29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39128" y="1901952"/>
            <a:ext cx="2258568" cy="4114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6F8FF"/>
                </a:solidFill>
                <a:latin typeface="Inter"/>
              </a:rPr>
              <a:t>Сильная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43700" y="2400300"/>
            <a:ext cx="1993391" cy="2962656"/>
          </a:xfrm>
          <a:prstGeom prst="rect">
            <a:avLst/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sharp_stro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2432304"/>
            <a:ext cx="1929384" cy="289864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272015" y="1746504"/>
            <a:ext cx="2724912" cy="4334256"/>
          </a:xfrm>
          <a:prstGeom prst="roundRect">
            <a:avLst>
              <a:gd name="adj" fmla="val 16000"/>
            </a:avLst>
          </a:prstGeom>
          <a:solidFill>
            <a:srgbClr val="172035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454895" y="1965960"/>
            <a:ext cx="54864" cy="256032"/>
          </a:xfrm>
          <a:prstGeom prst="rect">
            <a:avLst/>
          </a:prstGeom>
          <a:solidFill>
            <a:srgbClr val="B29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19488" y="1901952"/>
            <a:ext cx="2258568" cy="4114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6F8FF"/>
                </a:solidFill>
                <a:latin typeface="Inter"/>
              </a:rPr>
              <a:t>Все направления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24059" y="2400300"/>
            <a:ext cx="1993391" cy="2962656"/>
          </a:xfrm>
          <a:prstGeom prst="rect">
            <a:avLst/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sharp_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3" y="2432304"/>
            <a:ext cx="1929384" cy="28986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04088" y="6089904"/>
            <a:ext cx="10881360" cy="3566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A9B5CF"/>
                </a:solidFill>
                <a:latin typeface="Inter"/>
              </a:rPr>
              <a:t>Усиление резкости подчёркивает элементы фасада, но также может сделать шум заметнее.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29AFF"/>
                </a:solidFill>
                <a:latin typeface="Inter"/>
              </a:rPr>
              <a:t>ЗАДАНИЕ 4 / ЭКСПЕРИМЕНТ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7F7FD"/>
                </a:solidFill>
                <a:latin typeface="Inter Display"/>
              </a:rPr>
              <a:t>Как измеряется скорость фильтров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A3B0CC"/>
                </a:solidFill>
                <a:latin typeface="Inter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55648"/>
            <a:ext cx="7360920" cy="4462272"/>
          </a:xfrm>
          <a:prstGeom prst="roundRect">
            <a:avLst>
              <a:gd name="adj" fmla="val 16000"/>
            </a:avLst>
          </a:prstGeom>
          <a:solidFill>
            <a:srgbClr val="0C1120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13815" y="1911095"/>
            <a:ext cx="91440" cy="91440"/>
          </a:xfrm>
          <a:prstGeom prst="ellipse">
            <a:avLst/>
          </a:prstGeom>
          <a:solidFill>
            <a:srgbClr val="67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87551" y="1911095"/>
            <a:ext cx="91440" cy="91440"/>
          </a:xfrm>
          <a:prstGeom prst="ellipse">
            <a:avLst/>
          </a:prstGeom>
          <a:solidFill>
            <a:srgbClr val="B29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1288" y="1911095"/>
            <a:ext cx="91440" cy="91440"/>
          </a:xfrm>
          <a:prstGeom prst="ellipse">
            <a:avLst/>
          </a:prstGeom>
          <a:solidFill>
            <a:srgbClr val="F4B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2167128"/>
            <a:ext cx="6885432" cy="3105466"/>
          </a:xfrm>
          <a:prstGeom prst="rect">
            <a:avLst/>
          </a:prstGeom>
          <a:noFill/>
        </p:spPr>
        <p:txBody>
          <a:bodyPr wrap="square" lIns="13716" tIns="13716" rIns="13716" bIns="13716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F6F8FF"/>
                </a:solidFill>
                <a:latin typeface="DejaVu Sans Mono"/>
              </a:rPr>
              <a:t>n =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F6F8FF"/>
                </a:solidFill>
                <a:latin typeface="DejaVu Sans Mono"/>
              </a:rPr>
              <a:t>cv2.blur(</a:t>
            </a:r>
            <a:r>
              <a:rPr sz="1250" b="0" dirty="0" err="1">
                <a:solidFill>
                  <a:srgbClr val="F6F8FF"/>
                </a:solidFill>
                <a:latin typeface="DejaVu Sans Mono"/>
              </a:rPr>
              <a:t>img</a:t>
            </a:r>
            <a:r>
              <a:rPr sz="1250" b="0" dirty="0">
                <a:solidFill>
                  <a:srgbClr val="F6F8FF"/>
                </a:solidFill>
                <a:latin typeface="DejaVu Sans Mono"/>
              </a:rPr>
              <a:t>, (11, 11)) </a:t>
            </a:r>
            <a:endParaRPr lang="ru-RU" sz="1250" b="0" dirty="0" smtClean="0">
              <a:solidFill>
                <a:srgbClr val="F6F8FF"/>
              </a:solidFill>
              <a:latin typeface="DejaVu Sans Mon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dirty="0" smtClean="0">
                <a:solidFill>
                  <a:srgbClr val="F6F8FF"/>
                </a:solidFill>
                <a:latin typeface="DejaVu Sans Mono"/>
              </a:rPr>
              <a:t>cv2.medianBlur(</a:t>
            </a:r>
            <a:r>
              <a:rPr sz="1250" b="0" dirty="0" err="1" smtClean="0">
                <a:solidFill>
                  <a:srgbClr val="F6F8FF"/>
                </a:solidFill>
                <a:latin typeface="DejaVu Sans Mono"/>
              </a:rPr>
              <a:t>img</a:t>
            </a:r>
            <a:r>
              <a:rPr sz="1250" b="0" dirty="0">
                <a:solidFill>
                  <a:srgbClr val="F6F8FF"/>
                </a:solidFill>
                <a:latin typeface="DejaVu Sans Mono"/>
              </a:rPr>
              <a:t>, 11)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50" b="0" dirty="0">
              <a:solidFill>
                <a:srgbClr val="F6F8FF"/>
              </a:solidFill>
              <a:latin typeface="DejaVu Sans Mon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F6F8FF"/>
                </a:solidFill>
                <a:latin typeface="DejaVu Sans Mono"/>
              </a:rPr>
              <a:t>start = </a:t>
            </a:r>
            <a:r>
              <a:rPr sz="1250" b="0" dirty="0" err="1">
                <a:solidFill>
                  <a:srgbClr val="F6F8FF"/>
                </a:solidFill>
                <a:latin typeface="DejaVu Sans Mono"/>
              </a:rPr>
              <a:t>time.perf_counter</a:t>
            </a:r>
            <a:r>
              <a:rPr sz="1250" b="0" dirty="0">
                <a:solidFill>
                  <a:srgbClr val="F6F8FF"/>
                </a:solidFill>
                <a:latin typeface="DejaVu Sans Mono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F6F8FF"/>
                </a:solidFill>
                <a:latin typeface="DejaVu Sans Mono"/>
              </a:rPr>
              <a:t>for i in range(n):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F6F8FF"/>
                </a:solidFill>
                <a:latin typeface="DejaVu Sans Mono"/>
              </a:rPr>
              <a:t>    </a:t>
            </a:r>
            <a:r>
              <a:rPr sz="1250" b="0" dirty="0" err="1">
                <a:solidFill>
                  <a:srgbClr val="F6F8FF"/>
                </a:solidFill>
                <a:latin typeface="DejaVu Sans Mono"/>
              </a:rPr>
              <a:t>mean_img</a:t>
            </a:r>
            <a:r>
              <a:rPr sz="1250" b="0" dirty="0">
                <a:solidFill>
                  <a:srgbClr val="F6F8FF"/>
                </a:solidFill>
                <a:latin typeface="DejaVu Sans Mono"/>
              </a:rPr>
              <a:t> = cv2.blur(</a:t>
            </a:r>
            <a:r>
              <a:rPr sz="1250" b="0" dirty="0" err="1">
                <a:solidFill>
                  <a:srgbClr val="F6F8FF"/>
                </a:solidFill>
                <a:latin typeface="DejaVu Sans Mono"/>
              </a:rPr>
              <a:t>img</a:t>
            </a:r>
            <a:r>
              <a:rPr sz="1250" b="0" dirty="0">
                <a:solidFill>
                  <a:srgbClr val="F6F8FF"/>
                </a:solidFill>
                <a:latin typeface="DejaVu Sans Mono"/>
              </a:rPr>
              <a:t>, (11, 11))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dirty="0" err="1">
                <a:solidFill>
                  <a:srgbClr val="F6F8FF"/>
                </a:solidFill>
                <a:latin typeface="DejaVu Sans Mono"/>
              </a:rPr>
              <a:t>mean_time</a:t>
            </a:r>
            <a:r>
              <a:rPr sz="1250" b="0" dirty="0">
                <a:solidFill>
                  <a:srgbClr val="F6F8FF"/>
                </a:solidFill>
                <a:latin typeface="DejaVu Sans Mono"/>
              </a:rPr>
              <a:t> = (</a:t>
            </a:r>
            <a:r>
              <a:rPr sz="1250" b="0" dirty="0" err="1">
                <a:solidFill>
                  <a:srgbClr val="F6F8FF"/>
                </a:solidFill>
                <a:latin typeface="DejaVu Sans Mono"/>
              </a:rPr>
              <a:t>time.perf_counter</a:t>
            </a:r>
            <a:r>
              <a:rPr sz="1250" b="0" dirty="0">
                <a:solidFill>
                  <a:srgbClr val="F6F8FF"/>
                </a:solidFill>
                <a:latin typeface="DejaVu Sans Mono"/>
              </a:rPr>
              <a:t>() - start) / 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50" b="0" dirty="0">
              <a:solidFill>
                <a:srgbClr val="F6F8FF"/>
              </a:solidFill>
              <a:latin typeface="DejaVu Sans Mon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F6F8FF"/>
                </a:solidFill>
                <a:latin typeface="DejaVu Sans Mono"/>
              </a:rPr>
              <a:t>start = </a:t>
            </a:r>
            <a:r>
              <a:rPr sz="1250" b="0" dirty="0" err="1">
                <a:solidFill>
                  <a:srgbClr val="F6F8FF"/>
                </a:solidFill>
                <a:latin typeface="DejaVu Sans Mono"/>
              </a:rPr>
              <a:t>time.perf_counter</a:t>
            </a:r>
            <a:r>
              <a:rPr sz="1250" b="0" dirty="0">
                <a:solidFill>
                  <a:srgbClr val="F6F8FF"/>
                </a:solidFill>
                <a:latin typeface="DejaVu Sans Mono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F6F8FF"/>
                </a:solidFill>
                <a:latin typeface="DejaVu Sans Mono"/>
              </a:rPr>
              <a:t>for i in range(n):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F6F8FF"/>
                </a:solidFill>
                <a:latin typeface="DejaVu Sans Mono"/>
              </a:rPr>
              <a:t>    </a:t>
            </a:r>
            <a:r>
              <a:rPr sz="1250" b="0" dirty="0" err="1">
                <a:solidFill>
                  <a:srgbClr val="F6F8FF"/>
                </a:solidFill>
                <a:latin typeface="DejaVu Sans Mono"/>
              </a:rPr>
              <a:t>median_img</a:t>
            </a:r>
            <a:r>
              <a:rPr sz="1250" b="0" dirty="0">
                <a:solidFill>
                  <a:srgbClr val="F6F8FF"/>
                </a:solidFill>
                <a:latin typeface="DejaVu Sans Mono"/>
              </a:rPr>
              <a:t> = cv2.medianBlur(</a:t>
            </a:r>
            <a:r>
              <a:rPr sz="1250" b="0" dirty="0" err="1">
                <a:solidFill>
                  <a:srgbClr val="F6F8FF"/>
                </a:solidFill>
                <a:latin typeface="DejaVu Sans Mono"/>
              </a:rPr>
              <a:t>img</a:t>
            </a:r>
            <a:r>
              <a:rPr sz="1250" b="0" dirty="0">
                <a:solidFill>
                  <a:srgbClr val="F6F8FF"/>
                </a:solidFill>
                <a:latin typeface="DejaVu Sans Mono"/>
              </a:rPr>
              <a:t>, 11)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dirty="0" err="1">
                <a:solidFill>
                  <a:srgbClr val="F6F8FF"/>
                </a:solidFill>
                <a:latin typeface="DejaVu Sans Mono"/>
              </a:rPr>
              <a:t>median_time</a:t>
            </a:r>
            <a:r>
              <a:rPr sz="1250" b="0" dirty="0">
                <a:solidFill>
                  <a:srgbClr val="F6F8FF"/>
                </a:solidFill>
                <a:latin typeface="DejaVu Sans Mono"/>
              </a:rPr>
              <a:t> = (</a:t>
            </a:r>
            <a:r>
              <a:rPr sz="1250" b="0" dirty="0" err="1">
                <a:solidFill>
                  <a:srgbClr val="F6F8FF"/>
                </a:solidFill>
                <a:latin typeface="DejaVu Sans Mono"/>
              </a:rPr>
              <a:t>time.perf_counter</a:t>
            </a:r>
            <a:r>
              <a:rPr sz="1250" b="0" dirty="0">
                <a:solidFill>
                  <a:srgbClr val="F6F8FF"/>
                </a:solidFill>
                <a:latin typeface="DejaVu Sans Mono"/>
              </a:rPr>
              <a:t>() - start) / 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50" b="0" dirty="0">
              <a:solidFill>
                <a:srgbClr val="F6F8FF"/>
              </a:solidFill>
              <a:latin typeface="DejaVu Sans Mon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F6F8FF"/>
                </a:solidFill>
                <a:latin typeface="DejaVu Sans Mono"/>
              </a:rPr>
              <a:t>print(</a:t>
            </a:r>
            <a:r>
              <a:rPr sz="1250" b="0" dirty="0" err="1">
                <a:solidFill>
                  <a:srgbClr val="F6F8FF"/>
                </a:solidFill>
                <a:latin typeface="DejaVu Sans Mono"/>
              </a:rPr>
              <a:t>f"Усредняющий</a:t>
            </a:r>
            <a:r>
              <a:rPr sz="1250" b="0" dirty="0">
                <a:solidFill>
                  <a:srgbClr val="F6F8FF"/>
                </a:solidFill>
                <a:latin typeface="DejaVu Sans Mono"/>
              </a:rPr>
              <a:t>: {</a:t>
            </a:r>
            <a:r>
              <a:rPr sz="1250" b="0" dirty="0" err="1">
                <a:solidFill>
                  <a:srgbClr val="F6F8FF"/>
                </a:solidFill>
                <a:latin typeface="DejaVu Sans Mono"/>
              </a:rPr>
              <a:t>mean_time</a:t>
            </a:r>
            <a:r>
              <a:rPr sz="1250" b="0" dirty="0">
                <a:solidFill>
                  <a:srgbClr val="F6F8FF"/>
                </a:solidFill>
                <a:latin typeface="DejaVu Sans Mono"/>
              </a:rPr>
              <a:t>*1000:.3f} </a:t>
            </a:r>
            <a:r>
              <a:rPr sz="1250" b="0" dirty="0" err="1">
                <a:solidFill>
                  <a:srgbClr val="F6F8FF"/>
                </a:solidFill>
                <a:latin typeface="DejaVu Sans Mono"/>
              </a:rPr>
              <a:t>мс</a:t>
            </a:r>
            <a:r>
              <a:rPr sz="1250" b="0" dirty="0">
                <a:solidFill>
                  <a:srgbClr val="F6F8FF"/>
                </a:solidFill>
                <a:latin typeface="DejaVu Sans Mono"/>
              </a:rPr>
              <a:t>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dirty="0">
                <a:solidFill>
                  <a:srgbClr val="F6F8FF"/>
                </a:solidFill>
                <a:latin typeface="DejaVu Sans Mono"/>
              </a:rPr>
              <a:t>print(</a:t>
            </a:r>
            <a:r>
              <a:rPr sz="1250" b="0" dirty="0" err="1">
                <a:solidFill>
                  <a:srgbClr val="F6F8FF"/>
                </a:solidFill>
                <a:latin typeface="DejaVu Sans Mono"/>
              </a:rPr>
              <a:t>f"Медианный</a:t>
            </a:r>
            <a:r>
              <a:rPr sz="1250" b="0" dirty="0">
                <a:solidFill>
                  <a:srgbClr val="F6F8FF"/>
                </a:solidFill>
                <a:latin typeface="DejaVu Sans Mono"/>
              </a:rPr>
              <a:t>: {</a:t>
            </a:r>
            <a:r>
              <a:rPr sz="1250" b="0" dirty="0" err="1">
                <a:solidFill>
                  <a:srgbClr val="F6F8FF"/>
                </a:solidFill>
                <a:latin typeface="DejaVu Sans Mono"/>
              </a:rPr>
              <a:t>median_time</a:t>
            </a:r>
            <a:r>
              <a:rPr sz="1250" b="0" dirty="0">
                <a:solidFill>
                  <a:srgbClr val="F6F8FF"/>
                </a:solidFill>
                <a:latin typeface="DejaVu Sans Mono"/>
              </a:rPr>
              <a:t>*1000:.3f} </a:t>
            </a:r>
            <a:r>
              <a:rPr sz="1250" b="0" dirty="0" err="1">
                <a:solidFill>
                  <a:srgbClr val="F6F8FF"/>
                </a:solidFill>
                <a:latin typeface="DejaVu Sans Mono"/>
              </a:rPr>
              <a:t>мс</a:t>
            </a:r>
            <a:r>
              <a:rPr sz="1250" b="0" dirty="0">
                <a:solidFill>
                  <a:srgbClr val="F6F8FF"/>
                </a:solidFill>
                <a:latin typeface="DejaVu Sans Mono"/>
              </a:rPr>
              <a:t>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764792"/>
            <a:ext cx="3300984" cy="4434840"/>
          </a:xfrm>
          <a:prstGeom prst="roundRect">
            <a:avLst>
              <a:gd name="adj" fmla="val 16000"/>
            </a:avLst>
          </a:prstGeom>
          <a:solidFill>
            <a:srgbClr val="172035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2066543"/>
            <a:ext cx="2816352" cy="429768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6F8FF"/>
                </a:solidFill>
                <a:latin typeface="Inter"/>
              </a:rPr>
              <a:t>Параметры замера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2743200"/>
            <a:ext cx="1508760" cy="3657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9B5CF"/>
                </a:solidFill>
                <a:latin typeface="Inter"/>
              </a:rPr>
              <a:t>Окно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66376" y="2743200"/>
            <a:ext cx="1417320" cy="3657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7DCCE"/>
                </a:solidFill>
                <a:latin typeface="Inter"/>
              </a:rPr>
              <a:t>11 × 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3447288"/>
            <a:ext cx="1508760" cy="3657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9B5CF"/>
                </a:solidFill>
                <a:latin typeface="Inter"/>
              </a:rPr>
              <a:t>Повторений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66376" y="3447288"/>
            <a:ext cx="1417320" cy="3657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7DCCE"/>
                </a:solidFill>
                <a:latin typeface="Inter"/>
              </a:rP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4151376"/>
            <a:ext cx="1508760" cy="3657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9B5CF"/>
                </a:solidFill>
                <a:latin typeface="Inter"/>
              </a:rPr>
              <a:t>Прогрев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66376" y="4151376"/>
            <a:ext cx="1417320" cy="3657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297FB"/>
                </a:solidFill>
                <a:latin typeface="Inter"/>
              </a:rPr>
              <a:t>Есть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6" y="4855464"/>
            <a:ext cx="1508760" cy="3657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9B5CF"/>
                </a:solidFill>
                <a:latin typeface="Inter"/>
              </a:rPr>
              <a:t>Метрика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66376" y="4855464"/>
            <a:ext cx="1417320" cy="3657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297FB"/>
                </a:solidFill>
                <a:latin typeface="Inter"/>
              </a:rPr>
              <a:t>Среднее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6181344"/>
            <a:ext cx="10881360" cy="3566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9B5CF"/>
                </a:solidFill>
                <a:latin typeface="Inter"/>
              </a:rPr>
              <a:t>Измеряется время одного вызова фильтра; время работы системы влияет на результат.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29AFF"/>
                </a:solidFill>
                <a:latin typeface="Inter"/>
              </a:rPr>
              <a:t>ЗАДАНИЕ 4 / ИЗМЕРЕНИЯ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7F7FD"/>
                </a:solidFill>
                <a:latin typeface="Inter Display"/>
              </a:rPr>
              <a:t>Сравнение быстродействия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A3B0CC"/>
                </a:solidFill>
                <a:latin typeface="Inter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55648"/>
            <a:ext cx="6684264" cy="4315968"/>
          </a:xfrm>
          <a:prstGeom prst="roundRect">
            <a:avLst>
              <a:gd name="adj" fmla="val 16000"/>
            </a:avLst>
          </a:prstGeom>
          <a:solidFill>
            <a:srgbClr val="172035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" y="1984248"/>
            <a:ext cx="6144768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6F8FF"/>
                </a:solidFill>
                <a:latin typeface="Inter"/>
              </a:rPr>
              <a:t>Среднее время обработки кадра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98064"/>
            <a:ext cx="1938528" cy="3657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F6F8FF"/>
                </a:solidFill>
                <a:latin typeface="Inter"/>
              </a:rPr>
              <a:t>Усредняющий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53512" y="2834640"/>
            <a:ext cx="64554" cy="283464"/>
          </a:xfrm>
          <a:prstGeom prst="roundRect">
            <a:avLst>
              <a:gd name="adj" fmla="val 10000"/>
            </a:avLst>
          </a:prstGeom>
          <a:solidFill>
            <a:srgbClr val="67DCCE"/>
          </a:solidFill>
          <a:ln w="8255">
            <a:solidFill>
              <a:srgbClr val="67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90088" y="3236976"/>
            <a:ext cx="3410712" cy="420624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7DCCE"/>
                </a:solidFill>
                <a:latin typeface="Inter"/>
              </a:rPr>
              <a:t>0,669 мс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49624"/>
            <a:ext cx="1938528" cy="3657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F6F8FF"/>
                </a:solidFill>
                <a:latin typeface="Inter"/>
              </a:rPr>
              <a:t>Медианный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53512" y="3886200"/>
            <a:ext cx="3611880" cy="283464"/>
          </a:xfrm>
          <a:prstGeom prst="roundRect">
            <a:avLst>
              <a:gd name="adj" fmla="val 10000"/>
            </a:avLst>
          </a:prstGeom>
          <a:solidFill>
            <a:srgbClr val="B297FB"/>
          </a:solidFill>
          <a:ln w="8255">
            <a:solidFill>
              <a:srgbClr val="B29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90088" y="4288536"/>
            <a:ext cx="3410712" cy="420624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297FB"/>
                </a:solidFill>
                <a:latin typeface="Inter"/>
              </a:rPr>
              <a:t>37,431 мс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5102352"/>
            <a:ext cx="6053328" cy="5943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20" b="0">
                <a:solidFill>
                  <a:srgbClr val="A9B5CF"/>
                </a:solidFill>
                <a:latin typeface="Inter"/>
              </a:rPr>
              <a:t>Усредняющий фильтр в этом измерении был примерно в 56 раз быстрее.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1755648"/>
            <a:ext cx="1874519" cy="4315968"/>
          </a:xfrm>
          <a:prstGeom prst="roundRect">
            <a:avLst>
              <a:gd name="adj" fmla="val 16000"/>
            </a:avLst>
          </a:prstGeom>
          <a:solidFill>
            <a:srgbClr val="172035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99248" y="1947672"/>
            <a:ext cx="54864" cy="256032"/>
          </a:xfrm>
          <a:prstGeom prst="rect">
            <a:avLst/>
          </a:prstGeom>
          <a:solidFill>
            <a:srgbClr val="67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27264" y="1892807"/>
            <a:ext cx="1508760" cy="5852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6F8FF"/>
                </a:solidFill>
                <a:latin typeface="Inter"/>
              </a:rPr>
              <a:t>Среднее · 11×11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2108" y="2775203"/>
            <a:ext cx="1499616" cy="2231136"/>
          </a:xfrm>
          <a:prstGeom prst="rect">
            <a:avLst/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me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112" y="2807208"/>
            <a:ext cx="1435608" cy="2167128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601200" y="1755648"/>
            <a:ext cx="1874519" cy="4315968"/>
          </a:xfrm>
          <a:prstGeom prst="roundRect">
            <a:avLst>
              <a:gd name="adj" fmla="val 16000"/>
            </a:avLst>
          </a:prstGeom>
          <a:solidFill>
            <a:srgbClr val="172035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756648" y="1947672"/>
            <a:ext cx="54864" cy="256032"/>
          </a:xfrm>
          <a:prstGeom prst="rect">
            <a:avLst/>
          </a:prstGeom>
          <a:solidFill>
            <a:srgbClr val="B29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84664" y="1892807"/>
            <a:ext cx="1508760" cy="5852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6F8FF"/>
                </a:solidFill>
                <a:latin typeface="Inter"/>
              </a:rPr>
              <a:t>Медиана · 11×11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79508" y="2775203"/>
            <a:ext cx="1499616" cy="2231136"/>
          </a:xfrm>
          <a:prstGeom prst="rect">
            <a:avLst/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median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2" y="2807208"/>
            <a:ext cx="1435608" cy="21671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04088" y="6108192"/>
            <a:ext cx="10881360" cy="3566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A9B5CF"/>
                </a:solidFill>
                <a:latin typeface="Inter"/>
              </a:rPr>
              <a:t>Результаты: 0,669 и 37,431 мс; получены в текущем запуске notebook (30 повторов).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29AFF"/>
                </a:solidFill>
                <a:latin typeface="Inter"/>
              </a:rPr>
              <a:t>ЗАДАНИЕ 5 / ТЕОРИЯ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7F7FD"/>
                </a:solidFill>
                <a:latin typeface="Inter Display"/>
              </a:rPr>
              <a:t>От пикселей к пространственным частотам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A3B0CC"/>
                </a:solidFill>
                <a:latin typeface="Inter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" y="1783080"/>
            <a:ext cx="5312664" cy="2514600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8096" y="1911095"/>
            <a:ext cx="54864" cy="2258568"/>
          </a:xfrm>
          <a:prstGeom prst="rect">
            <a:avLst/>
          </a:prstGeom>
          <a:solidFill>
            <a:srgbClr val="6BE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048256"/>
            <a:ext cx="4526280" cy="43891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BE2D3"/>
                </a:solidFill>
                <a:latin typeface="Inter"/>
              </a:rPr>
              <a:t>НИЗКИЕ ЧАСТОТЫ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06624"/>
            <a:ext cx="4553712" cy="1014984"/>
          </a:xfrm>
          <a:prstGeom prst="rect">
            <a:avLst/>
          </a:prstGeom>
          <a:noFill/>
        </p:spPr>
        <p:txBody>
          <a:bodyPr wrap="square" lIns="9144" tIns="9144" r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3B0CC"/>
                </a:solidFill>
                <a:latin typeface="Inter"/>
              </a:rPr>
              <a:t>Плавные изменения яркости, общая структура и большие однородные области.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1783080"/>
            <a:ext cx="5312664" cy="2514600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1072" y="1911095"/>
            <a:ext cx="54864" cy="2258568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2048256"/>
            <a:ext cx="4526280" cy="43891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29AFF"/>
                </a:solidFill>
                <a:latin typeface="Inter"/>
              </a:rPr>
              <a:t>ВЫСОКИЕ ЧАСТОТЫ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706624"/>
            <a:ext cx="4535424" cy="1014984"/>
          </a:xfrm>
          <a:prstGeom prst="rect">
            <a:avLst/>
          </a:prstGeom>
          <a:noFill/>
        </p:spPr>
        <p:txBody>
          <a:bodyPr wrap="square" lIns="9144" tIns="9144" rIns="9144" bIns="9144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A3B0CC"/>
                </a:solidFill>
                <a:latin typeface="Inter"/>
              </a:rPr>
              <a:t>Границы объектов, тонкие детали, текстура, а также часть шума.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26864"/>
            <a:ext cx="10826496" cy="1078992"/>
          </a:xfrm>
          <a:prstGeom prst="roundRect">
            <a:avLst>
              <a:gd name="adj" fmla="val 9000"/>
            </a:avLst>
          </a:prstGeom>
          <a:solidFill>
            <a:srgbClr val="202E4D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6696" y="4846320"/>
            <a:ext cx="10122408" cy="457200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7F7FD"/>
                </a:solidFill>
                <a:latin typeface="DejaVu Sans"/>
              </a:rPr>
              <a:t>H(u, v) = 1 − exp( −D(u, v)² / (2D₀²) 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25896"/>
            <a:ext cx="10881360" cy="39319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3B0CC"/>
                </a:solidFill>
                <a:latin typeface="Inter"/>
              </a:rPr>
              <a:t>Гауссов ВЧ-фильтр плавно ослабляет низкие частоты и пропускает более высокие.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29AFF"/>
                </a:solidFill>
                <a:latin typeface="Inter"/>
              </a:rPr>
              <a:t>ЗАДАНИЕ 5 / РЕАЛИЗАЦИЯ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2900" b="1">
                <a:solidFill>
                  <a:srgbClr val="F6F8FF"/>
                </a:solidFill>
                <a:latin typeface="Inter Display"/>
              </a:rPr>
              <a:t>Три значения D₀ и соответствующие маски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A3B0CC"/>
                </a:solidFill>
                <a:latin typeface="Inter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719" y="1719072"/>
            <a:ext cx="4681728" cy="4544568"/>
          </a:xfrm>
          <a:prstGeom prst="roundRect">
            <a:avLst>
              <a:gd name="adj" fmla="val 16000"/>
            </a:avLst>
          </a:prstGeom>
          <a:solidFill>
            <a:srgbClr val="0C1120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95528" y="1874519"/>
            <a:ext cx="91440" cy="91440"/>
          </a:xfrm>
          <a:prstGeom prst="ellipse">
            <a:avLst/>
          </a:prstGeom>
          <a:solidFill>
            <a:srgbClr val="67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69264" y="1874519"/>
            <a:ext cx="91440" cy="91440"/>
          </a:xfrm>
          <a:prstGeom prst="ellipse">
            <a:avLst/>
          </a:prstGeom>
          <a:solidFill>
            <a:srgbClr val="B29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43000" y="1874519"/>
            <a:ext cx="91440" cy="91440"/>
          </a:xfrm>
          <a:prstGeom prst="ellipse">
            <a:avLst/>
          </a:prstGeom>
          <a:solidFill>
            <a:srgbClr val="F4B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2130552"/>
            <a:ext cx="3986784" cy="3105466"/>
          </a:xfrm>
          <a:prstGeom prst="rect">
            <a:avLst/>
          </a:prstGeom>
          <a:noFill/>
        </p:spPr>
        <p:txBody>
          <a:bodyPr wrap="square" lIns="13716" tIns="13716" rIns="13716" bIns="13716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F6F8FF"/>
                </a:solidFill>
                <a:latin typeface="DejaVu Sans Mono"/>
              </a:rPr>
              <a:t>d0_values = [10, 30, 60]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F6F8FF"/>
                </a:solidFill>
                <a:latin typeface="DejaVu Sans Mono"/>
              </a:rPr>
              <a:t>rows, cols = </a:t>
            </a:r>
            <a:r>
              <a:rPr sz="1250" dirty="0" err="1">
                <a:solidFill>
                  <a:srgbClr val="F6F8FF"/>
                </a:solidFill>
                <a:latin typeface="DejaVu Sans Mono"/>
              </a:rPr>
              <a:t>img.shape</a:t>
            </a:r>
            <a:endParaRPr sz="1250" dirty="0">
              <a:solidFill>
                <a:srgbClr val="F6F8FF"/>
              </a:solidFill>
              <a:latin typeface="DejaVu Sans Mon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F6F8FF"/>
                </a:solidFill>
                <a:latin typeface="DejaVu Sans Mono"/>
              </a:rPr>
              <a:t>y, x = </a:t>
            </a:r>
            <a:r>
              <a:rPr sz="1250" dirty="0" err="1">
                <a:solidFill>
                  <a:srgbClr val="F6F8FF"/>
                </a:solidFill>
                <a:latin typeface="DejaVu Sans Mono"/>
              </a:rPr>
              <a:t>np.ogrid</a:t>
            </a:r>
            <a:r>
              <a:rPr sz="1250" dirty="0">
                <a:solidFill>
                  <a:srgbClr val="F6F8FF"/>
                </a:solidFill>
                <a:latin typeface="DejaVu Sans Mono"/>
              </a:rPr>
              <a:t>[:rows, :cols]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F6F8FF"/>
                </a:solidFill>
                <a:latin typeface="DejaVu Sans Mono"/>
              </a:rPr>
              <a:t>D2 = (x - cols//2)**2 + (y - rows//2)**2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50" dirty="0">
              <a:solidFill>
                <a:srgbClr val="F6F8FF"/>
              </a:solidFill>
              <a:latin typeface="DejaVu Sans Mon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F6F8FF"/>
                </a:solidFill>
                <a:latin typeface="DejaVu Sans Mono"/>
              </a:rPr>
              <a:t>f = np.fft.fft2(</a:t>
            </a:r>
            <a:r>
              <a:rPr sz="1250" dirty="0" err="1">
                <a:solidFill>
                  <a:srgbClr val="F6F8FF"/>
                </a:solidFill>
                <a:latin typeface="DejaVu Sans Mono"/>
              </a:rPr>
              <a:t>img</a:t>
            </a:r>
            <a:r>
              <a:rPr sz="1250" dirty="0">
                <a:solidFill>
                  <a:srgbClr val="F6F8FF"/>
                </a:solidFill>
                <a:latin typeface="DejaVu Sans Mono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dirty="0" err="1">
                <a:solidFill>
                  <a:srgbClr val="F6F8FF"/>
                </a:solidFill>
                <a:latin typeface="DejaVu Sans Mono"/>
              </a:rPr>
              <a:t>fshift</a:t>
            </a:r>
            <a:r>
              <a:rPr sz="1250" dirty="0">
                <a:solidFill>
                  <a:srgbClr val="F6F8FF"/>
                </a:solidFill>
                <a:latin typeface="DejaVu Sans Mono"/>
              </a:rPr>
              <a:t> = </a:t>
            </a:r>
            <a:r>
              <a:rPr sz="1250" dirty="0" err="1">
                <a:solidFill>
                  <a:srgbClr val="F6F8FF"/>
                </a:solidFill>
                <a:latin typeface="DejaVu Sans Mono"/>
              </a:rPr>
              <a:t>np.fft.fftshift</a:t>
            </a:r>
            <a:r>
              <a:rPr sz="1250" dirty="0">
                <a:solidFill>
                  <a:srgbClr val="F6F8FF"/>
                </a:solidFill>
                <a:latin typeface="DejaVu Sans Mono"/>
              </a:rPr>
              <a:t>(f)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250" dirty="0">
              <a:solidFill>
                <a:srgbClr val="F6F8FF"/>
              </a:solidFill>
              <a:latin typeface="DejaVu Sans Mon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F6F8FF"/>
                </a:solidFill>
                <a:latin typeface="DejaVu Sans Mono"/>
              </a:rPr>
              <a:t>for i, D0 in enumerate(d0_values):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F6F8FF"/>
                </a:solidFill>
                <a:latin typeface="DejaVu Sans Mono"/>
              </a:rPr>
              <a:t>    mask = 1 - </a:t>
            </a:r>
            <a:r>
              <a:rPr sz="1250" dirty="0" err="1">
                <a:solidFill>
                  <a:srgbClr val="F6F8FF"/>
                </a:solidFill>
                <a:latin typeface="DejaVu Sans Mono"/>
              </a:rPr>
              <a:t>np.exp</a:t>
            </a:r>
            <a:r>
              <a:rPr sz="1250" dirty="0">
                <a:solidFill>
                  <a:srgbClr val="F6F8FF"/>
                </a:solidFill>
                <a:latin typeface="DejaVu Sans Mono"/>
              </a:rPr>
              <a:t>(-D2 / (2 * D0**2))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F6F8FF"/>
                </a:solidFill>
                <a:latin typeface="DejaVu Sans Mono"/>
              </a:rPr>
              <a:t>    </a:t>
            </a:r>
            <a:r>
              <a:rPr sz="1250" dirty="0" err="1">
                <a:solidFill>
                  <a:srgbClr val="F6F8FF"/>
                </a:solidFill>
                <a:latin typeface="DejaVu Sans Mono"/>
              </a:rPr>
              <a:t>fshift_filtered</a:t>
            </a:r>
            <a:r>
              <a:rPr sz="1250" dirty="0">
                <a:solidFill>
                  <a:srgbClr val="F6F8FF"/>
                </a:solidFill>
                <a:latin typeface="DejaVu Sans Mono"/>
              </a:rPr>
              <a:t> = </a:t>
            </a:r>
            <a:r>
              <a:rPr sz="1250" dirty="0" err="1">
                <a:solidFill>
                  <a:srgbClr val="F6F8FF"/>
                </a:solidFill>
                <a:latin typeface="DejaVu Sans Mono"/>
              </a:rPr>
              <a:t>fshift</a:t>
            </a:r>
            <a:r>
              <a:rPr sz="1250" dirty="0">
                <a:solidFill>
                  <a:srgbClr val="F6F8FF"/>
                </a:solidFill>
                <a:latin typeface="DejaVu Sans Mono"/>
              </a:rPr>
              <a:t> * mask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F6F8FF"/>
                </a:solidFill>
                <a:latin typeface="DejaVu Sans Mono"/>
              </a:rPr>
              <a:t>    </a:t>
            </a:r>
            <a:r>
              <a:rPr sz="1250" dirty="0" err="1">
                <a:solidFill>
                  <a:srgbClr val="F6F8FF"/>
                </a:solidFill>
                <a:latin typeface="DejaVu Sans Mono"/>
              </a:rPr>
              <a:t>f_ishift</a:t>
            </a:r>
            <a:r>
              <a:rPr sz="1250" dirty="0">
                <a:solidFill>
                  <a:srgbClr val="F6F8FF"/>
                </a:solidFill>
                <a:latin typeface="DejaVu Sans Mono"/>
              </a:rPr>
              <a:t> = </a:t>
            </a:r>
            <a:r>
              <a:rPr sz="1250" dirty="0" err="1">
                <a:solidFill>
                  <a:srgbClr val="F6F8FF"/>
                </a:solidFill>
                <a:latin typeface="DejaVu Sans Mono"/>
              </a:rPr>
              <a:t>np.fft.ifftshift</a:t>
            </a:r>
            <a:r>
              <a:rPr sz="1250" dirty="0">
                <a:solidFill>
                  <a:srgbClr val="F6F8FF"/>
                </a:solidFill>
                <a:latin typeface="DejaVu Sans Mono"/>
              </a:rPr>
              <a:t>(</a:t>
            </a:r>
            <a:r>
              <a:rPr sz="1250" dirty="0" err="1">
                <a:solidFill>
                  <a:srgbClr val="F6F8FF"/>
                </a:solidFill>
                <a:latin typeface="DejaVu Sans Mono"/>
              </a:rPr>
              <a:t>fshift_filtered</a:t>
            </a:r>
            <a:r>
              <a:rPr sz="1250" dirty="0">
                <a:solidFill>
                  <a:srgbClr val="F6F8FF"/>
                </a:solidFill>
                <a:latin typeface="DejaVu Sans Mono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F6F8FF"/>
                </a:solidFill>
                <a:latin typeface="DejaVu Sans Mono"/>
              </a:rPr>
              <a:t>    </a:t>
            </a:r>
            <a:r>
              <a:rPr sz="1250" dirty="0" err="1">
                <a:solidFill>
                  <a:srgbClr val="F6F8FF"/>
                </a:solidFill>
                <a:latin typeface="DejaVu Sans Mono"/>
              </a:rPr>
              <a:t>img_back</a:t>
            </a:r>
            <a:r>
              <a:rPr sz="1250" dirty="0">
                <a:solidFill>
                  <a:srgbClr val="F6F8FF"/>
                </a:solidFill>
                <a:latin typeface="DejaVu Sans Mono"/>
              </a:rPr>
              <a:t> = np.fft.ifft2(</a:t>
            </a:r>
            <a:r>
              <a:rPr sz="1250" dirty="0" err="1">
                <a:solidFill>
                  <a:srgbClr val="F6F8FF"/>
                </a:solidFill>
                <a:latin typeface="DejaVu Sans Mono"/>
              </a:rPr>
              <a:t>f_ishift</a:t>
            </a:r>
            <a:r>
              <a:rPr sz="1250" dirty="0">
                <a:solidFill>
                  <a:srgbClr val="F6F8FF"/>
                </a:solidFill>
                <a:latin typeface="DejaVu Sans Mono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F6F8FF"/>
                </a:solidFill>
                <a:latin typeface="DejaVu Sans Mono"/>
              </a:rPr>
              <a:t>    result = cv2.normalize(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F6F8FF"/>
                </a:solidFill>
                <a:latin typeface="DejaVu Sans Mono"/>
              </a:rPr>
              <a:t>        </a:t>
            </a:r>
            <a:r>
              <a:rPr sz="1250" dirty="0" err="1">
                <a:solidFill>
                  <a:srgbClr val="F6F8FF"/>
                </a:solidFill>
                <a:latin typeface="DejaVu Sans Mono"/>
              </a:rPr>
              <a:t>np.abs</a:t>
            </a:r>
            <a:r>
              <a:rPr sz="1250" dirty="0">
                <a:solidFill>
                  <a:srgbClr val="F6F8FF"/>
                </a:solidFill>
                <a:latin typeface="DejaVu Sans Mono"/>
              </a:rPr>
              <a:t>(</a:t>
            </a:r>
            <a:r>
              <a:rPr sz="1250" dirty="0" err="1">
                <a:solidFill>
                  <a:srgbClr val="F6F8FF"/>
                </a:solidFill>
                <a:latin typeface="DejaVu Sans Mono"/>
              </a:rPr>
              <a:t>img_back</a:t>
            </a:r>
            <a:r>
              <a:rPr sz="1250" dirty="0">
                <a:solidFill>
                  <a:srgbClr val="F6F8FF"/>
                </a:solidFill>
                <a:latin typeface="DejaVu Sans Mono"/>
              </a:rPr>
              <a:t>), None, 0, 255,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F6F8FF"/>
                </a:solidFill>
                <a:latin typeface="DejaVu Sans Mono"/>
              </a:rPr>
              <a:t>        cv2.NORM_MINMAX).</a:t>
            </a:r>
            <a:r>
              <a:rPr sz="1250" dirty="0" err="1">
                <a:solidFill>
                  <a:srgbClr val="F6F8FF"/>
                </a:solidFill>
                <a:latin typeface="DejaVu Sans Mono"/>
              </a:rPr>
              <a:t>astype</a:t>
            </a:r>
            <a:r>
              <a:rPr sz="1250" dirty="0">
                <a:solidFill>
                  <a:srgbClr val="F6F8FF"/>
                </a:solidFill>
                <a:latin typeface="DejaVu Sans Mono"/>
              </a:rPr>
              <a:t>(np.uint8</a:t>
            </a:r>
            <a:r>
              <a:rPr sz="1250" dirty="0" smtClean="0">
                <a:solidFill>
                  <a:srgbClr val="F6F8FF"/>
                </a:solidFill>
                <a:latin typeface="DejaVu Sans Mono"/>
              </a:rPr>
              <a:t>)</a:t>
            </a:r>
            <a:endParaRPr sz="1250" dirty="0">
              <a:solidFill>
                <a:srgbClr val="F6F8FF"/>
              </a:solidFill>
              <a:latin typeface="DejaVu Sans Mono"/>
            </a:endParaRPr>
          </a:p>
        </p:txBody>
      </p:sp>
      <p:pic>
        <p:nvPicPr>
          <p:cNvPr id="14" name="Picture 22" descr="mask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185" y="1906523"/>
            <a:ext cx="2779777" cy="41696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29AFF"/>
                </a:solidFill>
                <a:latin typeface="Inter"/>
              </a:rPr>
              <a:t>ЗАДАНИЕ 5 / ФИЛЬТР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2900" b="1">
                <a:solidFill>
                  <a:srgbClr val="F6F8FF"/>
                </a:solidFill>
                <a:latin typeface="Inter Display"/>
              </a:rPr>
              <a:t>Маски при D₀ = 10, 30 и 60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A3B0CC"/>
                </a:solidFill>
                <a:latin typeface="Inter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64792"/>
            <a:ext cx="3602736" cy="4224528"/>
          </a:xfrm>
          <a:prstGeom prst="roundRect">
            <a:avLst>
              <a:gd name="adj" fmla="val 16000"/>
            </a:avLst>
          </a:prstGeom>
          <a:solidFill>
            <a:srgbClr val="172035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5256" y="1984248"/>
            <a:ext cx="54864" cy="256032"/>
          </a:xfrm>
          <a:prstGeom prst="rect">
            <a:avLst/>
          </a:prstGeom>
          <a:solidFill>
            <a:srgbClr val="67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1901952"/>
            <a:ext cx="3090672" cy="466344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F6F8FF"/>
                </a:solidFill>
                <a:latin typeface="Inter"/>
              </a:rPr>
              <a:t>Гауссова маска · D₀ =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3916" y="2519172"/>
            <a:ext cx="1819656" cy="2697479"/>
          </a:xfrm>
          <a:prstGeom prst="rect">
            <a:avLst/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mas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551176"/>
            <a:ext cx="1755648" cy="263347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35424" y="1764792"/>
            <a:ext cx="3602736" cy="4224528"/>
          </a:xfrm>
          <a:prstGeom prst="roundRect">
            <a:avLst>
              <a:gd name="adj" fmla="val 16000"/>
            </a:avLst>
          </a:prstGeom>
          <a:solidFill>
            <a:srgbClr val="172035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27448" y="1984248"/>
            <a:ext cx="54864" cy="256032"/>
          </a:xfrm>
          <a:prstGeom prst="rect">
            <a:avLst/>
          </a:prstGeom>
          <a:solidFill>
            <a:srgbClr val="B29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92040" y="1901952"/>
            <a:ext cx="3090672" cy="466344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F6F8FF"/>
                </a:solidFill>
                <a:latin typeface="Inter"/>
              </a:rPr>
              <a:t>Гауссова маска · D₀ = 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36108" y="2519172"/>
            <a:ext cx="1819656" cy="2697479"/>
          </a:xfrm>
          <a:prstGeom prst="rect">
            <a:avLst/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mask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2551176"/>
            <a:ext cx="1755648" cy="263347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357615" y="1764792"/>
            <a:ext cx="3602736" cy="4224528"/>
          </a:xfrm>
          <a:prstGeom prst="roundRect">
            <a:avLst>
              <a:gd name="adj" fmla="val 16000"/>
            </a:avLst>
          </a:prstGeom>
          <a:solidFill>
            <a:srgbClr val="172035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549640" y="1984248"/>
            <a:ext cx="54864" cy="256032"/>
          </a:xfrm>
          <a:prstGeom prst="rect">
            <a:avLst/>
          </a:prstGeom>
          <a:solidFill>
            <a:srgbClr val="B29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14232" y="1901952"/>
            <a:ext cx="3090672" cy="466344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F6F8FF"/>
                </a:solidFill>
                <a:latin typeface="Inter"/>
              </a:rPr>
              <a:t>Гауссова маска · D₀ = 60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58299" y="2519172"/>
            <a:ext cx="1819656" cy="2697479"/>
          </a:xfrm>
          <a:prstGeom prst="rect">
            <a:avLst/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mask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3" y="2551176"/>
            <a:ext cx="1755648" cy="2633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4088" y="6117336"/>
            <a:ext cx="10881360" cy="3566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A9B5CF"/>
                </a:solidFill>
                <a:latin typeface="Inter"/>
              </a:rPr>
              <a:t>С ростом D₀ расширяется тёмная центральная область: подавляется больше низких и средних частот.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29AFF"/>
                </a:solidFill>
                <a:latin typeface="Inter"/>
              </a:rPr>
              <a:t>ЗАДАНИЕ 5 / РЕЗУЛЬТАТ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2900" b="1">
                <a:solidFill>
                  <a:srgbClr val="F6F8FF"/>
                </a:solidFill>
                <a:latin typeface="Inter Display"/>
              </a:rPr>
              <a:t>Исходное, маска и результат при D₀ = 30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A3B0CC"/>
                </a:solidFill>
                <a:latin typeface="Inter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64792"/>
            <a:ext cx="3602736" cy="4233672"/>
          </a:xfrm>
          <a:prstGeom prst="roundRect">
            <a:avLst>
              <a:gd name="adj" fmla="val 16000"/>
            </a:avLst>
          </a:prstGeom>
          <a:solidFill>
            <a:srgbClr val="172035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32688" y="1956816"/>
            <a:ext cx="54864" cy="256032"/>
          </a:xfrm>
          <a:prstGeom prst="rect">
            <a:avLst/>
          </a:prstGeom>
          <a:solidFill>
            <a:srgbClr val="67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6424" y="1901952"/>
            <a:ext cx="3099816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6F8FF"/>
                </a:solidFill>
                <a:latin typeface="Inter"/>
              </a:rPr>
              <a:t>Исходное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32204" y="2427732"/>
            <a:ext cx="1819656" cy="2706624"/>
          </a:xfrm>
          <a:prstGeom prst="rect">
            <a:avLst/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hpf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208" y="2459736"/>
            <a:ext cx="1755648" cy="264261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53712" y="1764792"/>
            <a:ext cx="3602736" cy="4233672"/>
          </a:xfrm>
          <a:prstGeom prst="roundRect">
            <a:avLst>
              <a:gd name="adj" fmla="val 16000"/>
            </a:avLst>
          </a:prstGeom>
          <a:solidFill>
            <a:srgbClr val="172035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4879" y="1956816"/>
            <a:ext cx="54864" cy="256032"/>
          </a:xfrm>
          <a:prstGeom prst="rect">
            <a:avLst/>
          </a:prstGeom>
          <a:solidFill>
            <a:srgbClr val="B29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28616" y="1901952"/>
            <a:ext cx="3099816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6F8FF"/>
                </a:solidFill>
                <a:latin typeface="Inter"/>
              </a:rPr>
              <a:t>Маска · D₀ = 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54396" y="2427732"/>
            <a:ext cx="1819656" cy="2706624"/>
          </a:xfrm>
          <a:prstGeom prst="rect">
            <a:avLst/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mask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459736"/>
            <a:ext cx="1755648" cy="264261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375904" y="1764792"/>
            <a:ext cx="3602736" cy="4233672"/>
          </a:xfrm>
          <a:prstGeom prst="roundRect">
            <a:avLst>
              <a:gd name="adj" fmla="val 16000"/>
            </a:avLst>
          </a:prstGeom>
          <a:solidFill>
            <a:srgbClr val="172035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577072" y="1956816"/>
            <a:ext cx="54864" cy="256032"/>
          </a:xfrm>
          <a:prstGeom prst="rect">
            <a:avLst/>
          </a:prstGeom>
          <a:solidFill>
            <a:srgbClr val="B29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50808" y="1901952"/>
            <a:ext cx="3099816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6F8FF"/>
                </a:solidFill>
                <a:latin typeface="Inter"/>
              </a:rPr>
              <a:t>Результат · D₀ = 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76588" y="2427732"/>
            <a:ext cx="1819656" cy="2706624"/>
          </a:xfrm>
          <a:prstGeom prst="rect">
            <a:avLst/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hpf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2459736"/>
            <a:ext cx="1755648" cy="26426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4088" y="6099048"/>
            <a:ext cx="10881360" cy="3566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A9B5CF"/>
                </a:solidFill>
                <a:latin typeface="Inter"/>
              </a:rPr>
              <a:t>Тёмный центр маски подавляет плавные изменения яркости, выделяя контуры и текстуры.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29AFF"/>
                </a:solidFill>
                <a:latin typeface="Inter"/>
              </a:rPr>
              <a:t>ЗАДАНИЕ 5 / ПАРАМЕТРЫ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2900" b="1">
                <a:solidFill>
                  <a:srgbClr val="F6F8FF"/>
                </a:solidFill>
                <a:latin typeface="Inter Display"/>
              </a:rPr>
              <a:t>Сравнение результатов при трёх D₀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A3B0CC"/>
                </a:solidFill>
                <a:latin typeface="Inter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64792"/>
            <a:ext cx="3602736" cy="4242816"/>
          </a:xfrm>
          <a:prstGeom prst="roundRect">
            <a:avLst>
              <a:gd name="adj" fmla="val 16000"/>
            </a:avLst>
          </a:prstGeom>
          <a:solidFill>
            <a:srgbClr val="172035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32688" y="1956816"/>
            <a:ext cx="54864" cy="256032"/>
          </a:xfrm>
          <a:prstGeom prst="rect">
            <a:avLst/>
          </a:prstGeom>
          <a:solidFill>
            <a:srgbClr val="67D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6424" y="1901952"/>
            <a:ext cx="3054096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6F8FF"/>
                </a:solidFill>
                <a:latin typeface="Inter"/>
              </a:rPr>
              <a:t>Результат · D₀ =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32204" y="2436876"/>
            <a:ext cx="1819656" cy="2706624"/>
          </a:xfrm>
          <a:prstGeom prst="rect">
            <a:avLst/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hpf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208" y="2468880"/>
            <a:ext cx="1755648" cy="264261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53712" y="1764792"/>
            <a:ext cx="3602736" cy="4242816"/>
          </a:xfrm>
          <a:prstGeom prst="roundRect">
            <a:avLst>
              <a:gd name="adj" fmla="val 16000"/>
            </a:avLst>
          </a:prstGeom>
          <a:solidFill>
            <a:srgbClr val="172035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4879" y="1956816"/>
            <a:ext cx="54864" cy="256032"/>
          </a:xfrm>
          <a:prstGeom prst="rect">
            <a:avLst/>
          </a:prstGeom>
          <a:solidFill>
            <a:srgbClr val="B29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28616" y="1901952"/>
            <a:ext cx="3054096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6F8FF"/>
                </a:solidFill>
                <a:latin typeface="Inter"/>
              </a:rPr>
              <a:t>Результат · D₀ = 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54396" y="2436876"/>
            <a:ext cx="1819656" cy="2706624"/>
          </a:xfrm>
          <a:prstGeom prst="rect">
            <a:avLst/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hpf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468880"/>
            <a:ext cx="1755648" cy="264261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375904" y="1764792"/>
            <a:ext cx="3602736" cy="4242816"/>
          </a:xfrm>
          <a:prstGeom prst="roundRect">
            <a:avLst>
              <a:gd name="adj" fmla="val 16000"/>
            </a:avLst>
          </a:prstGeom>
          <a:solidFill>
            <a:srgbClr val="172035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577072" y="1956816"/>
            <a:ext cx="54864" cy="256032"/>
          </a:xfrm>
          <a:prstGeom prst="rect">
            <a:avLst/>
          </a:prstGeom>
          <a:solidFill>
            <a:srgbClr val="B29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50808" y="1901952"/>
            <a:ext cx="3054096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6F8FF"/>
                </a:solidFill>
                <a:latin typeface="Inter"/>
              </a:rPr>
              <a:t>Результат · D₀ = 60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76588" y="2436876"/>
            <a:ext cx="1819656" cy="2706624"/>
          </a:xfrm>
          <a:prstGeom prst="rect">
            <a:avLst/>
          </a:prstGeom>
          <a:solidFill>
            <a:srgbClr val="1D273E"/>
          </a:solidFill>
          <a:ln w="8255">
            <a:solidFill>
              <a:srgbClr val="31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hpf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2468880"/>
            <a:ext cx="1755648" cy="26426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4088" y="6099048"/>
            <a:ext cx="10881360" cy="3566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A9B5CF"/>
                </a:solidFill>
                <a:latin typeface="Inter"/>
              </a:rPr>
              <a:t>При большем D₀ ослабляются более широкие области спектра; видимые контуры меняются.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29AFF"/>
                </a:solidFill>
                <a:latin typeface="Inter"/>
              </a:rPr>
              <a:t>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7F7FD"/>
                </a:solidFill>
                <a:latin typeface="Inter Display"/>
              </a:rPr>
              <a:t>Выводы по лабораторной работе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A3B0CC"/>
                </a:solidFill>
                <a:latin typeface="Inter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746504"/>
            <a:ext cx="10945368" cy="722376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883664"/>
            <a:ext cx="548640" cy="338328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29AFF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1874519"/>
            <a:ext cx="2148840" cy="356616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F7F7FD"/>
                </a:solidFill>
                <a:latin typeface="Inter"/>
              </a:rPr>
              <a:t>ШУМ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7056" y="1828800"/>
            <a:ext cx="7342631" cy="53035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A3B0CC"/>
                </a:solidFill>
                <a:latin typeface="Inter"/>
              </a:rPr>
              <a:t>Медианный фильтр 5×5 эффективнее гауссова устранил импульсный шум.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2600553"/>
            <a:ext cx="10945368" cy="722376"/>
          </a:xfrm>
          <a:prstGeom prst="roundRect">
            <a:avLst>
              <a:gd name="adj" fmla="val 8000"/>
            </a:avLst>
          </a:prstGeom>
          <a:solidFill>
            <a:srgbClr val="1A2742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2737713"/>
            <a:ext cx="548640" cy="338328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29AFF"/>
                </a:solidFill>
                <a:latin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2728569"/>
            <a:ext cx="2148840" cy="356616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F7F7FD"/>
                </a:solidFill>
                <a:latin typeface="Inter"/>
              </a:rPr>
              <a:t>ГРАНИЦЫ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056" y="2682849"/>
            <a:ext cx="7342631" cy="53035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1530" dirty="0" smtClean="0">
                <a:solidFill>
                  <a:srgbClr val="A3B0CC"/>
                </a:solidFill>
                <a:latin typeface="Inter"/>
              </a:rPr>
              <a:t>Оператор </a:t>
            </a:r>
            <a:r>
              <a:rPr lang="ru-RU" sz="1530" dirty="0" err="1" smtClean="0">
                <a:solidFill>
                  <a:srgbClr val="A3B0CC"/>
                </a:solidFill>
                <a:latin typeface="Inter"/>
              </a:rPr>
              <a:t>Превитта</a:t>
            </a:r>
            <a:r>
              <a:rPr lang="ru-RU" sz="1530" dirty="0" smtClean="0">
                <a:solidFill>
                  <a:srgbClr val="A3B0CC"/>
                </a:solidFill>
                <a:latin typeface="Inter"/>
              </a:rPr>
              <a:t> выделил вертикальные контуры архитектурных объектов</a:t>
            </a:r>
            <a:r>
              <a:rPr sz="1530" b="0" dirty="0" smtClean="0">
                <a:solidFill>
                  <a:srgbClr val="A3B0CC"/>
                </a:solidFill>
                <a:latin typeface="Inter"/>
              </a:rPr>
              <a:t>.</a:t>
            </a:r>
            <a:endParaRPr sz="1530" b="0" dirty="0">
              <a:solidFill>
                <a:srgbClr val="A3B0CC"/>
              </a:solidFill>
              <a:latin typeface="Inter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2648" y="3454603"/>
            <a:ext cx="10945368" cy="722376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591763"/>
            <a:ext cx="548640" cy="338328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29AFF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3352" y="3582619"/>
            <a:ext cx="2148840" cy="356616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F7F7FD"/>
                </a:solidFill>
                <a:latin typeface="Inter"/>
              </a:rPr>
              <a:t>РЕЗКОСТЬ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7056" y="3536899"/>
            <a:ext cx="7602820" cy="640080"/>
          </a:xfrm>
          <a:prstGeom prst="rect">
            <a:avLst/>
          </a:prstGeom>
          <a:noFill/>
        </p:spPr>
        <p:txBody>
          <a:bodyPr wrap="square" lIns="22860" tIns="9144" rIns="9144" bIns="9144" anchor="ctr">
            <a:noAutofit/>
          </a:bodyPr>
          <a:lstStyle/>
          <a:p>
            <a:r>
              <a:rPr sz="1530" dirty="0" err="1">
                <a:solidFill>
                  <a:srgbClr val="A3B0CC"/>
                </a:solidFill>
                <a:latin typeface="Inter"/>
              </a:rPr>
              <a:t>Сравнены</a:t>
            </a:r>
            <a:r>
              <a:rPr sz="1530" dirty="0">
                <a:solidFill>
                  <a:srgbClr val="A3B0CC"/>
                </a:solidFill>
                <a:latin typeface="Inter"/>
              </a:rPr>
              <a:t> </a:t>
            </a:r>
            <a:r>
              <a:rPr sz="1530" dirty="0" err="1">
                <a:solidFill>
                  <a:srgbClr val="A3B0CC"/>
                </a:solidFill>
                <a:latin typeface="Inter"/>
              </a:rPr>
              <a:t>три</a:t>
            </a:r>
            <a:r>
              <a:rPr sz="1530" dirty="0">
                <a:solidFill>
                  <a:srgbClr val="A3B0CC"/>
                </a:solidFill>
                <a:latin typeface="Inter"/>
              </a:rPr>
              <a:t> </a:t>
            </a:r>
            <a:r>
              <a:rPr sz="1530" dirty="0" err="1">
                <a:solidFill>
                  <a:srgbClr val="A3B0CC"/>
                </a:solidFill>
                <a:latin typeface="Inter"/>
              </a:rPr>
              <a:t>ядра</a:t>
            </a:r>
            <a:r>
              <a:rPr sz="1530" dirty="0">
                <a:solidFill>
                  <a:srgbClr val="A3B0CC"/>
                </a:solidFill>
                <a:latin typeface="Inter"/>
              </a:rPr>
              <a:t> </a:t>
            </a:r>
            <a:r>
              <a:rPr sz="1530" dirty="0" err="1">
                <a:solidFill>
                  <a:srgbClr val="A3B0CC"/>
                </a:solidFill>
                <a:latin typeface="Inter"/>
              </a:rPr>
              <a:t>свёртки</a:t>
            </a:r>
            <a:r>
              <a:rPr sz="1530" dirty="0">
                <a:solidFill>
                  <a:srgbClr val="A3B0CC"/>
                </a:solidFill>
                <a:latin typeface="Inter"/>
              </a:rPr>
              <a:t>: </a:t>
            </a:r>
            <a:r>
              <a:rPr sz="1530" dirty="0" err="1">
                <a:solidFill>
                  <a:srgbClr val="A3B0CC"/>
                </a:solidFill>
                <a:latin typeface="Inter"/>
              </a:rPr>
              <a:t>умеренное</a:t>
            </a:r>
            <a:r>
              <a:rPr sz="1530" dirty="0">
                <a:solidFill>
                  <a:srgbClr val="A3B0CC"/>
                </a:solidFill>
                <a:latin typeface="Inter"/>
              </a:rPr>
              <a:t>, </a:t>
            </a:r>
            <a:r>
              <a:rPr sz="1530" dirty="0" err="1">
                <a:solidFill>
                  <a:srgbClr val="A3B0CC"/>
                </a:solidFill>
                <a:latin typeface="Inter"/>
              </a:rPr>
              <a:t>сильное</a:t>
            </a:r>
            <a:r>
              <a:rPr sz="1530" dirty="0">
                <a:solidFill>
                  <a:srgbClr val="A3B0CC"/>
                </a:solidFill>
                <a:latin typeface="Inter"/>
              </a:rPr>
              <a:t> и </a:t>
            </a:r>
            <a:r>
              <a:rPr sz="1530" dirty="0" err="1">
                <a:solidFill>
                  <a:srgbClr val="A3B0CC"/>
                </a:solidFill>
                <a:latin typeface="Inter"/>
              </a:rPr>
              <a:t>учитывающее</a:t>
            </a:r>
            <a:r>
              <a:rPr sz="1530" dirty="0">
                <a:solidFill>
                  <a:srgbClr val="A3B0CC"/>
                </a:solidFill>
                <a:latin typeface="Inter"/>
              </a:rPr>
              <a:t> </a:t>
            </a:r>
            <a:r>
              <a:rPr sz="1530" dirty="0" err="1">
                <a:solidFill>
                  <a:srgbClr val="A3B0CC"/>
                </a:solidFill>
                <a:latin typeface="Inter"/>
              </a:rPr>
              <a:t>восемь</a:t>
            </a:r>
            <a:r>
              <a:rPr sz="1530" dirty="0">
                <a:solidFill>
                  <a:srgbClr val="A3B0CC"/>
                </a:solidFill>
                <a:latin typeface="Inter"/>
              </a:rPr>
              <a:t> </a:t>
            </a:r>
            <a:r>
              <a:rPr sz="1530" dirty="0" err="1">
                <a:solidFill>
                  <a:srgbClr val="A3B0CC"/>
                </a:solidFill>
                <a:latin typeface="Inter"/>
              </a:rPr>
              <a:t>соседей</a:t>
            </a:r>
            <a:r>
              <a:rPr sz="1530" dirty="0">
                <a:solidFill>
                  <a:srgbClr val="A3B0CC"/>
                </a:solidFill>
                <a:latin typeface="Inter"/>
              </a:rPr>
              <a:t>.</a:t>
            </a:r>
            <a:endParaRPr sz="1530" dirty="0">
              <a:solidFill>
                <a:srgbClr val="A3B0CC"/>
              </a:solidFill>
              <a:latin typeface="Inter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2648" y="4308652"/>
            <a:ext cx="10945368" cy="722376"/>
          </a:xfrm>
          <a:prstGeom prst="roundRect">
            <a:avLst>
              <a:gd name="adj" fmla="val 8000"/>
            </a:avLst>
          </a:prstGeom>
          <a:solidFill>
            <a:srgbClr val="1A2742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" y="4445812"/>
            <a:ext cx="548640" cy="338328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29AFF"/>
                </a:solidFill>
                <a:latin typeface="Inter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3352" y="4436668"/>
            <a:ext cx="2148840" cy="356616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F7F7FD"/>
                </a:solidFill>
                <a:latin typeface="Inter"/>
              </a:rPr>
              <a:t>СКОРОСТЬ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4225" y="4390948"/>
            <a:ext cx="7805651" cy="530352"/>
          </a:xfrm>
          <a:prstGeom prst="rect">
            <a:avLst/>
          </a:prstGeom>
          <a:noFill/>
        </p:spPr>
        <p:txBody>
          <a:bodyPr wrap="square" lIns="22860" tIns="9144" rIns="9144" bIns="9144" anchor="ctr">
            <a:noAutofit/>
          </a:bodyPr>
          <a:lstStyle/>
          <a:p>
            <a:r>
              <a:rPr sz="1530" dirty="0" err="1">
                <a:solidFill>
                  <a:srgbClr val="A3B0CC"/>
                </a:solidFill>
                <a:latin typeface="Inter"/>
              </a:rPr>
              <a:t>По</a:t>
            </a:r>
            <a:r>
              <a:rPr sz="1530" dirty="0">
                <a:solidFill>
                  <a:srgbClr val="A3B0CC"/>
                </a:solidFill>
                <a:latin typeface="Inter"/>
              </a:rPr>
              <a:t> </a:t>
            </a:r>
            <a:r>
              <a:rPr sz="1530" dirty="0" err="1">
                <a:solidFill>
                  <a:srgbClr val="A3B0CC"/>
                </a:solidFill>
                <a:latin typeface="Inter"/>
              </a:rPr>
              <a:t>замерам</a:t>
            </a:r>
            <a:r>
              <a:rPr sz="1530" dirty="0">
                <a:solidFill>
                  <a:srgbClr val="A3B0CC"/>
                </a:solidFill>
                <a:latin typeface="Inter"/>
              </a:rPr>
              <a:t> 0,669 и 37,431 </a:t>
            </a:r>
            <a:r>
              <a:rPr sz="1530" dirty="0" err="1">
                <a:solidFill>
                  <a:srgbClr val="A3B0CC"/>
                </a:solidFill>
                <a:latin typeface="Inter"/>
              </a:rPr>
              <a:t>мс</a:t>
            </a:r>
            <a:r>
              <a:rPr sz="1530" dirty="0">
                <a:solidFill>
                  <a:srgbClr val="A3B0CC"/>
                </a:solidFill>
                <a:latin typeface="Inter"/>
              </a:rPr>
              <a:t> </a:t>
            </a:r>
            <a:r>
              <a:rPr sz="1530" dirty="0" err="1">
                <a:solidFill>
                  <a:srgbClr val="A3B0CC"/>
                </a:solidFill>
                <a:latin typeface="Inter"/>
              </a:rPr>
              <a:t>усредняющий</a:t>
            </a:r>
            <a:r>
              <a:rPr sz="1530" dirty="0">
                <a:solidFill>
                  <a:srgbClr val="A3B0CC"/>
                </a:solidFill>
                <a:latin typeface="Inter"/>
              </a:rPr>
              <a:t> </a:t>
            </a:r>
            <a:r>
              <a:rPr sz="1530" dirty="0" err="1">
                <a:solidFill>
                  <a:srgbClr val="A3B0CC"/>
                </a:solidFill>
                <a:latin typeface="Inter"/>
              </a:rPr>
              <a:t>фильтр</a:t>
            </a:r>
            <a:r>
              <a:rPr sz="1530" dirty="0">
                <a:solidFill>
                  <a:srgbClr val="A3B0CC"/>
                </a:solidFill>
                <a:latin typeface="Inter"/>
              </a:rPr>
              <a:t> </a:t>
            </a:r>
            <a:r>
              <a:rPr sz="1530" dirty="0" err="1">
                <a:solidFill>
                  <a:srgbClr val="A3B0CC"/>
                </a:solidFill>
                <a:latin typeface="Inter"/>
              </a:rPr>
              <a:t>был</a:t>
            </a:r>
            <a:r>
              <a:rPr sz="1530" dirty="0">
                <a:solidFill>
                  <a:srgbClr val="A3B0CC"/>
                </a:solidFill>
                <a:latin typeface="Inter"/>
              </a:rPr>
              <a:t> </a:t>
            </a:r>
            <a:r>
              <a:rPr sz="1530" dirty="0" err="1">
                <a:solidFill>
                  <a:srgbClr val="A3B0CC"/>
                </a:solidFill>
                <a:latin typeface="Inter"/>
              </a:rPr>
              <a:t>примерно</a:t>
            </a:r>
            <a:r>
              <a:rPr sz="1530" dirty="0">
                <a:solidFill>
                  <a:srgbClr val="A3B0CC"/>
                </a:solidFill>
                <a:latin typeface="Inter"/>
              </a:rPr>
              <a:t> в 56 </a:t>
            </a:r>
            <a:r>
              <a:rPr sz="1530" dirty="0" err="1">
                <a:solidFill>
                  <a:srgbClr val="A3B0CC"/>
                </a:solidFill>
                <a:latin typeface="Inter"/>
              </a:rPr>
              <a:t>раз</a:t>
            </a:r>
            <a:r>
              <a:rPr sz="1530" dirty="0">
                <a:solidFill>
                  <a:srgbClr val="A3B0CC"/>
                </a:solidFill>
                <a:latin typeface="Inter"/>
              </a:rPr>
              <a:t> </a:t>
            </a:r>
            <a:r>
              <a:rPr sz="1530" dirty="0" err="1">
                <a:solidFill>
                  <a:srgbClr val="A3B0CC"/>
                </a:solidFill>
                <a:latin typeface="Inter"/>
              </a:rPr>
              <a:t>быстрее</a:t>
            </a:r>
            <a:r>
              <a:rPr sz="1250" dirty="0">
                <a:solidFill>
                  <a:srgbClr val="F6F8FF"/>
                </a:solidFill>
                <a:latin typeface="Inter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" y="5162702"/>
            <a:ext cx="10945368" cy="722376"/>
          </a:xfrm>
          <a:prstGeom prst="roundRect">
            <a:avLst>
              <a:gd name="adj" fmla="val 8000"/>
            </a:avLst>
          </a:prstGeom>
          <a:solidFill>
            <a:srgbClr val="151E34"/>
          </a:solidFill>
          <a:ln w="8890">
            <a:solidFill>
              <a:srgbClr val="354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" y="5299862"/>
            <a:ext cx="548640" cy="338328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29AFF"/>
                </a:solidFill>
                <a:latin typeface="Inter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73352" y="5290718"/>
            <a:ext cx="2148840" cy="356616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F7F7FD"/>
                </a:solidFill>
                <a:latin typeface="Inter"/>
              </a:rPr>
              <a:t>СПЕКТР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77056" y="5244998"/>
            <a:ext cx="7342631" cy="530352"/>
          </a:xfrm>
          <a:prstGeom prst="rect">
            <a:avLst/>
          </a:prstGeom>
          <a:noFill/>
        </p:spPr>
        <p:txBody>
          <a:bodyPr wrap="square" lIns="22860" tIns="9144" rIns="9144" bIns="9144" anchor="ctr">
            <a:noAutofit/>
          </a:bodyPr>
          <a:lstStyle/>
          <a:p>
            <a:r>
              <a:rPr sz="1530" dirty="0" err="1">
                <a:solidFill>
                  <a:srgbClr val="A3B0CC"/>
                </a:solidFill>
                <a:latin typeface="Inter"/>
              </a:rPr>
              <a:t>Показаны</a:t>
            </a:r>
            <a:r>
              <a:rPr sz="1530" dirty="0">
                <a:solidFill>
                  <a:srgbClr val="A3B0CC"/>
                </a:solidFill>
                <a:latin typeface="Inter"/>
              </a:rPr>
              <a:t> </a:t>
            </a:r>
            <a:r>
              <a:rPr sz="1530" dirty="0" err="1">
                <a:solidFill>
                  <a:srgbClr val="A3B0CC"/>
                </a:solidFill>
                <a:latin typeface="Inter"/>
              </a:rPr>
              <a:t>маски</a:t>
            </a:r>
            <a:r>
              <a:rPr sz="1530" dirty="0">
                <a:solidFill>
                  <a:srgbClr val="A3B0CC"/>
                </a:solidFill>
                <a:latin typeface="Inter"/>
              </a:rPr>
              <a:t> и </a:t>
            </a:r>
            <a:r>
              <a:rPr sz="1530" dirty="0" err="1">
                <a:solidFill>
                  <a:srgbClr val="A3B0CC"/>
                </a:solidFill>
                <a:latin typeface="Inter"/>
              </a:rPr>
              <a:t>результаты</a:t>
            </a:r>
            <a:r>
              <a:rPr sz="1530" dirty="0">
                <a:solidFill>
                  <a:srgbClr val="A3B0CC"/>
                </a:solidFill>
                <a:latin typeface="Inter"/>
              </a:rPr>
              <a:t> ВЧ-</a:t>
            </a:r>
            <a:r>
              <a:rPr sz="1530" dirty="0" err="1">
                <a:solidFill>
                  <a:srgbClr val="A3B0CC"/>
                </a:solidFill>
                <a:latin typeface="Inter"/>
              </a:rPr>
              <a:t>фильтрации</a:t>
            </a:r>
            <a:r>
              <a:rPr sz="1530" dirty="0">
                <a:solidFill>
                  <a:srgbClr val="A3B0CC"/>
                </a:solidFill>
                <a:latin typeface="Inter"/>
              </a:rPr>
              <a:t> </a:t>
            </a:r>
            <a:r>
              <a:rPr sz="1530" dirty="0" err="1">
                <a:solidFill>
                  <a:srgbClr val="A3B0CC"/>
                </a:solidFill>
                <a:latin typeface="Inter"/>
              </a:rPr>
              <a:t>при</a:t>
            </a:r>
            <a:r>
              <a:rPr sz="1530" dirty="0">
                <a:solidFill>
                  <a:srgbClr val="A3B0CC"/>
                </a:solidFill>
                <a:latin typeface="Inter"/>
              </a:rPr>
              <a:t> D₀ = 10, 30 и 60</a:t>
            </a:r>
            <a:r>
              <a:rPr sz="1250" dirty="0">
                <a:solidFill>
                  <a:srgbClr val="F6F8FF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1300" b="1">
                <a:solidFill>
                  <a:srgbClr val="B297FB"/>
                </a:solidFill>
                <a:latin typeface="Inter"/>
              </a:rPr>
              <a:t>КОНТРОЛЬНЫЕ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lang="ru-RU" sz="2900" b="1" dirty="0" smtClean="0">
                <a:solidFill>
                  <a:srgbClr val="F6F8FF"/>
                </a:solidFill>
                <a:latin typeface="Inter Display"/>
              </a:rPr>
              <a:t>Ответы на вопросы</a:t>
            </a:r>
            <a:endParaRPr sz="2900" b="1" dirty="0">
              <a:solidFill>
                <a:srgbClr val="F6F8FF"/>
              </a:solidFill>
              <a:latin typeface="Inter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1150" b="0">
                <a:solidFill>
                  <a:srgbClr val="B3C1DB"/>
                </a:solidFill>
                <a:latin typeface="Inter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09928"/>
            <a:ext cx="10945368" cy="1014984"/>
          </a:xfrm>
          <a:prstGeom prst="roundRect">
            <a:avLst>
              <a:gd name="adj" fmla="val 11000"/>
            </a:avLst>
          </a:prstGeom>
          <a:solidFill>
            <a:srgbClr val="182239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901952"/>
            <a:ext cx="548640" cy="5029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297FB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1810512"/>
            <a:ext cx="9720072" cy="466344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F6F8FF"/>
                </a:solidFill>
                <a:latin typeface="Inter"/>
              </a:rPr>
              <a:t>Что такое фильтрация изображений и для чего она используется?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322576"/>
            <a:ext cx="9692640" cy="3383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B3C1DB"/>
                </a:solidFill>
                <a:latin typeface="Inter"/>
              </a:rPr>
              <a:t>Изменение значений пикселей для подавления шума, сглаживания, повышения резкости и выделения границ.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841040"/>
            <a:ext cx="10945368" cy="1014984"/>
          </a:xfrm>
          <a:prstGeom prst="roundRect">
            <a:avLst>
              <a:gd name="adj" fmla="val 11000"/>
            </a:avLst>
          </a:prstGeom>
          <a:solidFill>
            <a:srgbClr val="1E2A43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3033064"/>
            <a:ext cx="548640" cy="5029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297FB"/>
                </a:solidFill>
                <a:latin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941624"/>
            <a:ext cx="9720072" cy="466344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F6F8FF"/>
                </a:solidFill>
                <a:latin typeface="Inter"/>
              </a:rPr>
              <a:t>Чем отличается линейная фильтрация от нелинейной?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3453688"/>
            <a:ext cx="9692640" cy="3383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B3C1DB"/>
                </a:solidFill>
                <a:latin typeface="Inter"/>
              </a:rPr>
              <a:t>Линейная использует взвешенную сумму соседей; нелинейная — медиану, минимум или максимум.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972153"/>
            <a:ext cx="10945368" cy="1014984"/>
          </a:xfrm>
          <a:prstGeom prst="roundRect">
            <a:avLst>
              <a:gd name="adj" fmla="val 11000"/>
            </a:avLst>
          </a:prstGeom>
          <a:solidFill>
            <a:srgbClr val="182239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4164177"/>
            <a:ext cx="548640" cy="5029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297FB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7904" y="4072737"/>
            <a:ext cx="9720072" cy="466344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F6F8FF"/>
                </a:solidFill>
                <a:latin typeface="Inter"/>
              </a:rPr>
              <a:t>Какие виды шумов бывают на изображениях (гауссовский, «соль и перец» и др.)?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584801"/>
            <a:ext cx="9692640" cy="3383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B3C1DB"/>
                </a:solidFill>
                <a:latin typeface="Inter"/>
              </a:rPr>
              <a:t>Гауссовский, импульсный («соль и перец»), равномерный и периодический.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103266"/>
            <a:ext cx="10945368" cy="1014984"/>
          </a:xfrm>
          <a:prstGeom prst="roundRect">
            <a:avLst>
              <a:gd name="adj" fmla="val 11000"/>
            </a:avLst>
          </a:prstGeom>
          <a:solidFill>
            <a:srgbClr val="1E2A43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5295290"/>
            <a:ext cx="548640" cy="5029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297FB"/>
                </a:solidFill>
                <a:latin typeface="Inter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7904" y="5203850"/>
            <a:ext cx="9720072" cy="466344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F6F8FF"/>
                </a:solidFill>
                <a:latin typeface="Inter"/>
              </a:rPr>
              <a:t>Как размер окна фильтра влияет на результат фильтрации?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5715914"/>
            <a:ext cx="9692640" cy="3383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B3C1DB"/>
                </a:solidFill>
                <a:latin typeface="Inter"/>
              </a:rPr>
              <a:t>Большое окно сильнее сглаживает, но может терять детали и увеличивать время обработки.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1300" b="1">
                <a:solidFill>
                  <a:srgbClr val="B297FB"/>
                </a:solidFill>
                <a:latin typeface="Inter"/>
              </a:rPr>
              <a:t>КОНТРОЛЬНЫЕ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lang="ru-RU" sz="2900" b="1" dirty="0" smtClean="0">
                <a:solidFill>
                  <a:srgbClr val="F6F8FF"/>
                </a:solidFill>
                <a:latin typeface="Inter Display"/>
              </a:rPr>
              <a:t>Ответы на вопросы</a:t>
            </a:r>
            <a:endParaRPr sz="2900" b="1" dirty="0">
              <a:solidFill>
                <a:srgbClr val="F6F8FF"/>
              </a:solidFill>
              <a:latin typeface="Inter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1150" b="0">
                <a:solidFill>
                  <a:srgbClr val="B3C1DB"/>
                </a:solidFill>
                <a:latin typeface="Inter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09928"/>
            <a:ext cx="10945368" cy="1014984"/>
          </a:xfrm>
          <a:prstGeom prst="roundRect">
            <a:avLst>
              <a:gd name="adj" fmla="val 11000"/>
            </a:avLst>
          </a:prstGeom>
          <a:solidFill>
            <a:srgbClr val="182239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901952"/>
            <a:ext cx="548640" cy="5029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297FB"/>
                </a:solidFill>
                <a:latin typeface="Inter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1810512"/>
            <a:ext cx="9720072" cy="466344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0" b="1">
                <a:solidFill>
                  <a:srgbClr val="F6F8FF"/>
                </a:solidFill>
                <a:latin typeface="Inter"/>
              </a:rPr>
              <a:t>В каких случаях предпочтительно использовать пространственную фильтрацию, а в каких — частотную?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322576"/>
            <a:ext cx="9692640" cy="3383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B3C1DB"/>
                </a:solidFill>
                <a:latin typeface="Inter"/>
              </a:rPr>
              <a:t>Пространственная — для локальной обработки; частотная — для работы со спектром и периодическим шумом.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841040"/>
            <a:ext cx="10945368" cy="1014984"/>
          </a:xfrm>
          <a:prstGeom prst="roundRect">
            <a:avLst>
              <a:gd name="adj" fmla="val 11000"/>
            </a:avLst>
          </a:prstGeom>
          <a:solidFill>
            <a:srgbClr val="1E2A43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3033064"/>
            <a:ext cx="548640" cy="5029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297FB"/>
                </a:solidFill>
                <a:latin typeface="Inter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941624"/>
            <a:ext cx="9720072" cy="466344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F6F8FF"/>
                </a:solidFill>
                <a:latin typeface="Inter"/>
              </a:rPr>
              <a:t>В чём принцип работы усредняющего фильтра?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3453688"/>
            <a:ext cx="9692640" cy="3383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B3C1DB"/>
                </a:solidFill>
                <a:latin typeface="Inter"/>
              </a:rPr>
              <a:t>Пиксель заменяется средним арифметическим значением в окне заданного размера.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972153"/>
            <a:ext cx="10945368" cy="1014984"/>
          </a:xfrm>
          <a:prstGeom prst="roundRect">
            <a:avLst>
              <a:gd name="adj" fmla="val 11000"/>
            </a:avLst>
          </a:prstGeom>
          <a:solidFill>
            <a:srgbClr val="182239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4164177"/>
            <a:ext cx="548640" cy="5029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297FB"/>
                </a:solidFill>
                <a:latin typeface="Inter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7904" y="4072737"/>
            <a:ext cx="9720072" cy="466344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F6F8FF"/>
                </a:solidFill>
                <a:latin typeface="Inter"/>
              </a:rPr>
              <a:t>Как гауссов фильтр отличается от простого усреднения?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584801"/>
            <a:ext cx="9692640" cy="3383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B3C1DB"/>
                </a:solidFill>
                <a:latin typeface="Inter"/>
              </a:rPr>
              <a:t>Вес центральных пикселей у Гаусса больше и плавно уменьшается к краям.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103266"/>
            <a:ext cx="10945368" cy="1014984"/>
          </a:xfrm>
          <a:prstGeom prst="roundRect">
            <a:avLst>
              <a:gd name="adj" fmla="val 11000"/>
            </a:avLst>
          </a:prstGeom>
          <a:solidFill>
            <a:srgbClr val="1E2A43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5295290"/>
            <a:ext cx="548640" cy="5029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297FB"/>
                </a:solidFill>
                <a:latin typeface="Inter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7904" y="5203850"/>
            <a:ext cx="9720072" cy="466344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F6F8FF"/>
                </a:solidFill>
                <a:latin typeface="Inter"/>
              </a:rPr>
              <a:t>Для какого типа шума эффективен медианный фильтр?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5715914"/>
            <a:ext cx="9692640" cy="3383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B3C1DB"/>
                </a:solidFill>
                <a:latin typeface="Inter"/>
              </a:rPr>
              <a:t>Для импульсного шума «соль и перец», при этом сохраняются резкие границы.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1300" b="1">
                <a:solidFill>
                  <a:srgbClr val="B297FB"/>
                </a:solidFill>
                <a:latin typeface="Inter"/>
              </a:rPr>
              <a:t>КОНТРОЛЬНЫЕ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lang="ru-RU" sz="2900" b="1" dirty="0" smtClean="0">
                <a:solidFill>
                  <a:srgbClr val="F6F8FF"/>
                </a:solidFill>
                <a:latin typeface="Inter Display"/>
              </a:rPr>
              <a:t>Ответы на вопросы</a:t>
            </a:r>
            <a:endParaRPr sz="2900" b="1" dirty="0">
              <a:solidFill>
                <a:srgbClr val="F6F8FF"/>
              </a:solidFill>
              <a:latin typeface="Inter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1150" b="0">
                <a:solidFill>
                  <a:srgbClr val="B3C1DB"/>
                </a:solidFill>
                <a:latin typeface="Inter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09928"/>
            <a:ext cx="10945368" cy="1014984"/>
          </a:xfrm>
          <a:prstGeom prst="roundRect">
            <a:avLst>
              <a:gd name="adj" fmla="val 11000"/>
            </a:avLst>
          </a:prstGeom>
          <a:solidFill>
            <a:srgbClr val="182239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901952"/>
            <a:ext cx="548640" cy="5029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297FB"/>
                </a:solidFill>
                <a:latin typeface="Inter"/>
              </a:rPr>
              <a:t>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1810512"/>
            <a:ext cx="9720072" cy="466344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F6F8FF"/>
                </a:solidFill>
                <a:latin typeface="Inter"/>
              </a:rPr>
              <a:t>Что делают операторы Собеля и Превитта?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322576"/>
            <a:ext cx="9692640" cy="3383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B3C1DB"/>
                </a:solidFill>
                <a:latin typeface="Inter"/>
              </a:rPr>
              <a:t>Вычисляют приближённый градиент яркости по X или Y и выделяют границы.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841040"/>
            <a:ext cx="10945368" cy="1014984"/>
          </a:xfrm>
          <a:prstGeom prst="roundRect">
            <a:avLst>
              <a:gd name="adj" fmla="val 11000"/>
            </a:avLst>
          </a:prstGeom>
          <a:solidFill>
            <a:srgbClr val="1E2A43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3033064"/>
            <a:ext cx="548640" cy="5029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297FB"/>
                </a:solidFill>
                <a:latin typeface="Inter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941624"/>
            <a:ext cx="9720072" cy="466344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F6F8FF"/>
                </a:solidFill>
                <a:latin typeface="Inter"/>
              </a:rPr>
              <a:t>Чем оператор Лапласа отличается от оператора Собеля?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3453688"/>
            <a:ext cx="9692640" cy="3383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B3C1DB"/>
                </a:solidFill>
                <a:latin typeface="Inter"/>
              </a:rPr>
              <a:t>Лаплас использует вторую производную и не выделяет конкретное направление градиента.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972153"/>
            <a:ext cx="10945368" cy="1014984"/>
          </a:xfrm>
          <a:prstGeom prst="roundRect">
            <a:avLst>
              <a:gd name="adj" fmla="val 11000"/>
            </a:avLst>
          </a:prstGeom>
          <a:solidFill>
            <a:srgbClr val="182239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4164177"/>
            <a:ext cx="548640" cy="5029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297FB"/>
                </a:solidFill>
                <a:latin typeface="Inter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7904" y="4072737"/>
            <a:ext cx="9720072" cy="466344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F6F8FF"/>
                </a:solidFill>
                <a:latin typeface="Inter"/>
              </a:rPr>
              <a:t>Как реализуется фильтр повышения резкости (sharpen, unsharp masking)?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584801"/>
            <a:ext cx="9692640" cy="3383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B3C1DB"/>
                </a:solidFill>
                <a:latin typeface="Inter"/>
              </a:rPr>
              <a:t>Через ядро с положительным центром и отрицательными соседями либо unsharp masking.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103266"/>
            <a:ext cx="10945368" cy="1014984"/>
          </a:xfrm>
          <a:prstGeom prst="roundRect">
            <a:avLst>
              <a:gd name="adj" fmla="val 11000"/>
            </a:avLst>
          </a:prstGeom>
          <a:solidFill>
            <a:srgbClr val="1E2A43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5295290"/>
            <a:ext cx="548640" cy="5029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297FB"/>
                </a:solidFill>
                <a:latin typeface="Inter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7904" y="5203850"/>
            <a:ext cx="9720072" cy="466344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F6F8FF"/>
                </a:solidFill>
                <a:latin typeface="Inter"/>
              </a:rPr>
              <a:t>Как интерпретировать низкие и высокие частоты изображения?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5715914"/>
            <a:ext cx="9692640" cy="3383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B3C1DB"/>
                </a:solidFill>
                <a:latin typeface="Inter"/>
              </a:rPr>
              <a:t>Низкие — плавные области; высокие — контуры, мелкие детали и шум.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1300" b="1">
                <a:solidFill>
                  <a:srgbClr val="B297FB"/>
                </a:solidFill>
                <a:latin typeface="Inter"/>
              </a:rPr>
              <a:t>КОНТРОЛЬНЫЕ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lang="ru-RU" sz="2900" b="1" dirty="0" smtClean="0">
                <a:solidFill>
                  <a:srgbClr val="F6F8FF"/>
                </a:solidFill>
                <a:latin typeface="Inter Display"/>
              </a:rPr>
              <a:t>Ответы на вопросы</a:t>
            </a:r>
            <a:endParaRPr sz="2900" b="1" dirty="0">
              <a:solidFill>
                <a:srgbClr val="F6F8FF"/>
              </a:solidFill>
              <a:latin typeface="Inter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1150" b="0">
                <a:solidFill>
                  <a:srgbClr val="B3C1DB"/>
                </a:solidFill>
                <a:latin typeface="Inter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09928"/>
            <a:ext cx="10945368" cy="1014984"/>
          </a:xfrm>
          <a:prstGeom prst="roundRect">
            <a:avLst>
              <a:gd name="adj" fmla="val 11000"/>
            </a:avLst>
          </a:prstGeom>
          <a:solidFill>
            <a:srgbClr val="182239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901952"/>
            <a:ext cx="548640" cy="5029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297FB"/>
                </a:solidFill>
                <a:latin typeface="Inter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1810512"/>
            <a:ext cx="9720072" cy="466344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0" b="1">
                <a:solidFill>
                  <a:srgbClr val="F6F8FF"/>
                </a:solidFill>
                <a:latin typeface="Inter"/>
              </a:rPr>
              <a:t>Как выполняется переход от пространственной области к частотной (какое преобразование используется)?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322576"/>
            <a:ext cx="9692640" cy="3383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B3C1DB"/>
                </a:solidFill>
                <a:latin typeface="Inter"/>
              </a:rPr>
              <a:t>Дискретным преобразованием Фурье; для вычислений используется быстрый алгоритм FFT.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841040"/>
            <a:ext cx="10945368" cy="1014984"/>
          </a:xfrm>
          <a:prstGeom prst="roundRect">
            <a:avLst>
              <a:gd name="adj" fmla="val 11000"/>
            </a:avLst>
          </a:prstGeom>
          <a:solidFill>
            <a:srgbClr val="1E2A43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3033064"/>
            <a:ext cx="548640" cy="5029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297FB"/>
                </a:solidFill>
                <a:latin typeface="Inter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941624"/>
            <a:ext cx="9720072" cy="466344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F6F8FF"/>
                </a:solidFill>
                <a:latin typeface="Inter"/>
              </a:rPr>
              <a:t>Какие шаги выполняются при фильтрации изображения в частотной области?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3453688"/>
            <a:ext cx="9692640" cy="3383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B3C1DB"/>
                </a:solidFill>
                <a:latin typeface="Inter"/>
              </a:rPr>
              <a:t>FFT → центрирование → умножение на маску → обратный сдвиг → обратное FFT.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972153"/>
            <a:ext cx="10945368" cy="1014984"/>
          </a:xfrm>
          <a:prstGeom prst="roundRect">
            <a:avLst>
              <a:gd name="adj" fmla="val 11000"/>
            </a:avLst>
          </a:prstGeom>
          <a:solidFill>
            <a:srgbClr val="182239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4164177"/>
            <a:ext cx="548640" cy="5029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297FB"/>
                </a:solidFill>
                <a:latin typeface="Inter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7904" y="4072737"/>
            <a:ext cx="9720072" cy="466344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F6F8FF"/>
                </a:solidFill>
                <a:latin typeface="Inter"/>
              </a:rPr>
              <a:t>Чем отличается идеальный низкочастотный фильтр от гауссова НЧ-фильтра?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584801"/>
            <a:ext cx="9692640" cy="3383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B3C1DB"/>
                </a:solidFill>
                <a:latin typeface="Inter"/>
              </a:rPr>
              <a:t>У идеального резкая граница среза; у гауссова плавное ослабление частот.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103266"/>
            <a:ext cx="10945368" cy="1014984"/>
          </a:xfrm>
          <a:prstGeom prst="roundRect">
            <a:avLst>
              <a:gd name="adj" fmla="val 11000"/>
            </a:avLst>
          </a:prstGeom>
          <a:solidFill>
            <a:srgbClr val="1E2A43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5295290"/>
            <a:ext cx="548640" cy="5029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297FB"/>
                </a:solidFill>
                <a:latin typeface="Inter"/>
              </a:rPr>
              <a:t>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7904" y="5203850"/>
            <a:ext cx="9720072" cy="466344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F6F8FF"/>
                </a:solidFill>
                <a:latin typeface="Inter"/>
              </a:rPr>
              <a:t>Какие артефакты могут возникнуть при использовании идеального НЧ-фильтра?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5715914"/>
            <a:ext cx="9692640" cy="3383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B3C1DB"/>
                </a:solidFill>
                <a:latin typeface="Inter"/>
              </a:rPr>
              <a:t>«Звон» — паразитные волны рядом с резкими границами изображения.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502920"/>
            <a:ext cx="73152" cy="228600"/>
          </a:xfrm>
          <a:prstGeom prst="rect">
            <a:avLst/>
          </a:prstGeom>
          <a:solidFill>
            <a:srgbClr val="B29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0664" y="438912"/>
            <a:ext cx="9784080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1300" b="1">
                <a:solidFill>
                  <a:srgbClr val="B297FB"/>
                </a:solidFill>
                <a:latin typeface="Inter"/>
              </a:rPr>
              <a:t>КОНТРОЛЬНЫЕ ВОПРОСЫ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521207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lang="ru-RU" sz="2900" b="1" dirty="0" smtClean="0">
                <a:solidFill>
                  <a:srgbClr val="F6F8FF"/>
                </a:solidFill>
                <a:latin typeface="Inter Display"/>
              </a:rPr>
              <a:t>Ответы на вопросы</a:t>
            </a:r>
            <a:endParaRPr sz="2900" b="1" dirty="0">
              <a:solidFill>
                <a:srgbClr val="F6F8FF"/>
              </a:solidFill>
              <a:latin typeface="Inter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527048"/>
            <a:ext cx="11091672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6432804"/>
            <a:ext cx="11018520" cy="10972"/>
          </a:xfrm>
          <a:prstGeom prst="rect">
            <a:avLst/>
          </a:prstGeom>
          <a:solidFill>
            <a:srgbClr val="35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36808" y="6492240"/>
            <a:ext cx="54864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noAutofit/>
          </a:bodyPr>
          <a:lstStyle/>
          <a:p>
            <a:r>
              <a:rPr sz="1150" b="0">
                <a:solidFill>
                  <a:srgbClr val="B3C1DB"/>
                </a:solidFill>
                <a:latin typeface="Inter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09928"/>
            <a:ext cx="10945368" cy="1014984"/>
          </a:xfrm>
          <a:prstGeom prst="roundRect">
            <a:avLst>
              <a:gd name="adj" fmla="val 11000"/>
            </a:avLst>
          </a:prstGeom>
          <a:solidFill>
            <a:srgbClr val="182239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901952"/>
            <a:ext cx="548640" cy="5029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297FB"/>
                </a:solidFill>
                <a:latin typeface="Inter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1810512"/>
            <a:ext cx="9720072" cy="466344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F6F8FF"/>
                </a:solidFill>
                <a:latin typeface="Inter"/>
              </a:rPr>
              <a:t>Как работает высокочастотный фильтр и для чего он применяется?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322576"/>
            <a:ext cx="9692640" cy="3383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B3C1DB"/>
                </a:solidFill>
                <a:latin typeface="Inter"/>
              </a:rPr>
              <a:t>Подавляет низкие частоты, подчёркивает контуры и мелкие детали.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841040"/>
            <a:ext cx="10945368" cy="1014984"/>
          </a:xfrm>
          <a:prstGeom prst="roundRect">
            <a:avLst>
              <a:gd name="adj" fmla="val 11000"/>
            </a:avLst>
          </a:prstGeom>
          <a:solidFill>
            <a:srgbClr val="1E2A43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3033064"/>
            <a:ext cx="548640" cy="5029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297FB"/>
                </a:solidFill>
                <a:latin typeface="Inter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941624"/>
            <a:ext cx="9720072" cy="466344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F6F8FF"/>
                </a:solidFill>
                <a:latin typeface="Inter"/>
              </a:rPr>
              <a:t>Что такое полосовой фильтр (BPF) и где он может использоваться?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3453688"/>
            <a:ext cx="9692640" cy="3383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B3C1DB"/>
                </a:solidFill>
                <a:latin typeface="Inter"/>
              </a:rPr>
              <a:t>Пропускает заданный диапазон частот, подавляя более низкие и более высокие.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972153"/>
            <a:ext cx="10945368" cy="1014984"/>
          </a:xfrm>
          <a:prstGeom prst="roundRect">
            <a:avLst>
              <a:gd name="adj" fmla="val 11000"/>
            </a:avLst>
          </a:prstGeom>
          <a:solidFill>
            <a:srgbClr val="182239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4164177"/>
            <a:ext cx="548640" cy="5029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297FB"/>
                </a:solidFill>
                <a:latin typeface="Inter"/>
              </a:rP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7904" y="4072737"/>
            <a:ext cx="9720072" cy="466344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F6F8FF"/>
                </a:solidFill>
                <a:latin typeface="Inter"/>
              </a:rPr>
              <a:t>Какие преимущества даёт частотная фильтрация по сравнению с пространственной?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584801"/>
            <a:ext cx="9692640" cy="3383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B3C1DB"/>
                </a:solidFill>
                <a:latin typeface="Inter"/>
              </a:rPr>
              <a:t>Удобный контроль спектральных компонент, в частности подавление периодических помех.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103266"/>
            <a:ext cx="10945368" cy="1014984"/>
          </a:xfrm>
          <a:prstGeom prst="roundRect">
            <a:avLst>
              <a:gd name="adj" fmla="val 11000"/>
            </a:avLst>
          </a:prstGeom>
          <a:solidFill>
            <a:srgbClr val="1E2A43"/>
          </a:solidFill>
          <a:ln w="8255">
            <a:solidFill>
              <a:srgbClr val="384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5295290"/>
            <a:ext cx="548640" cy="502920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297FB"/>
                </a:solidFill>
                <a:latin typeface="Inter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7904" y="5203850"/>
            <a:ext cx="9720072" cy="466344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70" b="1">
                <a:solidFill>
                  <a:srgbClr val="F6F8FF"/>
                </a:solidFill>
                <a:latin typeface="Inter"/>
              </a:rPr>
              <a:t>Почему фильтрация через БПФ может быть более эффективной при больших ядрах свёртки?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5715914"/>
            <a:ext cx="9692640" cy="338328"/>
          </a:xfrm>
          <a:prstGeom prst="rect">
            <a:avLst/>
          </a:prstGeom>
          <a:noFill/>
        </p:spPr>
        <p:txBody>
          <a:bodyPr wrap="square" lIns="13716" tIns="0" rIns="13716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>
                <a:solidFill>
                  <a:srgbClr val="B3C1DB"/>
                </a:solidFill>
                <a:latin typeface="Inter"/>
              </a:rPr>
              <a:t>При больших ядрах: прямая свёртка дорожает с размером ядра, а FFT может быть эффективнее.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1662</Words>
  <Application>Microsoft Office PowerPoint</Application>
  <PresentationFormat>Произвольный</PresentationFormat>
  <Paragraphs>327</Paragraphs>
  <Slides>22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3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Лузер</cp:lastModifiedBy>
  <cp:revision>7</cp:revision>
  <dcterms:created xsi:type="dcterms:W3CDTF">2013-01-27T09:14:16Z</dcterms:created>
  <dcterms:modified xsi:type="dcterms:W3CDTF">2026-10-22T09:00:53Z</dcterms:modified>
  <cp:category/>
</cp:coreProperties>
</file>