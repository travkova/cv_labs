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D77C4054-C037-44EF-A8EA-3C2C0EDADA3D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FE6F1634-B337-41A4-B963-9BE78FD85C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18756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C4054-C037-44EF-A8EA-3C2C0EDADA3D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F1634-B337-41A4-B963-9BE78FD85C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41102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D77C4054-C037-44EF-A8EA-3C2C0EDADA3D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FE6F1634-B337-41A4-B963-9BE78FD85C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51690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C4054-C037-44EF-A8EA-3C2C0EDADA3D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F1634-B337-41A4-B963-9BE78FD85C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89705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C4054-C037-44EF-A8EA-3C2C0EDADA3D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F1634-B337-41A4-B963-9BE78FD85C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560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C4054-C037-44EF-A8EA-3C2C0EDADA3D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F1634-B337-41A4-B963-9BE78FD85C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5797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C4054-C037-44EF-A8EA-3C2C0EDADA3D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F1634-B337-41A4-B963-9BE78FD85C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2894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C4054-C037-44EF-A8EA-3C2C0EDADA3D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F1634-B337-41A4-B963-9BE78FD85C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8496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C4054-C037-44EF-A8EA-3C2C0EDADA3D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F1634-B337-41A4-B963-9BE78FD85C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8432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C4054-C037-44EF-A8EA-3C2C0EDADA3D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F1634-B337-41A4-B963-9BE78FD85C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5320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D77C4054-C037-44EF-A8EA-3C2C0EDADA3D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FE6F1634-B337-41A4-B963-9BE78FD85C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57081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D77C4054-C037-44EF-A8EA-3C2C0EDADA3D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FE6F1634-B337-41A4-B963-9BE78FD85C14}" type="slidenum">
              <a:rPr lang="ru-RU" smtClean="0"/>
              <a:t>‹#›</a:t>
            </a:fld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059272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D77C4054-C037-44EF-A8EA-3C2C0EDADA3D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FE6F1634-B337-41A4-B963-9BE78FD85C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19702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C4054-C037-44EF-A8EA-3C2C0EDADA3D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F1634-B337-41A4-B963-9BE78FD85C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84526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C4054-C037-44EF-A8EA-3C2C0EDADA3D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F1634-B337-41A4-B963-9BE78FD85C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15678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C4054-C037-44EF-A8EA-3C2C0EDADA3D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F1634-B337-41A4-B963-9BE78FD85C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026986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D77C4054-C037-44EF-A8EA-3C2C0EDADA3D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FE6F1634-B337-41A4-B963-9BE78FD85C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89052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7C4054-C037-44EF-A8EA-3C2C0EDADA3D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6F1634-B337-41A4-B963-9BE78FD85C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594492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461ECD-06C8-00F0-C26C-3808D54BBC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ru-RU" sz="4400" dirty="0"/>
              <a:t>Мини-проект: «Классификация фруктов и овощей по изображениям»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A8E047B-988B-F124-7898-3BA58B7735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744168"/>
            <a:ext cx="9448800" cy="685800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Выполнили студенты группы 932302:</a:t>
            </a:r>
          </a:p>
          <a:p>
            <a:r>
              <a:rPr lang="ru-RU" dirty="0" err="1"/>
              <a:t>Лебёдкин</a:t>
            </a:r>
            <a:r>
              <a:rPr lang="ru-RU" dirty="0"/>
              <a:t> Владислав и Травкова Ирина</a:t>
            </a:r>
          </a:p>
        </p:txBody>
      </p:sp>
    </p:spTree>
    <p:extLst>
      <p:ext uri="{BB962C8B-B14F-4D97-AF65-F5344CB8AC3E}">
        <p14:creationId xmlns:p14="http://schemas.microsoft.com/office/powerpoint/2010/main" val="4270760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D222CD-256C-2877-D299-97F504E8C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7C45C07-1990-A7D8-52AF-1234254B2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/>
              <a:t>Автоматическое распознавание продуктов питания востребовано в:</a:t>
            </a:r>
          </a:p>
          <a:p>
            <a:pPr lvl="0"/>
            <a:r>
              <a:rPr lang="ru-RU" dirty="0"/>
              <a:t>Умных кассах и весах самообслуживания в супермаркетах</a:t>
            </a:r>
          </a:p>
          <a:p>
            <a:pPr lvl="0"/>
            <a:r>
              <a:rPr lang="ru-RU" dirty="0"/>
              <a:t>Мобильных приложениях для подсчёта калорий и диетологии</a:t>
            </a:r>
          </a:p>
          <a:p>
            <a:pPr lvl="0"/>
            <a:r>
              <a:rPr lang="ru-RU" dirty="0"/>
              <a:t>Роботизированных системах сортировки и контроля качества на производствах.</a:t>
            </a:r>
          </a:p>
          <a:p>
            <a:pPr marL="0" lvl="0" indent="0">
              <a:buNone/>
            </a:pPr>
            <a:r>
              <a:rPr lang="ru-RU" dirty="0"/>
              <a:t>Ручная классификация трудоёмка и подвержена ошибкам. Компьютерное зрение позволяет решать задачу быстро, масштабируемо и с высокой точностью.</a:t>
            </a:r>
          </a:p>
        </p:txBody>
      </p:sp>
    </p:spTree>
    <p:extLst>
      <p:ext uri="{BB962C8B-B14F-4D97-AF65-F5344CB8AC3E}">
        <p14:creationId xmlns:p14="http://schemas.microsoft.com/office/powerpoint/2010/main" val="1627108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724AA5-12C7-9B57-C2AC-D6CEB0603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7733A3-DA82-C185-2B52-64A36F213E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/>
              <a:t>Цель мини-проекта: </a:t>
            </a:r>
            <a:r>
              <a:rPr lang="ru-RU" dirty="0"/>
              <a:t>Разработать систему автоматической классификации фруктов и овощей по изображениям</a:t>
            </a:r>
          </a:p>
          <a:p>
            <a:pPr marL="0" indent="0">
              <a:buNone/>
            </a:pPr>
            <a:r>
              <a:rPr lang="ru-RU" b="1" dirty="0"/>
              <a:t>Задачи:</a:t>
            </a:r>
            <a:endParaRPr lang="ru-RU" dirty="0"/>
          </a:p>
          <a:p>
            <a:pPr marL="457200" lvl="0" indent="-457200">
              <a:buFont typeface="+mj-lt"/>
              <a:buAutoNum type="arabicPeriod"/>
            </a:pPr>
            <a:r>
              <a:rPr lang="ru-RU" dirty="0"/>
              <a:t>Загрузить и провести разведочный анализ датасета</a:t>
            </a:r>
          </a:p>
          <a:p>
            <a:pPr marL="457200" lvl="0" indent="-457200">
              <a:buFont typeface="+mj-lt"/>
              <a:buAutoNum type="arabicPeriod"/>
            </a:pPr>
            <a:r>
              <a:rPr lang="ru-RU" dirty="0"/>
              <a:t>Выполнить предобработку данных</a:t>
            </a:r>
          </a:p>
          <a:p>
            <a:pPr marL="457200" lvl="0" indent="-457200">
              <a:buFont typeface="+mj-lt"/>
              <a:buAutoNum type="arabicPeriod"/>
            </a:pPr>
            <a:r>
              <a:rPr lang="ru-RU" dirty="0"/>
              <a:t>Реализовать и обучить модель классификации</a:t>
            </a:r>
          </a:p>
          <a:p>
            <a:pPr marL="457200" lvl="0" indent="-457200">
              <a:buFont typeface="+mj-lt"/>
              <a:buAutoNum type="arabicPeriod"/>
            </a:pPr>
            <a:r>
              <a:rPr lang="ru-RU" dirty="0"/>
              <a:t>Оценить качество модели</a:t>
            </a:r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Проанализировать ошибки модели, сформулировать рекомендации по улучшению.</a:t>
            </a:r>
          </a:p>
        </p:txBody>
      </p:sp>
    </p:spTree>
    <p:extLst>
      <p:ext uri="{BB962C8B-B14F-4D97-AF65-F5344CB8AC3E}">
        <p14:creationId xmlns:p14="http://schemas.microsoft.com/office/powerpoint/2010/main" val="3290090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F1478A-1FF3-1C57-9003-7276594DA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Описание датасета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C032888-3C47-2040-E892-478CFFDF62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В работе используется датасет </a:t>
            </a:r>
            <a:r>
              <a:rPr lang="en-US" dirty="0"/>
              <a:t>Kaggle</a:t>
            </a:r>
            <a:r>
              <a:rPr lang="ru-RU" dirty="0"/>
              <a:t>: </a:t>
            </a:r>
            <a:r>
              <a:rPr lang="ru-RU" b="1" dirty="0" err="1"/>
              <a:t>Fruit</a:t>
            </a:r>
            <a:r>
              <a:rPr lang="ru-RU" b="1" dirty="0"/>
              <a:t> </a:t>
            </a:r>
            <a:r>
              <a:rPr lang="ru-RU" b="1" dirty="0" err="1"/>
              <a:t>and</a:t>
            </a:r>
            <a:r>
              <a:rPr lang="ru-RU" b="1" dirty="0"/>
              <a:t> </a:t>
            </a:r>
            <a:r>
              <a:rPr lang="ru-RU" b="1" dirty="0" err="1"/>
              <a:t>Vegetable</a:t>
            </a:r>
            <a:r>
              <a:rPr lang="ru-RU" b="1" dirty="0"/>
              <a:t> Image </a:t>
            </a:r>
            <a:r>
              <a:rPr lang="ru-RU" b="1" dirty="0" err="1"/>
              <a:t>Recognition</a:t>
            </a:r>
            <a:endParaRPr lang="ru-RU" b="1" dirty="0"/>
          </a:p>
          <a:p>
            <a:pPr lvl="0"/>
            <a:r>
              <a:rPr lang="ru-RU" dirty="0"/>
              <a:t>36 классов (яблоки, бананы, апельсины, морковь и т.д.)</a:t>
            </a:r>
          </a:p>
          <a:p>
            <a:pPr lvl="0"/>
            <a:r>
              <a:rPr lang="ru-RU" dirty="0"/>
              <a:t>Объём: 16 000 изображений</a:t>
            </a:r>
          </a:p>
          <a:p>
            <a:pPr lvl="0"/>
            <a:r>
              <a:rPr lang="ru-RU" dirty="0"/>
              <a:t>Размер изображений: 100×100 пикселей</a:t>
            </a:r>
          </a:p>
          <a:p>
            <a:pPr lvl="0"/>
            <a:r>
              <a:rPr lang="ru-RU" dirty="0"/>
              <a:t>Структура: отдельные папки для каждого класса</a:t>
            </a:r>
          </a:p>
          <a:p>
            <a:pPr lvl="0"/>
            <a:r>
              <a:rPr lang="ru-RU" dirty="0"/>
              <a:t>Разделение: </a:t>
            </a:r>
            <a:r>
              <a:rPr lang="ru-RU" dirty="0" err="1"/>
              <a:t>train</a:t>
            </a:r>
            <a:r>
              <a:rPr lang="ru-RU" dirty="0"/>
              <a:t> / </a:t>
            </a:r>
            <a:r>
              <a:rPr lang="ru-RU" dirty="0" err="1"/>
              <a:t>test</a:t>
            </a:r>
            <a:r>
              <a:rPr lang="ru-RU" dirty="0"/>
              <a:t> / </a:t>
            </a:r>
            <a:r>
              <a:rPr lang="ru-RU" dirty="0" err="1"/>
              <a:t>validation</a:t>
            </a:r>
            <a:endParaRPr lang="ru-RU" dirty="0"/>
          </a:p>
          <a:p>
            <a:pPr lvl="0"/>
            <a:endParaRPr lang="ru-RU" dirty="0"/>
          </a:p>
          <a:p>
            <a:pPr lvl="0"/>
            <a:endParaRPr lang="ru-RU" dirty="0"/>
          </a:p>
          <a:p>
            <a:pPr marL="0" lvl="0" indent="0" algn="ctr">
              <a:buNone/>
            </a:pPr>
            <a:r>
              <a:rPr lang="en-US" sz="1400" dirty="0"/>
              <a:t>https://www.kaggle.com/datasets/kritikseth/fruit-and-vegetable-image-recognition/data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2977496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D66A69-351F-BEEA-C0DA-FEABE0DA0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решения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BDC70B4-BBBB-9632-E02D-2AF21919EF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/>
              <a:t>Подход 1: Классические методы ML:</a:t>
            </a:r>
            <a:endParaRPr lang="ru-RU" dirty="0"/>
          </a:p>
          <a:p>
            <a:pPr lvl="0"/>
            <a:r>
              <a:rPr lang="ru-RU" dirty="0"/>
              <a:t>Извлечение признаков: цветовые гистограммы, </a:t>
            </a:r>
            <a:r>
              <a:rPr lang="en-US" dirty="0"/>
              <a:t>HOG</a:t>
            </a:r>
            <a:endParaRPr lang="ru-RU" dirty="0"/>
          </a:p>
          <a:p>
            <a:pPr lvl="0"/>
            <a:r>
              <a:rPr lang="ru-RU" dirty="0"/>
              <a:t>Классификатор: SVM, k-NN, </a:t>
            </a:r>
            <a:r>
              <a:rPr lang="ru-RU" dirty="0" err="1"/>
              <a:t>Random</a:t>
            </a:r>
            <a:r>
              <a:rPr lang="ru-RU" dirty="0"/>
              <a:t> </a:t>
            </a:r>
            <a:r>
              <a:rPr lang="ru-RU" dirty="0" err="1"/>
              <a:t>Forest</a:t>
            </a:r>
            <a:endParaRPr lang="ru-RU" dirty="0"/>
          </a:p>
          <a:p>
            <a:pPr marL="0" lv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b="1" dirty="0"/>
              <a:t>Подход 2: Сверточные нейронные сети (CNN):</a:t>
            </a:r>
            <a:endParaRPr lang="ru-RU" dirty="0"/>
          </a:p>
          <a:p>
            <a:pPr lvl="0"/>
            <a:r>
              <a:rPr lang="ru-RU" dirty="0"/>
              <a:t>Собственная архитектура CNN</a:t>
            </a:r>
          </a:p>
          <a:p>
            <a:pPr lvl="0"/>
            <a:r>
              <a:rPr lang="ru-RU" dirty="0"/>
              <a:t>Transfer Learning на базе </a:t>
            </a:r>
            <a:r>
              <a:rPr lang="ru-RU" dirty="0" err="1"/>
              <a:t>MobileNet</a:t>
            </a:r>
            <a:r>
              <a:rPr lang="en-US" dirty="0"/>
              <a:t>V2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36675995"/>
      </p:ext>
    </p:extLst>
  </p:cSld>
  <p:clrMapOvr>
    <a:masterClrMapping/>
  </p:clrMapOvr>
</p:sld>
</file>

<file path=ppt/theme/theme1.xml><?xml version="1.0" encoding="utf-8"?>
<a:theme xmlns:a="http://schemas.openxmlformats.org/drawingml/2006/main" name="След самолета">
  <a:themeElements>
    <a:clrScheme name="След самолета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След самолета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лед самолета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След самолета</Template>
  <TotalTime>46</TotalTime>
  <Words>224</Words>
  <Application>Microsoft Office PowerPoint</Application>
  <PresentationFormat>Широкоэкранный</PresentationFormat>
  <Paragraphs>35</Paragraphs>
  <Slides>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8" baseType="lpstr">
      <vt:lpstr>Arial</vt:lpstr>
      <vt:lpstr>Century Gothic</vt:lpstr>
      <vt:lpstr>След самолета</vt:lpstr>
      <vt:lpstr>Мини-проект: «Классификация фруктов и овощей по изображениям»</vt:lpstr>
      <vt:lpstr>Актуальность проекта</vt:lpstr>
      <vt:lpstr>Цель и задачи</vt:lpstr>
      <vt:lpstr>Описание датасета</vt:lpstr>
      <vt:lpstr>Методы решения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Ирина</dc:creator>
  <cp:lastModifiedBy>Ирина</cp:lastModifiedBy>
  <cp:revision>6</cp:revision>
  <dcterms:created xsi:type="dcterms:W3CDTF">2026-09-23T10:29:05Z</dcterms:created>
  <dcterms:modified xsi:type="dcterms:W3CDTF">2026-09-26T11:28:38Z</dcterms:modified>
</cp:coreProperties>
</file>