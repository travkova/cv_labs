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87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110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6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97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60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79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8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49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43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32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708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5927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970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452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15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269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905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C4054-C037-44EF-A8EA-3C2C0EDADA3D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F1634-B337-41A4-B963-9BE78FD85C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944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61ECD-06C8-00F0-C26C-3808D54BBC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Мини-проект: «Классификация фруктов и овощей по изображениям»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8E047B-988B-F124-7898-3BA58B773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44168"/>
            <a:ext cx="9448800" cy="6858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Выполнили студенты группы 932302:</a:t>
            </a:r>
          </a:p>
          <a:p>
            <a:r>
              <a:rPr lang="ru-RU" dirty="0" err="1"/>
              <a:t>Лебёдкин</a:t>
            </a:r>
            <a:r>
              <a:rPr lang="ru-RU" dirty="0"/>
              <a:t> Владислав и Травкова Ирина</a:t>
            </a:r>
          </a:p>
        </p:txBody>
      </p:sp>
    </p:spTree>
    <p:extLst>
      <p:ext uri="{BB962C8B-B14F-4D97-AF65-F5344CB8AC3E}">
        <p14:creationId xmlns:p14="http://schemas.microsoft.com/office/powerpoint/2010/main" val="427076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222CD-256C-2877-D299-97F504E8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45C07-1990-A7D8-52AF-1234254B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Автоматическое распознавание продуктов питания востребовано в:</a:t>
            </a:r>
          </a:p>
          <a:p>
            <a:pPr lvl="0"/>
            <a:r>
              <a:rPr lang="ru-RU" dirty="0"/>
              <a:t>Умных кассах и весах самообслуживания в супермаркетах</a:t>
            </a:r>
          </a:p>
          <a:p>
            <a:pPr lvl="0"/>
            <a:r>
              <a:rPr lang="ru-RU" dirty="0"/>
              <a:t>Мобильных приложениях для подсчёта калорий и диетологии</a:t>
            </a:r>
          </a:p>
          <a:p>
            <a:pPr lvl="0"/>
            <a:r>
              <a:rPr lang="ru-RU" dirty="0"/>
              <a:t>Роботизированных системах сортировки и контроля качества на производствах.</a:t>
            </a:r>
          </a:p>
          <a:p>
            <a:pPr marL="0" lvl="0" indent="0">
              <a:buNone/>
            </a:pPr>
            <a:r>
              <a:rPr lang="ru-RU" dirty="0"/>
              <a:t>Ручная классификация трудоёмка и подвержена ошибкам. Компьютерное зрение позволяет решать задачу быстро, масштабируемо и с высокой точностью.</a:t>
            </a:r>
          </a:p>
        </p:txBody>
      </p:sp>
    </p:spTree>
    <p:extLst>
      <p:ext uri="{BB962C8B-B14F-4D97-AF65-F5344CB8AC3E}">
        <p14:creationId xmlns:p14="http://schemas.microsoft.com/office/powerpoint/2010/main" val="162710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24AA5-12C7-9B57-C2AC-D6CEB060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7733A3-DA82-C185-2B52-64A36F213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Цель мини-проекта: </a:t>
            </a:r>
            <a:r>
              <a:rPr lang="ru-RU" dirty="0"/>
              <a:t>Разработать систему автоматической классификации фруктов и овощей по изображениям</a:t>
            </a:r>
          </a:p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Загрузить и провести разведочный анализ датасета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Выполнить предобработку данных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Реализовать и обучить модель классификации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Оценить качество модели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Проанализировать ошибки модели, сформулировать рекомендации по улучшению.</a:t>
            </a:r>
          </a:p>
        </p:txBody>
      </p:sp>
    </p:spTree>
    <p:extLst>
      <p:ext uri="{BB962C8B-B14F-4D97-AF65-F5344CB8AC3E}">
        <p14:creationId xmlns:p14="http://schemas.microsoft.com/office/powerpoint/2010/main" val="32900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1478A-1FF3-1C57-9003-7276594DA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32888-3C47-2040-E892-478CFFDF6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работе используется датасет </a:t>
            </a:r>
            <a:r>
              <a:rPr lang="en-US" dirty="0"/>
              <a:t>Kaggle</a:t>
            </a:r>
            <a:r>
              <a:rPr lang="ru-RU" dirty="0"/>
              <a:t>: </a:t>
            </a:r>
            <a:r>
              <a:rPr lang="ru-RU" b="1" dirty="0" err="1"/>
              <a:t>Fruit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Vegetable</a:t>
            </a:r>
            <a:r>
              <a:rPr lang="ru-RU" b="1" dirty="0"/>
              <a:t> Image </a:t>
            </a:r>
            <a:r>
              <a:rPr lang="ru-RU" b="1" dirty="0" err="1"/>
              <a:t>Recognition</a:t>
            </a:r>
            <a:endParaRPr lang="ru-RU" b="1" dirty="0"/>
          </a:p>
          <a:p>
            <a:pPr lvl="0"/>
            <a:r>
              <a:rPr lang="ru-RU" dirty="0"/>
              <a:t>36 классов (яблоки, бананы, апельсины, морковь и т.д.)</a:t>
            </a:r>
          </a:p>
          <a:p>
            <a:pPr lvl="0"/>
            <a:r>
              <a:rPr lang="ru-RU" dirty="0"/>
              <a:t>Объём: 16 000 изображений</a:t>
            </a:r>
          </a:p>
          <a:p>
            <a:pPr lvl="0"/>
            <a:r>
              <a:rPr lang="ru-RU" dirty="0"/>
              <a:t>Размер изображений: 100×100 пикселей</a:t>
            </a:r>
          </a:p>
          <a:p>
            <a:pPr lvl="0"/>
            <a:r>
              <a:rPr lang="ru-RU" dirty="0"/>
              <a:t>Структура: отдельные папки для каждого класса</a:t>
            </a:r>
          </a:p>
          <a:p>
            <a:pPr lvl="0"/>
            <a:r>
              <a:rPr lang="ru-RU" dirty="0"/>
              <a:t>Разделение: </a:t>
            </a:r>
            <a:r>
              <a:rPr lang="ru-RU" dirty="0" err="1"/>
              <a:t>train</a:t>
            </a:r>
            <a:r>
              <a:rPr lang="ru-RU" dirty="0"/>
              <a:t> / </a:t>
            </a:r>
            <a:r>
              <a:rPr lang="ru-RU" dirty="0" err="1"/>
              <a:t>test</a:t>
            </a:r>
            <a:r>
              <a:rPr lang="ru-RU" dirty="0"/>
              <a:t> / </a:t>
            </a:r>
            <a:r>
              <a:rPr lang="ru-RU" dirty="0" err="1"/>
              <a:t>validation</a:t>
            </a:r>
            <a:endParaRPr lang="ru-RU" dirty="0"/>
          </a:p>
          <a:p>
            <a:pPr lvl="0"/>
            <a:endParaRPr lang="ru-RU" dirty="0"/>
          </a:p>
          <a:p>
            <a:pPr lvl="0"/>
            <a:endParaRPr lang="ru-RU" dirty="0"/>
          </a:p>
          <a:p>
            <a:pPr marL="0" lvl="0" indent="0" algn="ctr">
              <a:buNone/>
            </a:pPr>
            <a:r>
              <a:rPr lang="en-US" sz="1400" dirty="0"/>
              <a:t>https://www.kaggle.com/datasets/kritikseth/fruit-and-vegetable-image-recognition/data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774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66A69-351F-BEEA-C0DA-FEABE0DA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DC70B4-BBBB-9632-E02D-2AF21919E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Подход 1: Классические методы ML:</a:t>
            </a:r>
            <a:endParaRPr lang="ru-RU" dirty="0"/>
          </a:p>
          <a:p>
            <a:pPr lvl="0"/>
            <a:r>
              <a:rPr lang="ru-RU" dirty="0"/>
              <a:t>Извлечение признаков: цветовые гистограммы, </a:t>
            </a:r>
            <a:r>
              <a:rPr lang="en-US" dirty="0"/>
              <a:t>HOG</a:t>
            </a:r>
            <a:endParaRPr lang="ru-RU" dirty="0"/>
          </a:p>
          <a:p>
            <a:pPr lvl="0"/>
            <a:r>
              <a:rPr lang="ru-RU" dirty="0"/>
              <a:t>Классификатор: SVM, k-NN, 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Forest</a:t>
            </a:r>
            <a:endParaRPr lang="ru-RU" dirty="0"/>
          </a:p>
          <a:p>
            <a:pPr marL="0" lv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Подход 2: Сверточные нейронные сети (CNN):</a:t>
            </a:r>
            <a:endParaRPr lang="ru-RU" dirty="0"/>
          </a:p>
          <a:p>
            <a:pPr lvl="0"/>
            <a:r>
              <a:rPr lang="ru-RU" dirty="0"/>
              <a:t>Собственная архитектура CNN</a:t>
            </a:r>
          </a:p>
          <a:p>
            <a:pPr lvl="0"/>
            <a:r>
              <a:rPr lang="ru-RU" dirty="0"/>
              <a:t>Transfer Learning на базе </a:t>
            </a:r>
            <a:r>
              <a:rPr lang="ru-RU" dirty="0" err="1"/>
              <a:t>MobileNet</a:t>
            </a:r>
            <a:r>
              <a:rPr lang="en-US" dirty="0"/>
              <a:t>V2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667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FCE5B-9CAF-8BA7-2EFD-3B229AFC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Ожидаемые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C25A4-FDF0-96B7-3672-0C2722136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Сравнительный анализ</a:t>
            </a:r>
            <a:r>
              <a:rPr lang="ru-RU" dirty="0"/>
              <a:t> двух подходов: классического </a:t>
            </a:r>
            <a:r>
              <a:rPr lang="en-US" dirty="0"/>
              <a:t>ML </a:t>
            </a:r>
            <a:r>
              <a:rPr lang="ru-RU" dirty="0"/>
              <a:t>и сверточных нейронных сетей	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Работающая </a:t>
            </a:r>
            <a:r>
              <a:rPr lang="ru-RU" b="1" dirty="0"/>
              <a:t>модель классификации</a:t>
            </a:r>
            <a:r>
              <a:rPr lang="ru-RU" dirty="0"/>
              <a:t>, распознающая 36 классов фруктов и овощей с высокой точностью (</a:t>
            </a:r>
            <a:r>
              <a:rPr lang="en-US" dirty="0"/>
              <a:t>&gt;80%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8935938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56</TotalTime>
  <Words>256</Words>
  <Application>Microsoft Office PowerPoint</Application>
  <PresentationFormat>Широкоэкранный</PresentationFormat>
  <Paragraphs>39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След самолета</vt:lpstr>
      <vt:lpstr>Мини-проект: «Классификация фруктов и овощей по изображениям»</vt:lpstr>
      <vt:lpstr>Актуальность проекта</vt:lpstr>
      <vt:lpstr>Цель и задачи</vt:lpstr>
      <vt:lpstr>Описание датасета</vt:lpstr>
      <vt:lpstr>Методы решения</vt:lpstr>
      <vt:lpstr>Ожидаемые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Ирина</dc:creator>
  <cp:lastModifiedBy>Ирина</cp:lastModifiedBy>
  <cp:revision>7</cp:revision>
  <dcterms:created xsi:type="dcterms:W3CDTF">2026-09-23T10:29:05Z</dcterms:created>
  <dcterms:modified xsi:type="dcterms:W3CDTF">2026-09-29T13:11:34Z</dcterms:modified>
</cp:coreProperties>
</file>