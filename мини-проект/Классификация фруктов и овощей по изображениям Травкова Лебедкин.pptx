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49d955e4cb487d" /><Relationship Type="http://schemas.openxmlformats.org/officeDocument/2006/relationships/extended-properties" Target="/docProps/app.xml" Id="R744e79b01c354704" /><Relationship Type="http://schemas.openxmlformats.org/officeDocument/2006/relationships/officeDocument" Target="/ppt/presentation.xml" Id="Rc97ec896a6a349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57da87e1f44294"/>
  </p:sldMasterIdLst>
  <p:notesMasterIdLst>
    <p:notesMasterId xmlns:r="http://schemas.openxmlformats.org/officeDocument/2006/relationships" r:id="Rb19076bef280482b"/>
  </p:notesMasterIdLst>
  <p:sldIdLst>
    <p:sldId xmlns:r="http://schemas.openxmlformats.org/officeDocument/2006/relationships" id="256" r:id="Rba9d2f611aa64888"/>
    <p:sldId xmlns:r="http://schemas.openxmlformats.org/officeDocument/2006/relationships" id="257" r:id="Rcca47d4fbfd540b6"/>
    <p:sldId xmlns:r="http://schemas.openxmlformats.org/officeDocument/2006/relationships" id="258" r:id="R8017cc79da7f4620"/>
    <p:sldId xmlns:r="http://schemas.openxmlformats.org/officeDocument/2006/relationships" id="259" r:id="Ref3a4c60b5524962"/>
    <p:sldId xmlns:r="http://schemas.openxmlformats.org/officeDocument/2006/relationships" id="260" r:id="Raa7d67f538374b59"/>
    <p:sldId xmlns:r="http://schemas.openxmlformats.org/officeDocument/2006/relationships" id="261" r:id="R5650c7d20ca648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0fa76660474d7a" /><Relationship Type="http://schemas.openxmlformats.org/officeDocument/2006/relationships/slideMaster" Target="/ppt/slideMasters/slideMaster1.xml" Id="R7757da87e1f44294" /><Relationship Type="http://schemas.openxmlformats.org/officeDocument/2006/relationships/notesMaster" Target="/ppt/notesMasters/notesMaster1.xml" Id="Rb19076bef280482b" /><Relationship Type="http://schemas.openxmlformats.org/officeDocument/2006/relationships/presProps" Target="/ppt/presProps.xml" Id="R2e4ab217188147f8" /><Relationship Type="http://schemas.openxmlformats.org/officeDocument/2006/relationships/tableStyles" Target="/ppt/tableStyles.xml" Id="R3201d9fd8194430e" /><Relationship Type="http://schemas.openxmlformats.org/officeDocument/2006/relationships/slide" Target="/ppt/slides/slide1.xml" Id="Rba9d2f611aa64888" /><Relationship Type="http://schemas.openxmlformats.org/officeDocument/2006/relationships/slide" Target="/ppt/slides/slide2.xml" Id="Rcca47d4fbfd540b6" /><Relationship Type="http://schemas.openxmlformats.org/officeDocument/2006/relationships/slide" Target="/ppt/slides/slide3.xml" Id="R8017cc79da7f4620" /><Relationship Type="http://schemas.openxmlformats.org/officeDocument/2006/relationships/slide" Target="/ppt/slides/slide4.xml" Id="Ref3a4c60b5524962" /><Relationship Type="http://schemas.openxmlformats.org/officeDocument/2006/relationships/slide" Target="/ppt/slides/slide5.xml" Id="Raa7d67f538374b59" /><Relationship Type="http://schemas.openxmlformats.org/officeDocument/2006/relationships/slide" Target="/ppt/slides/slide6.xml" Id="R5650c7d20ca648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8834b7e48545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1cafe99b5a4b3e" /><Relationship Type="http://schemas.openxmlformats.org/officeDocument/2006/relationships/notesMaster" Target="/ppt/notesMasters/notesMaster1.xml" Id="Rd691c739b7654e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2239750631429b" /><Relationship Type="http://schemas.openxmlformats.org/officeDocument/2006/relationships/notesMaster" Target="/ppt/notesMasters/notesMaster1.xml" Id="R3a1104854bb847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391f11fb554d33" /><Relationship Type="http://schemas.openxmlformats.org/officeDocument/2006/relationships/notesMaster" Target="/ppt/notesMasters/notesMaster1.xml" Id="R6cea1203e57a49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fabb3ca76d4748" /><Relationship Type="http://schemas.openxmlformats.org/officeDocument/2006/relationships/notesMaster" Target="/ppt/notesMasters/notesMaster1.xml" Id="R9217c881d05c48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9a95dfce4a4c7b" /><Relationship Type="http://schemas.openxmlformats.org/officeDocument/2006/relationships/notesMaster" Target="/ppt/notesMasters/notesMaster1.xml" Id="R43b0c8501b8541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d741b2b88f471e" /><Relationship Type="http://schemas.openxmlformats.org/officeDocument/2006/relationships/notesMaster" Target="/ppt/notesMasters/notesMaster1.xml" Id="Re865eaed8e264f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fc28a291c4c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ec791513654e54" /><Relationship Type="http://schemas.openxmlformats.org/officeDocument/2006/relationships/slideLayout" Target="/ppt/slideLayouts/slideLayout1.xml" Id="Red6b719b0e0945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6b719b0e0945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cf7e54f774d26" /><Relationship Type="http://schemas.openxmlformats.org/officeDocument/2006/relationships/image" Target="/ppt/media/image.png" Id="Rabacf5d4a45844ad" /><Relationship Type="http://schemas.openxmlformats.org/officeDocument/2006/relationships/notesSlide" Target="/ppt/notesSlides/notesSlide1.xml" Id="R87ae19fe5b9b4d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a863ccd704eeb" /><Relationship Type="http://schemas.openxmlformats.org/officeDocument/2006/relationships/notesSlide" Target="/ppt/notesSlides/notesSlide2.xml" Id="R50e19a94ec894f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e413593d24e4a" /><Relationship Type="http://schemas.openxmlformats.org/officeDocument/2006/relationships/notesSlide" Target="/ppt/notesSlides/notesSlide3.xml" Id="R968e2d29708c4f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b5746e55c418e" /><Relationship Type="http://schemas.openxmlformats.org/officeDocument/2006/relationships/notesSlide" Target="/ppt/notesSlides/notesSlide4.xml" Id="R7f859568192f45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4564ed65349b4" /><Relationship Type="http://schemas.openxmlformats.org/officeDocument/2006/relationships/notesSlide" Target="/ppt/notesSlides/notesSlide5.xml" Id="Rf2c4e247854e43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62bb89f434a3a" /><Relationship Type="http://schemas.openxmlformats.org/officeDocument/2006/relationships/notesSlide" Target="/ppt/notesSlides/notesSlide6.xml" Id="R45c9db2b864447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cf5d4a45844a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1BE49-EAE2-446B-89B0-AA03AD52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44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049EC-F60A-4C58-B834-16620A58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47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E31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173E31"/>
                </a:solidFill>
                <a:latin typeface="DejaVu Sans"/>
                <a:ea typeface="DejaVu Sans"/>
                <a:cs typeface="DejaVu Sans"/>
              </a:rPr>
              <a:t>Мини-проект: «Классификация фруктов и овощей по изображениям»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D97D2-7DF2-4BB0-B8BD-422CFC4D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6A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3756A"/>
                </a:solidFill>
                <a:latin typeface="DejaVu Sans"/>
                <a:ea typeface="DejaVu Sans"/>
                <a:cs typeface="DejaVu Sans"/>
              </a:rPr>
              <a:t>Выполнили студенты группы 932302: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8B3BC-3C9C-406B-AB88-15A64FD5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E31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3E31"/>
                </a:solidFill>
                <a:latin typeface="DejaVu Sans"/>
                <a:ea typeface="DejaVu Sans"/>
                <a:cs typeface="DejaVu Sans"/>
              </a:rPr>
              <a:t>Лебёдкин Владислав и Травкова Ирина</a:t>
            </a:r>
          </a:p>
        </p:txBody>
      </p:sp>
    </p:spTree>
    <p:extLst>
      <p:ext uri="{BB962C8B-B14F-4D97-AF65-F5344CB8AC3E}">
        <p14:creationId xmlns:p14="http://schemas.microsoft.com/office/powerpoint/2010/main" val="12808311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FB430-E91E-4E6F-9C7B-09B281B2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3E31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3E31"/>
                </a:solidFill>
                <a:latin typeface="DejaVu Sans"/>
                <a:ea typeface="DejaVu Sans"/>
                <a:cs typeface="DejaVu Sans"/>
              </a:rPr>
              <a:t>Актуальность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6CF89-E4FE-43D6-A773-9634764A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44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FEEEB-79A5-480D-8EC8-E74E036C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D3029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D3029"/>
                </a:solidFill>
                <a:latin typeface="DejaVu Sans"/>
                <a:ea typeface="DejaVu Sans"/>
                <a:cs typeface="DejaVu Sans"/>
              </a:rPr>
              <a:t>Автоматическое распознавание продуктов питания востребовано в: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801CC-F51D-4173-B567-2B2DCCF6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8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E3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3E31"/>
                </a:solidFill>
                <a:latin typeface="DejaVu Sans"/>
                <a:ea typeface="DejaVu Sans"/>
                <a:cs typeface="DejaVu Sans"/>
              </a:rPr>
              <a:t>Умных кассах и весах самообслуживания в супермаркетах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FCB2E-4102-4C23-ACD6-3F932D5A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71825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E48A9-A05D-4BE8-AE15-7D5EE533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623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E3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3E31"/>
                </a:solidFill>
                <a:latin typeface="DejaVu Sans"/>
                <a:ea typeface="DejaVu Sans"/>
                <a:cs typeface="DejaVu Sans"/>
              </a:rPr>
              <a:t>Мобильных приложениях для подсчёта калорий и диетологии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9058E-51AC-4428-AC22-88443528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05275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CE2A7-1903-430D-9E6A-48E7C096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57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E3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3E31"/>
                </a:solidFill>
                <a:latin typeface="DejaVu Sans"/>
                <a:ea typeface="DejaVu Sans"/>
                <a:cs typeface="DejaVu Sans"/>
              </a:rPr>
              <a:t>Роботизированных системах сортировки и контроля качества на производствах.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CA5D6-7681-445A-8569-8C2A48B6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38725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D4A3C-78EB-498F-9187-965385E7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0525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3756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63756A"/>
                </a:solidFill>
                <a:latin typeface="DejaVu Sans"/>
                <a:ea typeface="DejaVu Sans"/>
                <a:cs typeface="DejaVu Sans"/>
              </a:rPr>
              <a:t>Ручная классификация трудоёмка и подвержена ошибкам. Компьютерное зрение позволяет решать задачу быстро, масштабируемо и с высокой точностью.</a:t>
            </a:r>
          </a:p>
        </p:txBody>
      </p:sp>
    </p:spTree>
    <p:extLst>
      <p:ext uri="{BB962C8B-B14F-4D97-AF65-F5344CB8AC3E}">
        <p14:creationId xmlns:p14="http://schemas.microsoft.com/office/powerpoint/2010/main" val="11398908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BB7C7-A124-422A-8C21-D7D30888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3E31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3E31"/>
                </a:solidFill>
                <a:latin typeface="DejaVu Sans"/>
                <a:ea typeface="DejaVu Sans"/>
                <a:cs typeface="DejaVu Sans"/>
              </a:rPr>
              <a:t>Цель и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955A3-2859-4D9E-B833-08EB0948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44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84A32-8767-4466-A38B-A17AA099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1744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17440"/>
                </a:solidFill>
                <a:latin typeface="DejaVu Sans"/>
                <a:ea typeface="DejaVu Sans"/>
                <a:cs typeface="DejaVu Sans"/>
              </a:rPr>
              <a:t>Цель мини-проекта: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60A5D-9216-4563-A403-7032D698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8597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3E31"/>
                </a:solidFill>
                <a:latin typeface="DejaVu Sans"/>
                <a:ea typeface="DejaVu Sans"/>
                <a:cs typeface="DejaVu Sans"/>
              </a:rPr>
              <a:t>Разработать систему автоматической классификации фруктов и овощей по изображениям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F572F-8E8F-4C53-BF9A-8E33366B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715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16B43-9744-4CF9-9FE2-5DDF944E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E3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3E31"/>
                </a:solidFill>
                <a:latin typeface="DejaVu Sans"/>
                <a:ea typeface="DejaVu Sans"/>
                <a:cs typeface="DejaVu Sans"/>
              </a:rPr>
              <a:t>Задачи: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B99AD-9C74-467D-B9B6-367BBC96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17440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1744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6DAA5-425F-47AC-A595-28801390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529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D302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D3029"/>
                </a:solidFill>
                <a:latin typeface="DejaVu Sans"/>
                <a:ea typeface="DejaVu Sans"/>
                <a:cs typeface="DejaVu Sans"/>
              </a:rPr>
              <a:t>Загрузить и провести разведочный анализ датасета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6B9F9-4CC5-433D-8848-422BB6CB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17440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1744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4E639-2C01-49B7-A707-69CFF550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D302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D3029"/>
                </a:solidFill>
                <a:latin typeface="DejaVu Sans"/>
                <a:ea typeface="DejaVu Sans"/>
                <a:cs typeface="DejaVu Sans"/>
              </a:rPr>
              <a:t>Выполнить предобработку данных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14FB4-3F2D-4338-B58A-620E2EAA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17440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17440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6BFF9A-B46C-4AA5-A2A5-2C6CD9A2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245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D302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D3029"/>
                </a:solidFill>
                <a:latin typeface="DejaVu Sans"/>
                <a:ea typeface="DejaVu Sans"/>
                <a:cs typeface="DejaVu Sans"/>
              </a:rPr>
              <a:t>Реализовать и обучить модель классификации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A5D11-1C4E-4B75-BEF6-89176B22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1719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17440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17440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411E4-BC4A-4AA5-93F2-F92F9F9D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529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D302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D3029"/>
                </a:solidFill>
                <a:latin typeface="DejaVu Sans"/>
                <a:ea typeface="DejaVu Sans"/>
                <a:cs typeface="DejaVu Sans"/>
              </a:rPr>
              <a:t>Оценить качество модели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1765F-5B74-4699-9B4A-B32F760C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57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17440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17440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67E28-5283-4F4C-BA39-24794BAB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8387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D302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D3029"/>
                </a:solidFill>
                <a:latin typeface="DejaVu Sans"/>
                <a:ea typeface="DejaVu Sans"/>
                <a:cs typeface="DejaVu Sans"/>
              </a:rPr>
              <a:t>Проанализировать ошибки модели, сформулировать рекомендации по улучшению.</a:t>
            </a:r>
          </a:p>
        </p:txBody>
      </p:sp>
    </p:spTree>
    <p:extLst>
      <p:ext uri="{BB962C8B-B14F-4D97-AF65-F5344CB8AC3E}">
        <p14:creationId xmlns:p14="http://schemas.microsoft.com/office/powerpoint/2010/main" val="11157935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CA844-BA6B-49DC-8E51-D385E7D8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3E31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3E31"/>
                </a:solidFill>
                <a:latin typeface="DejaVu Sans"/>
                <a:ea typeface="DejaVu Sans"/>
                <a:cs typeface="DejaVu Sans"/>
              </a:rPr>
              <a:t>Описание датасета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70E55-57BF-4084-8FD1-DD9E026A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44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510B9-360D-4977-931D-FF0E8CBF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E31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E31"/>
                </a:solidFill>
                <a:latin typeface="DejaVu Sans"/>
                <a:ea typeface="DejaVu Sans"/>
                <a:cs typeface="DejaVu Sans"/>
              </a:rPr>
              <a:t>В работе используется датасет Kaggle: Fruit and Vegetable Image Recognition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D8185-A53A-4EC7-AFB6-75ADC3CB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3476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E17440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E17440"/>
                </a:solidFill>
                <a:latin typeface="DejaVu Sans"/>
                <a:ea typeface="DejaVu Sans"/>
                <a:cs typeface="DejaVu Sans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DC475-69F8-4550-9067-0EE1F244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3190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FCD27-52BF-4600-BA18-A6DA3860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319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D302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D3029"/>
                </a:solidFill>
                <a:latin typeface="DejaVu Sans"/>
                <a:ea typeface="DejaVu Sans"/>
                <a:cs typeface="DejaVu Sans"/>
              </a:rPr>
              <a:t>классов (яблоки, бананы, апельсины, морковь и т.д.)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555F8-9549-4B3E-91B2-047179BB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3476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E17440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E17440"/>
                </a:solidFill>
                <a:latin typeface="DejaVu Sans"/>
                <a:ea typeface="DejaVu Sans"/>
                <a:cs typeface="DejaVu Sans"/>
              </a:rPr>
              <a:t>16 000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635C9-3A14-4896-B13F-D03384F1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00450"/>
            <a:ext cx="3190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AF73E-5E4C-4CAD-AD92-E235151D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9525"/>
            <a:ext cx="319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D302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D3029"/>
                </a:solidFill>
                <a:latin typeface="DejaVu Sans"/>
                <a:ea typeface="DejaVu Sans"/>
                <a:cs typeface="DejaVu Sans"/>
              </a:rPr>
              <a:t>Объём: изображений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C622D-D00B-45C0-A7DD-48A9258A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47950"/>
            <a:ext cx="3476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E17440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E17440"/>
                </a:solidFill>
                <a:latin typeface="DejaVu Sans"/>
                <a:ea typeface="DejaVu Sans"/>
                <a:cs typeface="DejaVu Sans"/>
              </a:rPr>
              <a:t>100×100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2916F-D4C2-4034-8B22-4031BEE0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00450"/>
            <a:ext cx="3190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2CDC3-7025-43B2-BE7D-2BBA6C4D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19525"/>
            <a:ext cx="319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D302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D3029"/>
                </a:solidFill>
                <a:latin typeface="DejaVu Sans"/>
                <a:ea typeface="DejaVu Sans"/>
                <a:cs typeface="DejaVu Sans"/>
              </a:rPr>
              <a:t>Размер изображений: пикселей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6247D-BA77-4426-AE52-7AE3C310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E31"/>
                </a:solidFill>
                <a:latin typeface="DejaVu Sans"/>
                <a:ea typeface="DejaVu Sans"/>
                <a:cs typeface="DejaVu Sans"/>
              </a:rPr>
              <a:t>Структура: отдельные папки для каждого класса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769CE-9F68-42D1-BD71-2743D850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E3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E31"/>
                </a:solidFill>
                <a:latin typeface="DejaVu Sans"/>
                <a:ea typeface="DejaVu Sans"/>
                <a:cs typeface="DejaVu Sans"/>
              </a:rPr>
              <a:t>Разделение: train / test /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85EDC-6E84-4234-A699-91F5E0EB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56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3756A"/>
                </a:solidFill>
                <a:latin typeface="DejaVu Sans"/>
                <a:ea typeface="DejaVu Sans"/>
                <a:cs typeface="DejaVu Sans"/>
              </a:rPr>
              <a:t>https://www.kaggle.com/datasets/kritikseth/fruit-and-vegetable-image-recognition/data</a:t>
            </a:r>
          </a:p>
        </p:txBody>
      </p:sp>
    </p:spTree>
    <p:extLst>
      <p:ext uri="{BB962C8B-B14F-4D97-AF65-F5344CB8AC3E}">
        <p14:creationId xmlns:p14="http://schemas.microsoft.com/office/powerpoint/2010/main" val="4588782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06D3D-8441-481E-AEF6-B88C77E8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3E31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3E31"/>
                </a:solidFill>
                <a:latin typeface="DejaVu Sans"/>
                <a:ea typeface="DejaVu Sans"/>
                <a:cs typeface="DejaVu Sans"/>
              </a:rPr>
              <a:t>Методы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379D0-A6BB-4F03-81B0-81D1D979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44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CC826-1A9E-4384-A3DB-FF8D90B3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5095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E31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E31"/>
                </a:solidFill>
                <a:latin typeface="DejaVu Sans"/>
                <a:ea typeface="DejaVu Sans"/>
                <a:cs typeface="DejaVu Sans"/>
              </a:rPr>
              <a:t>Подход 1: Классические методы ML: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E53A8-49AB-46A4-A34A-7BEA5727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5095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6DB1B-76DD-42CE-A16A-FC3C1049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302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D3029"/>
                </a:solidFill>
                <a:latin typeface="DejaVu Sans"/>
                <a:ea typeface="DejaVu Sans"/>
                <a:cs typeface="DejaVu Sans"/>
              </a:rPr>
              <a:t>Извлечение признаков: цветовые гистограммы, HOG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355CC-A8CC-4BE8-B817-9D3AC1E3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302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D3029"/>
                </a:solidFill>
                <a:latin typeface="DejaVu Sans"/>
                <a:ea typeface="DejaVu Sans"/>
                <a:cs typeface="DejaVu Sans"/>
              </a:rPr>
              <a:t>Классификатор: SVM, k-NN, Random Forest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234BC-AF65-4145-AB4C-7C9ED3B2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E31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E31"/>
                </a:solidFill>
                <a:latin typeface="DejaVu Sans"/>
                <a:ea typeface="DejaVu Sans"/>
                <a:cs typeface="DejaVu Sans"/>
              </a:rPr>
              <a:t>Подход 2: Сверточные нейронные сети (CNN):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4B762-3663-412A-943B-2C888291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5095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A6D07-6835-4FC0-8C59-1926C5D6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9900"/>
            <a:ext cx="4857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D302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D3029"/>
                </a:solidFill>
                <a:latin typeface="DejaVu Sans"/>
                <a:ea typeface="DejaVu Sans"/>
                <a:cs typeface="DejaVu Sans"/>
              </a:rPr>
              <a:t>Собственная архитектура CNN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EE448-D5CD-4CBF-9EBD-90ACC970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D302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D3029"/>
                </a:solidFill>
                <a:latin typeface="DejaVu Sans"/>
                <a:ea typeface="DejaVu Sans"/>
                <a:cs typeface="DejaVu Sans"/>
              </a:rPr>
              <a:t>Transfer Learning на базе MobileNet V2</a:t>
            </a:r>
          </a:p>
        </p:txBody>
      </p:sp>
    </p:spTree>
    <p:extLst>
      <p:ext uri="{BB962C8B-B14F-4D97-AF65-F5344CB8AC3E}">
        <p14:creationId xmlns:p14="http://schemas.microsoft.com/office/powerpoint/2010/main" val="19236867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C60B3-20A4-4FC7-9624-F19B3E20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10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3E31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3E31"/>
                </a:solidFill>
                <a:latin typeface="DejaVu Sans"/>
                <a:ea typeface="DejaVu Sans"/>
                <a:cs typeface="DejaVu Sans"/>
              </a:rPr>
              <a:t>Ожидаемые результаты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D1349-5FD2-465D-90CF-37CA123B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44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D4A73-6F9B-4646-A06A-33DD7EA6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1057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3E31"/>
                </a:solidFill>
                <a:latin typeface="DejaVu Sans"/>
                <a:ea typeface="DejaVu Sans"/>
                <a:cs typeface="DejaVu Sans"/>
              </a:rPr>
              <a:t>Сравнительный анализ двух подходов: классического ML и сверточных нейронных сетей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E7B66-1857-4754-A415-85850FAA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E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13AEF-5EFC-48AC-BF4F-1BAD29EE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86225"/>
            <a:ext cx="1057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E3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3E31"/>
                </a:solidFill>
                <a:latin typeface="DejaVu Sans"/>
                <a:ea typeface="DejaVu Sans"/>
                <a:cs typeface="DejaVu Sans"/>
              </a:rPr>
              <a:t>Работающая модель классификации, распознающая 36 классов фруктов и овощей с высокой точностью (&gt;80%)</a:t>
            </a:r>
          </a:p>
        </p:txBody>
      </p:sp>
    </p:spTree>
    <p:extLst>
      <p:ext uri="{BB962C8B-B14F-4D97-AF65-F5344CB8AC3E}">
        <p14:creationId xmlns:p14="http://schemas.microsoft.com/office/powerpoint/2010/main" val="4271090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2026-09-29T15:49:19.3930000Z</dcterms:created>
  <dcterms:modified xsi:type="dcterms:W3CDTF">2026-09-29T15:49:19.3930000Z</dcterms:modified>
</coreProperties>
</file>