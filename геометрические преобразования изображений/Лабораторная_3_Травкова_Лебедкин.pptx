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Источник</a:t>
            </a:r>
            <a:r>
              <a:rPr dirty="0"/>
              <a:t>: lab3.ipynb, </a:t>
            </a:r>
            <a:r>
              <a:rPr dirty="0" err="1"/>
              <a:t>вариант</a:t>
            </a:r>
            <a:r>
              <a:rPr dirty="0"/>
              <a:t> 4. </a:t>
            </a:r>
            <a:r>
              <a:rPr dirty="0" err="1"/>
              <a:t>Изображения</a:t>
            </a:r>
            <a:r>
              <a:rPr dirty="0"/>
              <a:t> </a:t>
            </a:r>
            <a:r>
              <a:rPr dirty="0" err="1"/>
              <a:t>взяты</a:t>
            </a:r>
            <a:r>
              <a:rPr dirty="0"/>
              <a:t> </a:t>
            </a:r>
            <a:r>
              <a:rPr dirty="0" err="1"/>
              <a:t>из</a:t>
            </a:r>
            <a:r>
              <a:rPr dirty="0"/>
              <a:t> </a:t>
            </a:r>
            <a:r>
              <a:rPr dirty="0" err="1"/>
              <a:t>сохранённых</a:t>
            </a:r>
            <a:r>
              <a:rPr dirty="0"/>
              <a:t> </a:t>
            </a:r>
            <a:r>
              <a:rPr dirty="0" err="1"/>
              <a:t>выводов</a:t>
            </a:r>
            <a:r>
              <a:rPr dirty="0"/>
              <a:t> </a:t>
            </a:r>
            <a:r>
              <a:rPr dirty="0" err="1"/>
              <a:t>ноутбука</a:t>
            </a:r>
            <a:r>
              <a:rPr dirty="0"/>
              <a:t>, 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повторного</a:t>
            </a:r>
            <a:r>
              <a:rPr dirty="0"/>
              <a:t> </a:t>
            </a:r>
            <a:r>
              <a:rPr dirty="0" err="1"/>
              <a:t>выполнения</a:t>
            </a:r>
            <a:r>
              <a:rPr dirty="0"/>
              <a:t> и </a:t>
            </a:r>
            <a:r>
              <a:rPr dirty="0" err="1"/>
              <a:t>изменения</a:t>
            </a:r>
            <a:r>
              <a:rPr dirty="0"/>
              <a:t> </a:t>
            </a:r>
            <a:r>
              <a:rPr dirty="0" err="1"/>
              <a:t>результатов</a:t>
            </a:r>
            <a:r>
              <a:rPr dirty="0"/>
              <a:t>. </a:t>
            </a:r>
            <a:r>
              <a:rPr dirty="0" err="1"/>
              <a:t>Оформление</a:t>
            </a:r>
            <a:r>
              <a:rPr dirty="0"/>
              <a:t> </a:t>
            </a:r>
            <a:r>
              <a:rPr dirty="0" err="1"/>
              <a:t>взято</a:t>
            </a:r>
            <a:r>
              <a:rPr dirty="0"/>
              <a:t> </a:t>
            </a:r>
            <a:r>
              <a:rPr dirty="0" err="1"/>
              <a:t>из</a:t>
            </a:r>
            <a:r>
              <a:rPr dirty="0"/>
              <a:t> </a:t>
            </a:r>
            <a:r>
              <a:rPr dirty="0" err="1"/>
              <a:t>приложенной</a:t>
            </a:r>
            <a:r>
              <a:rPr dirty="0"/>
              <a:t> </a:t>
            </a:r>
            <a:r>
              <a:rPr dirty="0" err="1"/>
              <a:t>презентации</a:t>
            </a:r>
            <a:r>
              <a:rPr dirty="0"/>
              <a:t> </a:t>
            </a:r>
            <a:r>
              <a:rPr dirty="0" err="1"/>
              <a:t>лабораторной</a:t>
            </a:r>
            <a:r>
              <a:rPr dirty="0"/>
              <a:t> </a:t>
            </a:r>
            <a:r>
              <a:rPr dirty="0" err="1"/>
              <a:t>работы</a:t>
            </a:r>
            <a:r>
              <a:rPr dirty="0"/>
              <a:t>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ячейка 9. Для изображения чётного размера центр сетки пикселей равен ((w−1)/2,(h−1)/2). В ноутбуке использован центр (w//2,h//2), поэтому результат может отличаться от cv2.flip(image,−1) на один пиксель и иметь заполненную границу. Результат сохранён без пересчёта.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A2FF-E4B7-FC63-2FA6-50A65CFCC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ED641-CF58-2E64-CDD5-0865EAE161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1AD45C-17BA-5984-F406-27D014A9E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A6CDF-112A-D712-4734-B287DADB17C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216947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" y="5176159"/>
            <a:ext cx="11640312" cy="845493"/>
          </a:xfrm>
        </p:spPr>
        <p:txBody>
          <a:bodyPr vert="horz" lIns="91440" tIns="45720" rIns="91440" bIns="45720" anchor="b">
            <a:normAutofit/>
          </a:bodyPr>
          <a:lstStyle>
            <a:lvl1pPr>
              <a:buNone/>
              <a:defRPr sz="4400">
                <a:solidFill>
                  <a:schemeClr val="tx2"/>
                </a:solidFill>
              </a:defRPr>
            </a:lvl1pPr>
          </a:lstStyle>
          <a:p>
            <a:pPr lvl="0">
              <a:buNone/>
            </a:pPr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313" y="5980176"/>
            <a:ext cx="11612880" cy="530352"/>
          </a:xfrm>
        </p:spPr>
        <p:txBody>
          <a:bodyPr vert="horz" lIns="91440" tIns="45720" rIns="91440" bIns="45720"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>
              <a:buNone/>
            </a:pPr>
            <a:r>
              <a:t>Образец подзаголовка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50AF6FA-7D1D-1351-A76E-43C54D28FD68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4220" y="266700"/>
            <a:ext cx="11649456" cy="4853814"/>
          </a:xfrm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/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blipFill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82880" y="6391657"/>
            <a:ext cx="2805405" cy="330466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137848" y="6391657"/>
            <a:ext cx="3494314" cy="330466"/>
          </a:xfrm>
        </p:spPr>
        <p:txBody>
          <a:bodyPr/>
          <a:lstStyle>
            <a:lvl1pPr algn="r">
              <a:buNone/>
              <a:defRPr>
                <a:solidFill>
                  <a:schemeClr val="tx2"/>
                </a:solidFill>
              </a:defRPr>
            </a:lvl1pPr>
          </a:lstStyle>
          <a:p>
            <a:fld id="{9EC08F63-68FD-44F9-A52E-105615C8C7C5}" type="datetime1">
              <a:t>08.10.2026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2162" y="6391657"/>
            <a:ext cx="429207" cy="330466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DED1C2B-1434-41FF-A42D-A6C0AEFEF163}" type="datetime1">
              <a:t>08.10.2026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0262" y="208754"/>
            <a:ext cx="4066072" cy="3725937"/>
          </a:xfrm>
        </p:spPr>
        <p:txBody>
          <a:bodyPr vert="horz" lIns="91440" tIns="45720" rIns="91440" bIns="45720" anchor="t">
            <a:normAutofit/>
          </a:bodyPr>
          <a:lstStyle>
            <a:lvl1pPr>
              <a:buNone/>
              <a:defRPr sz="5000">
                <a:solidFill>
                  <a:schemeClr val="tx2"/>
                </a:solidFill>
              </a:defRPr>
            </a:lvl1pPr>
          </a:lstStyle>
          <a:p>
            <a:pPr lvl="0">
              <a:buNone/>
            </a:pPr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68729" y="4846320"/>
            <a:ext cx="4066072" cy="1380744"/>
          </a:xfrm>
        </p:spPr>
        <p:txBody>
          <a:bodyPr vert="horz" lIns="91440" tIns="45720" rIns="91440" bIns="45720" anchor="b"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>
              <a:buNone/>
            </a:pPr>
            <a:r>
              <a:t>Образец подзаголовка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A934108-77F2-43A6-38EF-C1CDEDD103C2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4320" y="266699"/>
            <a:ext cx="7238998" cy="6322891"/>
          </a:xfrm>
          <a:custGeom>
            <a:avLst/>
            <a:gdLst>
              <a:gd name="connsiteX0" fmla="*/ 291359 w 7238998"/>
              <a:gd name="connsiteY0" fmla="*/ 0 h 6322891"/>
              <a:gd name="connsiteX1" fmla="*/ 6947639 w 7238998"/>
              <a:gd name="connsiteY1" fmla="*/ 0 h 6322891"/>
              <a:gd name="connsiteX2" fmla="*/ 7238998 w 7238998"/>
              <a:gd name="connsiteY2" fmla="*/ 291359 h 6322891"/>
              <a:gd name="connsiteX3" fmla="*/ 7238998 w 7238998"/>
              <a:gd name="connsiteY3" fmla="*/ 6031532 h 6322891"/>
              <a:gd name="connsiteX4" fmla="*/ 6947639 w 7238998"/>
              <a:gd name="connsiteY4" fmla="*/ 6322891 h 6322891"/>
              <a:gd name="connsiteX5" fmla="*/ 291359 w 7238998"/>
              <a:gd name="connsiteY5" fmla="*/ 6322891 h 6322891"/>
              <a:gd name="connsiteX6" fmla="*/ 0 w 7238998"/>
              <a:gd name="connsiteY6" fmla="*/ 6031532 h 6322891"/>
              <a:gd name="connsiteX7" fmla="*/ 0 w 7238998"/>
              <a:gd name="connsiteY7" fmla="*/ 291359 h 6322891"/>
              <a:gd name="connsiteX8" fmla="*/ 291359 w 7238998"/>
              <a:gd name="connsiteY8" fmla="*/ 0 h 6322891"/>
            </a:gdLst>
            <a:ahLst/>
            <a:cxnLst/>
            <a:rect l="l" t="t" r="r" b="b"/>
            <a:pathLst>
              <a:path w="7238998" h="6322891">
                <a:moveTo>
                  <a:pt x="291359" y="0"/>
                </a:moveTo>
                <a:lnTo>
                  <a:pt x="6947639" y="0"/>
                </a:lnTo>
                <a:cubicBezTo>
                  <a:pt x="7108552" y="0"/>
                  <a:pt x="7238998" y="130446"/>
                  <a:pt x="7238998" y="291359"/>
                </a:cubicBezTo>
                <a:lnTo>
                  <a:pt x="7238998" y="6031532"/>
                </a:lnTo>
                <a:cubicBezTo>
                  <a:pt x="7238998" y="6192445"/>
                  <a:pt x="7108552" y="6322891"/>
                  <a:pt x="6947639" y="6322891"/>
                </a:cubicBezTo>
                <a:lnTo>
                  <a:pt x="291359" y="6322891"/>
                </a:lnTo>
                <a:cubicBezTo>
                  <a:pt x="130446" y="6322891"/>
                  <a:pt x="0" y="6192445"/>
                  <a:pt x="0" y="6031532"/>
                </a:cubicBezTo>
                <a:lnTo>
                  <a:pt x="0" y="291359"/>
                </a:lnTo>
                <a:cubicBezTo>
                  <a:pt x="0" y="130446"/>
                  <a:pt x="130446" y="0"/>
                  <a:pt x="291359" y="0"/>
                </a:cubicBezTo>
                <a:close/>
              </a:path>
            </a:pathLst>
          </a:custGeom>
          <a:blipFill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7666481" y="6391656"/>
            <a:ext cx="2703777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477500" y="6391656"/>
            <a:ext cx="1032084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370F9359-BB8B-45FD-8B86-138FF0155BE1}" type="datetime1">
              <a:t>08.10.2026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09584" y="6388837"/>
            <a:ext cx="457200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8598" y="1529542"/>
            <a:ext cx="8154804" cy="2323883"/>
          </a:xfrm>
        </p:spPr>
        <p:txBody>
          <a:bodyPr anchor="b">
            <a:normAutofit/>
          </a:bodyPr>
          <a:lstStyle>
            <a:lvl1pPr algn="ctr">
              <a:buNone/>
              <a:defRPr sz="5400">
                <a:solidFill>
                  <a:schemeClr val="tx2"/>
                </a:solidFill>
              </a:defRPr>
            </a:lvl1pPr>
          </a:lstStyle>
          <a:p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0715" y="4053504"/>
            <a:ext cx="5970570" cy="107267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Образец подзаголовка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5744E98A-C6CB-4740-94CF-7B79157857DC}" type="datetime1">
              <a:t>08.10.2026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раздел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29" y="3200400"/>
            <a:ext cx="9002895" cy="3582184"/>
          </a:xfrm>
        </p:spPr>
        <p:txBody>
          <a:bodyPr anchor="b">
            <a:normAutofit/>
          </a:bodyPr>
          <a:lstStyle>
            <a:lvl1pPr>
              <a:buNone/>
              <a:defRPr sz="6900">
                <a:solidFill>
                  <a:schemeClr val="tx2"/>
                </a:solidFill>
              </a:defRPr>
            </a:lvl1pPr>
          </a:lstStyle>
          <a:p>
            <a:r>
              <a:t>Образец заголовка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78704" y="141216"/>
            <a:ext cx="2703777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477500" y="141216"/>
            <a:ext cx="1032084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8F314C3C-5380-447C-8C4A-80885D6C1B2B}" type="datetime1">
              <a:t>08.10.2026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09584" y="141216"/>
            <a:ext cx="457200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15" y="189689"/>
            <a:ext cx="11341905" cy="1629485"/>
          </a:xfrm>
        </p:spPr>
        <p:txBody>
          <a:bodyPr anchor="t">
            <a:normAutofit/>
          </a:bodyPr>
          <a:lstStyle>
            <a:lvl1pPr>
              <a:buNone/>
              <a:defRPr sz="7600" baseline="0"/>
            </a:lvl1pPr>
          </a:lstStyle>
          <a:p>
            <a:r>
              <a:t>Образец заголовка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2362200"/>
            <a:ext cx="5829300" cy="3810000"/>
          </a:xfrm>
        </p:spPr>
        <p:txBody>
          <a:bodyPr vert="horz" lIns="91440" tIns="45720" rIns="91440" bIns="45720" anchor="b">
            <a:normAutofit/>
          </a:bodyPr>
          <a:lstStyle>
            <a:lvl1pPr marL="457200" indent="-457200">
              <a:buFont typeface="+mj-lt"/>
              <a:buAutoNum type="arabicPeriod"/>
              <a:defRPr sz="1600"/>
            </a:lvl1pPr>
            <a:lvl2pPr marL="571500" indent="-3429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600"/>
            </a:lvl3pPr>
            <a:lvl4pPr>
              <a:buFont typeface="+mj-lt"/>
              <a:buAutoNum type="arabicPeriod"/>
              <a:defRPr sz="1600"/>
            </a:lvl4pPr>
            <a:lvl5pPr>
              <a:buFont typeface="+mj-lt"/>
              <a:buAutoNum type="arabicPeriod"/>
              <a:defRPr sz="1600"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0B1818-EA50-4E6B-B1F5-269F22071F39}" type="datetime1">
              <a:t>08.10.2026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4061862"/>
            <a:ext cx="5913120" cy="2268359"/>
          </a:xfrm>
        </p:spPr>
        <p:txBody>
          <a:bodyPr anchor="t">
            <a:normAutofit/>
          </a:bodyPr>
          <a:lstStyle>
            <a:lvl1pPr>
              <a:buNone/>
              <a:defRPr sz="5800"/>
            </a:lvl1pPr>
          </a:lstStyle>
          <a:p>
            <a:r>
              <a:t>Образец заголовка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88BC23C-4171-DFCF-3175-10D2602FF561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274320" y="268508"/>
            <a:ext cx="11649456" cy="3609085"/>
          </a:xfrm>
          <a:custGeom>
            <a:avLst/>
            <a:gdLst>
              <a:gd name="connsiteX0" fmla="*/ 283385 w 11658600"/>
              <a:gd name="connsiteY0" fmla="*/ 0 h 3609085"/>
              <a:gd name="connsiteX1" fmla="*/ 11375215 w 11658600"/>
              <a:gd name="connsiteY1" fmla="*/ 0 h 3609085"/>
              <a:gd name="connsiteX2" fmla="*/ 11658600 w 11658600"/>
              <a:gd name="connsiteY2" fmla="*/ 283385 h 3609085"/>
              <a:gd name="connsiteX3" fmla="*/ 11658600 w 11658600"/>
              <a:gd name="connsiteY3" fmla="*/ 3325700 h 3609085"/>
              <a:gd name="connsiteX4" fmla="*/ 11375215 w 11658600"/>
              <a:gd name="connsiteY4" fmla="*/ 3609085 h 3609085"/>
              <a:gd name="connsiteX5" fmla="*/ 283385 w 11658600"/>
              <a:gd name="connsiteY5" fmla="*/ 3609085 h 3609085"/>
              <a:gd name="connsiteX6" fmla="*/ 0 w 11658600"/>
              <a:gd name="connsiteY6" fmla="*/ 3325700 h 3609085"/>
              <a:gd name="connsiteX7" fmla="*/ 0 w 11658600"/>
              <a:gd name="connsiteY7" fmla="*/ 283385 h 3609085"/>
              <a:gd name="connsiteX8" fmla="*/ 283385 w 11658600"/>
              <a:gd name="connsiteY8" fmla="*/ 0 h 3609085"/>
            </a:gdLst>
            <a:ahLst/>
            <a:cxnLst/>
            <a:rect l="l" t="t" r="r" b="b"/>
            <a:pathLst>
              <a:path w="11658600" h="3609085">
                <a:moveTo>
                  <a:pt x="283385" y="0"/>
                </a:moveTo>
                <a:lnTo>
                  <a:pt x="11375215" y="0"/>
                </a:lnTo>
                <a:cubicBezTo>
                  <a:pt x="11531724" y="0"/>
                  <a:pt x="11658600" y="126876"/>
                  <a:pt x="11658600" y="283385"/>
                </a:cubicBezTo>
                <a:lnTo>
                  <a:pt x="11658600" y="3325700"/>
                </a:lnTo>
                <a:cubicBezTo>
                  <a:pt x="11658600" y="3482209"/>
                  <a:pt x="11531724" y="3609085"/>
                  <a:pt x="11375215" y="3609085"/>
                </a:cubicBezTo>
                <a:lnTo>
                  <a:pt x="283385" y="3609085"/>
                </a:lnTo>
                <a:cubicBezTo>
                  <a:pt x="126876" y="3609085"/>
                  <a:pt x="0" y="3482209"/>
                  <a:pt x="0" y="3325700"/>
                </a:cubicBezTo>
                <a:lnTo>
                  <a:pt x="0" y="283385"/>
                </a:lnTo>
                <a:cubicBezTo>
                  <a:pt x="0" y="126876"/>
                  <a:pt x="126876" y="0"/>
                  <a:pt x="28338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7515973" y="4039118"/>
            <a:ext cx="4419601" cy="2268360"/>
          </a:xfrm>
        </p:spPr>
        <p:txBody>
          <a:bodyPr vert="horz" lIns="91440" tIns="45720" rIns="91440" bIns="45720">
            <a:normAutofit/>
          </a:bodyPr>
          <a:lstStyle>
            <a:lvl1pPr marL="342900" indent="-342900">
              <a:buFont typeface="+mj-lt"/>
              <a:buAutoNum type="arabicPeriod"/>
              <a:defRPr sz="1400"/>
            </a:lvl1pPr>
            <a:lvl2pPr marL="571500" indent="-3429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marL="228600" lvl="0" indent="-228600">
              <a:buNone/>
            </a:pPr>
            <a:r>
              <a:t>Образец текста</a:t>
            </a:r>
          </a:p>
          <a:p>
            <a:pPr marL="228600" lvl="1" indent="-228600">
              <a:buNone/>
            </a:pPr>
            <a:r>
              <a:t>Второй уровень</a:t>
            </a:r>
          </a:p>
          <a:p>
            <a:pPr marL="228600" lvl="2" indent="-228600">
              <a:buNone/>
            </a:pPr>
            <a:r>
              <a:t>Третий уровень</a:t>
            </a:r>
          </a:p>
          <a:p>
            <a:pPr marL="228600" lvl="3" indent="-228600">
              <a:buNone/>
            </a:pPr>
            <a:r>
              <a:t>Четвертый уровень</a:t>
            </a:r>
          </a:p>
          <a:p>
            <a:pPr marL="228600" lvl="4" indent="-228600">
              <a:buNone/>
            </a:pPr>
            <a:r>
              <a:t>Пятый уровень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82880" y="6387737"/>
            <a:ext cx="2703777" cy="338328"/>
          </a:xfrm>
        </p:spPr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9E84084-15D7-4F36-859F-F56C53A6F4E5}" type="datetime1">
              <a:t>08.10.2026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131" y="1638299"/>
            <a:ext cx="3314700" cy="3873268"/>
          </a:xfrm>
        </p:spPr>
        <p:txBody>
          <a:bodyPr anchor="t">
            <a:normAutofit/>
          </a:bodyPr>
          <a:lstStyle>
            <a:lvl1pPr>
              <a:buNone/>
              <a:defRPr sz="3000"/>
            </a:lvl1pPr>
          </a:lstStyle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901019" y="1638299"/>
            <a:ext cx="6080760" cy="3873267"/>
          </a:xfrm>
        </p:spPr>
        <p:txBody>
          <a:bodyPr vert="horz" lIns="91440" tIns="45720" rIns="91440" bIns="45720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4255E2A-8982-450C-A923-417B0C2E922F}" type="datetime1">
              <a:t>08.10.2026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310394" cy="4058127"/>
          </a:xfrm>
        </p:spPr>
        <p:txBody>
          <a:bodyPr anchor="t">
            <a:normAutofit/>
          </a:bodyPr>
          <a:lstStyle>
            <a:lvl1pPr>
              <a:buNone/>
              <a:defRPr sz="3000"/>
            </a:lvl1pPr>
          </a:lstStyle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72674" y="266700"/>
            <a:ext cx="7688495" cy="6047836"/>
          </a:xfrm>
        </p:spPr>
        <p:txBody>
          <a:bodyPr vert="horz" lIns="91440" tIns="45720" rIns="91440" bIns="45720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DCAFA87-D25E-497C-A210-941991E7D2A4}" type="datetime1">
              <a:t>08.10.2026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9525" y="219456"/>
            <a:ext cx="6376547" cy="1066006"/>
          </a:xfrm>
        </p:spPr>
        <p:txBody>
          <a:bodyPr anchor="t"/>
          <a:lstStyle/>
          <a:p>
            <a:r>
              <a:t>Образец заголовка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C455FC9-9346-2F53-C58C-5C64036CD926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4320" y="268573"/>
            <a:ext cx="4419600" cy="6325969"/>
          </a:xfrm>
          <a:custGeom>
            <a:avLst/>
            <a:gdLst>
              <a:gd name="connsiteX0" fmla="*/ 300746 w 4381500"/>
              <a:gd name="connsiteY0" fmla="*/ 0 h 6290961"/>
              <a:gd name="connsiteX1" fmla="*/ 4080754 w 4381500"/>
              <a:gd name="connsiteY1" fmla="*/ 0 h 6290961"/>
              <a:gd name="connsiteX2" fmla="*/ 4381500 w 4381500"/>
              <a:gd name="connsiteY2" fmla="*/ 300746 h 6290961"/>
              <a:gd name="connsiteX3" fmla="*/ 4381500 w 4381500"/>
              <a:gd name="connsiteY3" fmla="*/ 5990215 h 6290961"/>
              <a:gd name="connsiteX4" fmla="*/ 4080754 w 4381500"/>
              <a:gd name="connsiteY4" fmla="*/ 6290961 h 6290961"/>
              <a:gd name="connsiteX5" fmla="*/ 300746 w 4381500"/>
              <a:gd name="connsiteY5" fmla="*/ 6290961 h 6290961"/>
              <a:gd name="connsiteX6" fmla="*/ 0 w 4381500"/>
              <a:gd name="connsiteY6" fmla="*/ 5990215 h 6290961"/>
              <a:gd name="connsiteX7" fmla="*/ 0 w 4381500"/>
              <a:gd name="connsiteY7" fmla="*/ 300746 h 6290961"/>
              <a:gd name="connsiteX8" fmla="*/ 300746 w 4381500"/>
              <a:gd name="connsiteY8" fmla="*/ 0 h 6290961"/>
            </a:gdLst>
            <a:ahLst/>
            <a:cxnLst/>
            <a:rect l="l" t="t" r="r" b="b"/>
            <a:pathLst>
              <a:path w="4381500" h="6290961">
                <a:moveTo>
                  <a:pt x="300746" y="0"/>
                </a:moveTo>
                <a:lnTo>
                  <a:pt x="4080754" y="0"/>
                </a:lnTo>
                <a:cubicBezTo>
                  <a:pt x="4246851" y="0"/>
                  <a:pt x="4381500" y="134649"/>
                  <a:pt x="4381500" y="300746"/>
                </a:cubicBezTo>
                <a:lnTo>
                  <a:pt x="4381500" y="5990215"/>
                </a:lnTo>
                <a:cubicBezTo>
                  <a:pt x="4381500" y="6156312"/>
                  <a:pt x="4246851" y="6290961"/>
                  <a:pt x="4080754" y="6290961"/>
                </a:cubicBezTo>
                <a:lnTo>
                  <a:pt x="300746" y="6290961"/>
                </a:lnTo>
                <a:cubicBezTo>
                  <a:pt x="134649" y="6290961"/>
                  <a:pt x="0" y="6156312"/>
                  <a:pt x="0" y="5990215"/>
                </a:cubicBezTo>
                <a:lnTo>
                  <a:pt x="0" y="300746"/>
                </a:lnTo>
                <a:cubicBezTo>
                  <a:pt x="0" y="134649"/>
                  <a:pt x="134649" y="0"/>
                  <a:pt x="300746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919526" y="1285462"/>
            <a:ext cx="6376546" cy="4986355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919526" y="6387737"/>
            <a:ext cx="2703777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60F6139E-B88E-4434-A7F1-B43174DC65B6}" type="datetime1">
              <a:t>08.10.2026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702" y="219456"/>
            <a:ext cx="7241297" cy="923544"/>
          </a:xfrm>
        </p:spPr>
        <p:txBody>
          <a:bodyPr anchor="t"/>
          <a:lstStyle>
            <a:lvl1pPr>
              <a:buNone/>
              <a:defRPr/>
            </a:lvl1pPr>
          </a:lstStyle>
          <a:p>
            <a:r>
              <a:t>Образец заголовка</a:t>
            </a:r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FC55F3DB-E75F-ADDF-8222-D3F62F2CCE82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4320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4 h 6320854"/>
              <a:gd name="connsiteX10" fmla="*/ 105939 w 3675888"/>
              <a:gd name="connsiteY10" fmla="*/ 6252721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7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/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4"/>
                </a:lnTo>
                <a:lnTo>
                  <a:pt x="105939" y="6252721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7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188702" y="1143000"/>
            <a:ext cx="7241298" cy="5239512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188702" y="6382981"/>
            <a:ext cx="2703777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74670348-D143-436F-9129-EED979619D28}" type="datetime1">
              <a:t>08.10.2026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7241297" cy="923544"/>
          </a:xfrm>
        </p:spPr>
        <p:txBody>
          <a:bodyPr anchor="t"/>
          <a:lstStyle>
            <a:lvl1pPr>
              <a:buNone/>
              <a:defRPr/>
            </a:lvl1pPr>
          </a:lstStyle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82880" y="1143000"/>
            <a:ext cx="7241298" cy="5239512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82880" y="6382981"/>
            <a:ext cx="2703777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6392093" y="6387128"/>
            <a:ext cx="1032084" cy="338328"/>
          </a:xfrm>
        </p:spPr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0BF40F54-ED29-4155-B487-1AE9DC91D7FE}" type="datetime1">
              <a:t>08.10.2026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7424177" y="6387128"/>
            <a:ext cx="457200" cy="338328"/>
          </a:xfrm>
        </p:spPr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47C8A4F-E753-8148-3650-49C421EB5479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8249412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3 h 6320854"/>
              <a:gd name="connsiteX10" fmla="*/ 105939 w 3675888"/>
              <a:gd name="connsiteY10" fmla="*/ 6252722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8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/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3"/>
                </a:lnTo>
                <a:lnTo>
                  <a:pt x="105939" y="6252722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8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5" y="219456"/>
            <a:ext cx="4717429" cy="1180888"/>
          </a:xfrm>
        </p:spPr>
        <p:txBody>
          <a:bodyPr anchor="t"/>
          <a:lstStyle/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85855" y="1400344"/>
            <a:ext cx="4729045" cy="4871473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3588172" y="6390795"/>
            <a:ext cx="1298784" cy="338328"/>
          </a:xfrm>
        </p:spPr>
        <p:txBody>
          <a:bodyPr/>
          <a:lstStyle/>
          <a:p>
            <a:fld id="{4A6BD9A3-5529-4EFB-87FC-DF25E53CA87E}" type="datetime1">
              <a:t>08.10.2026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886956" y="6390795"/>
            <a:ext cx="457200" cy="338328"/>
          </a:xfrm>
        </p:spPr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5600703" y="266700"/>
            <a:ext cx="6324469" cy="6324600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/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1" y="220869"/>
            <a:ext cx="3208020" cy="3088635"/>
          </a:xfrm>
        </p:spPr>
        <p:txBody>
          <a:bodyPr anchor="t"/>
          <a:lstStyle/>
          <a:p>
            <a:r>
              <a:t>Образец заголовка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4686300" y="266700"/>
            <a:ext cx="3500538" cy="63246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/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461087" y="220870"/>
            <a:ext cx="3200400" cy="6055554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1EAD283-6F5C-4FE7-96A5-7DA948460113}" type="datetime1">
              <a:t>08.10.2026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3755" y="219456"/>
            <a:ext cx="3891435" cy="1225339"/>
          </a:xfrm>
        </p:spPr>
        <p:txBody>
          <a:bodyPr anchor="t"/>
          <a:lstStyle/>
          <a:p>
            <a:r>
              <a:t>Образец заголовка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3BE62AC-2855-BB28-0282-25CA658273E5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0473" y="265176"/>
            <a:ext cx="6984636" cy="6327648"/>
          </a:xfrm>
          <a:custGeom>
            <a:avLst/>
            <a:gdLst>
              <a:gd name="connsiteX0" fmla="*/ 302565 w 7228936"/>
              <a:gd name="connsiteY0" fmla="*/ 0 h 6316602"/>
              <a:gd name="connsiteX1" fmla="*/ 6926371 w 7228936"/>
              <a:gd name="connsiteY1" fmla="*/ 0 h 6316602"/>
              <a:gd name="connsiteX2" fmla="*/ 7228936 w 7228936"/>
              <a:gd name="connsiteY2" fmla="*/ 302565 h 6316602"/>
              <a:gd name="connsiteX3" fmla="*/ 7228936 w 7228936"/>
              <a:gd name="connsiteY3" fmla="*/ 6014037 h 6316602"/>
              <a:gd name="connsiteX4" fmla="*/ 6926371 w 7228936"/>
              <a:gd name="connsiteY4" fmla="*/ 6316602 h 6316602"/>
              <a:gd name="connsiteX5" fmla="*/ 302565 w 7228936"/>
              <a:gd name="connsiteY5" fmla="*/ 6316602 h 6316602"/>
              <a:gd name="connsiteX6" fmla="*/ 0 w 7228936"/>
              <a:gd name="connsiteY6" fmla="*/ 6014037 h 6316602"/>
              <a:gd name="connsiteX7" fmla="*/ 0 w 7228936"/>
              <a:gd name="connsiteY7" fmla="*/ 302565 h 6316602"/>
              <a:gd name="connsiteX8" fmla="*/ 302565 w 7228936"/>
              <a:gd name="connsiteY8" fmla="*/ 0 h 6316602"/>
            </a:gdLst>
            <a:ahLst/>
            <a:cxnLst/>
            <a:rect l="l" t="t" r="r" b="b"/>
            <a:pathLst>
              <a:path w="7228936" h="6316602">
                <a:moveTo>
                  <a:pt x="302565" y="0"/>
                </a:moveTo>
                <a:lnTo>
                  <a:pt x="6926371" y="0"/>
                </a:lnTo>
                <a:cubicBezTo>
                  <a:pt x="7093473" y="0"/>
                  <a:pt x="7228936" y="135463"/>
                  <a:pt x="7228936" y="302565"/>
                </a:cubicBezTo>
                <a:lnTo>
                  <a:pt x="7228936" y="6014037"/>
                </a:lnTo>
                <a:cubicBezTo>
                  <a:pt x="7228936" y="6181139"/>
                  <a:pt x="7093473" y="6316602"/>
                  <a:pt x="6926371" y="6316602"/>
                </a:cubicBezTo>
                <a:lnTo>
                  <a:pt x="302565" y="6316602"/>
                </a:lnTo>
                <a:cubicBezTo>
                  <a:pt x="135463" y="6316602"/>
                  <a:pt x="0" y="6181139"/>
                  <a:pt x="0" y="6014037"/>
                </a:cubicBezTo>
                <a:lnTo>
                  <a:pt x="0" y="302565"/>
                </a:lnTo>
                <a:cubicBezTo>
                  <a:pt x="0" y="135463"/>
                  <a:pt x="135463" y="0"/>
                  <a:pt x="302565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7513753" y="1435652"/>
            <a:ext cx="3891435" cy="4833862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7515079" y="6387128"/>
            <a:ext cx="2703777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DDA65EB6-0C0C-4723-87DB-EADF164F8E5B}" type="datetime1">
              <a:t>08.10.2026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4" y="219456"/>
            <a:ext cx="3234982" cy="1577218"/>
          </a:xfrm>
        </p:spPr>
        <p:txBody>
          <a:bodyPr anchor="t"/>
          <a:lstStyle/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85854" y="1796675"/>
            <a:ext cx="3234982" cy="4471476"/>
          </a:xfrm>
        </p:spPr>
        <p:txBody>
          <a:bodyPr vert="horz" lIns="91440" tIns="45720" rIns="91440" bIns="45720" anchor="b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78705" y="6387128"/>
            <a:ext cx="2095770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206416" y="6390795"/>
            <a:ext cx="1032084" cy="338328"/>
          </a:xfrm>
        </p:spPr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F2CEB32D-B953-42BB-A23C-01EA4E11BFF7}" type="datetime1">
              <a:t>08.10.2026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3238500" y="6390795"/>
            <a:ext cx="457200" cy="338328"/>
          </a:xfrm>
        </p:spPr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3965783" y="265176"/>
            <a:ext cx="7959517" cy="6327648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/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78" y="216452"/>
            <a:ext cx="3381587" cy="2213524"/>
          </a:xfrm>
        </p:spPr>
        <p:txBody>
          <a:bodyPr anchor="t">
            <a:normAutofit/>
          </a:bodyPr>
          <a:lstStyle>
            <a:lvl1pPr>
              <a:buNone/>
              <a:defRPr sz="3000"/>
            </a:lvl1pPr>
          </a:lstStyle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962400" y="177492"/>
            <a:ext cx="7962900" cy="2286000"/>
          </a:xfrm>
        </p:spPr>
        <p:txBody>
          <a:bodyPr>
            <a:normAutofit/>
          </a:bodyPr>
          <a:lstStyle>
            <a:lvl1pPr marL="285750" indent="-285750">
              <a:buFont typeface="Arial"/>
              <a:buChar char="•"/>
              <a:defRPr sz="1400"/>
            </a:lvl1pPr>
            <a:lvl2pPr marL="514350" indent="-285750">
              <a:buFont typeface="Arial"/>
              <a:buChar char="•"/>
              <a:defRPr sz="1400"/>
            </a:lvl2pPr>
            <a:lvl3pPr marL="742950" indent="-285750">
              <a:buFont typeface="Arial"/>
              <a:buChar char="•"/>
              <a:defRPr sz="1400"/>
            </a:lvl3pPr>
            <a:lvl4pPr marL="857250" indent="-171450">
              <a:buFont typeface="Arial"/>
              <a:buChar char="•"/>
              <a:defRPr sz="1400"/>
            </a:lvl4pPr>
            <a:lvl5pPr marL="1085850" indent="-171450">
              <a:buFont typeface="Arial"/>
              <a:buChar char="•"/>
              <a:defRPr sz="1400"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85878" y="2513464"/>
            <a:ext cx="2805405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230339" y="2516244"/>
            <a:ext cx="1284010" cy="338328"/>
          </a:xfrm>
        </p:spPr>
        <p:txBody>
          <a:bodyPr/>
          <a:lstStyle/>
          <a:p>
            <a:fld id="{2B12F209-C4FA-40C7-B9A5-2CBFF18E338A}" type="datetime1">
              <a:t>08.10.2026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09585" y="2513464"/>
            <a:ext cx="449306" cy="338328"/>
          </a:xfrm>
        </p:spPr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56056E-3484-D9D0-95D5-818FF4C3C8D6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4220" y="2935280"/>
            <a:ext cx="11651080" cy="3656020"/>
          </a:xfrm>
          <a:custGeom>
            <a:avLst/>
            <a:gdLst>
              <a:gd name="connsiteX0" fmla="*/ 298989 w 11651080"/>
              <a:gd name="connsiteY0" fmla="*/ 0 h 3656020"/>
              <a:gd name="connsiteX1" fmla="*/ 11352091 w 11651080"/>
              <a:gd name="connsiteY1" fmla="*/ 0 h 3656020"/>
              <a:gd name="connsiteX2" fmla="*/ 11651080 w 11651080"/>
              <a:gd name="connsiteY2" fmla="*/ 298989 h 3656020"/>
              <a:gd name="connsiteX3" fmla="*/ 11651080 w 11651080"/>
              <a:gd name="connsiteY3" fmla="*/ 3357031 h 3656020"/>
              <a:gd name="connsiteX4" fmla="*/ 11352091 w 11651080"/>
              <a:gd name="connsiteY4" fmla="*/ 3656020 h 3656020"/>
              <a:gd name="connsiteX5" fmla="*/ 298989 w 11651080"/>
              <a:gd name="connsiteY5" fmla="*/ 3656020 h 3656020"/>
              <a:gd name="connsiteX6" fmla="*/ 0 w 11651080"/>
              <a:gd name="connsiteY6" fmla="*/ 3357031 h 3656020"/>
              <a:gd name="connsiteX7" fmla="*/ 0 w 11651080"/>
              <a:gd name="connsiteY7" fmla="*/ 298989 h 3656020"/>
              <a:gd name="connsiteX8" fmla="*/ 298989 w 11651080"/>
              <a:gd name="connsiteY8" fmla="*/ 0 h 3656020"/>
            </a:gdLst>
            <a:ahLst/>
            <a:cxnLst/>
            <a:rect l="l" t="t" r="r" b="b"/>
            <a:pathLst>
              <a:path w="11651080" h="3656020">
                <a:moveTo>
                  <a:pt x="298989" y="0"/>
                </a:moveTo>
                <a:lnTo>
                  <a:pt x="11352091" y="0"/>
                </a:lnTo>
                <a:cubicBezTo>
                  <a:pt x="11517218" y="0"/>
                  <a:pt x="11651080" y="133862"/>
                  <a:pt x="11651080" y="298989"/>
                </a:cubicBezTo>
                <a:lnTo>
                  <a:pt x="11651080" y="3357031"/>
                </a:lnTo>
                <a:cubicBezTo>
                  <a:pt x="11651080" y="3522158"/>
                  <a:pt x="11517218" y="3656020"/>
                  <a:pt x="11352091" y="3656020"/>
                </a:cubicBezTo>
                <a:lnTo>
                  <a:pt x="298989" y="3656020"/>
                </a:lnTo>
                <a:cubicBezTo>
                  <a:pt x="133862" y="3656020"/>
                  <a:pt x="0" y="3522158"/>
                  <a:pt x="0" y="3357031"/>
                </a:cubicBezTo>
                <a:lnTo>
                  <a:pt x="0" y="298989"/>
                </a:lnTo>
                <a:cubicBezTo>
                  <a:pt x="0" y="133862"/>
                  <a:pt x="133862" y="0"/>
                  <a:pt x="298989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172641" cy="3145019"/>
          </a:xfrm>
        </p:spPr>
        <p:txBody>
          <a:bodyPr anchor="t">
            <a:normAutofit/>
          </a:bodyPr>
          <a:lstStyle>
            <a:lvl1pPr>
              <a:buNone/>
              <a:defRPr sz="3000"/>
            </a:lvl1pPr>
          </a:lstStyle>
          <a:p>
            <a:r>
              <a:t>Образец заголовка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95997E6-BE07-E83F-D207-0CADA004E02A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4000500" y="265332"/>
            <a:ext cx="7924800" cy="3095837"/>
          </a:xfrm>
          <a:custGeom>
            <a:avLst/>
            <a:gdLst>
              <a:gd name="connsiteX0" fmla="*/ 282309 w 8229600"/>
              <a:gd name="connsiteY0" fmla="*/ 0 h 3095837"/>
              <a:gd name="connsiteX1" fmla="*/ 7947291 w 8229600"/>
              <a:gd name="connsiteY1" fmla="*/ 0 h 3095837"/>
              <a:gd name="connsiteX2" fmla="*/ 8229600 w 8229600"/>
              <a:gd name="connsiteY2" fmla="*/ 282309 h 3095837"/>
              <a:gd name="connsiteX3" fmla="*/ 8229600 w 8229600"/>
              <a:gd name="connsiteY3" fmla="*/ 2813528 h 3095837"/>
              <a:gd name="connsiteX4" fmla="*/ 7947291 w 8229600"/>
              <a:gd name="connsiteY4" fmla="*/ 3095837 h 3095837"/>
              <a:gd name="connsiteX5" fmla="*/ 282309 w 8229600"/>
              <a:gd name="connsiteY5" fmla="*/ 3095837 h 3095837"/>
              <a:gd name="connsiteX6" fmla="*/ 0 w 8229600"/>
              <a:gd name="connsiteY6" fmla="*/ 2813528 h 3095837"/>
              <a:gd name="connsiteX7" fmla="*/ 0 w 8229600"/>
              <a:gd name="connsiteY7" fmla="*/ 282309 h 3095837"/>
              <a:gd name="connsiteX8" fmla="*/ 282309 w 8229600"/>
              <a:gd name="connsiteY8" fmla="*/ 0 h 3095837"/>
            </a:gdLst>
            <a:ahLst/>
            <a:cxnLst/>
            <a:rect l="l" t="t" r="r" b="b"/>
            <a:pathLst>
              <a:path w="8229600" h="3095837">
                <a:moveTo>
                  <a:pt x="282309" y="0"/>
                </a:moveTo>
                <a:lnTo>
                  <a:pt x="7947291" y="0"/>
                </a:lnTo>
                <a:cubicBezTo>
                  <a:pt x="8103206" y="0"/>
                  <a:pt x="8229600" y="126394"/>
                  <a:pt x="8229600" y="282309"/>
                </a:cubicBezTo>
                <a:lnTo>
                  <a:pt x="8229600" y="2813528"/>
                </a:lnTo>
                <a:cubicBezTo>
                  <a:pt x="8229600" y="2969443"/>
                  <a:pt x="8103206" y="3095837"/>
                  <a:pt x="7947291" y="3095837"/>
                </a:cubicBezTo>
                <a:lnTo>
                  <a:pt x="282309" y="3095837"/>
                </a:lnTo>
                <a:cubicBezTo>
                  <a:pt x="126394" y="3095837"/>
                  <a:pt x="0" y="2969443"/>
                  <a:pt x="0" y="2813528"/>
                </a:cubicBezTo>
                <a:lnTo>
                  <a:pt x="0" y="282309"/>
                </a:lnTo>
                <a:cubicBezTo>
                  <a:pt x="0" y="126394"/>
                  <a:pt x="126394" y="0"/>
                  <a:pt x="282309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914565" y="3543597"/>
            <a:ext cx="8010734" cy="2843531"/>
          </a:xfrm>
        </p:spPr>
        <p:txBody>
          <a:bodyPr vert="horz" lIns="91440" tIns="45720" rIns="91440" bIns="45720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CB83988-88B5-4B4B-8004-AD74D8DCA8B3}" type="datetime1">
              <a:t>08.10.2026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5778B4-3E3F-C3EF-5322-2ECFF646D003}"/>
              </a:ext>
            </a:extLst>
          </p:cNvPr>
          <p:cNvSpPr>
            <a:spLocks noGrp="1"/>
          </p:cNvSpPr>
          <p:nvPr/>
        </p:nvSpPr>
        <p:spPr>
          <a:xfrm>
            <a:off x="1231821" y="760151"/>
            <a:ext cx="9728359" cy="4233673"/>
          </a:xfrm>
          <a:prstGeom prst="roundRect">
            <a:avLst>
              <a:gd name="adj" fmla="val 7502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strike="noStrike" kern="1200" cap="none" spc="0" baseline="0">
              <a:ln>
                <a:noFill/>
              </a:ln>
              <a:solidFill>
                <a:srgbClr val="F0EDE6"/>
              </a:solidFill>
              <a:latin typeface="Neue Haas Grotesk Text Pro"/>
              <a:ea typeface="Neue Haas Grotesk Text Pro"/>
              <a:cs typeface="Neue Haas Grotesk Text Pro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6276" y="5255159"/>
            <a:ext cx="9299448" cy="1025326"/>
          </a:xfrm>
        </p:spPr>
        <p:txBody>
          <a:bodyPr anchor="ctr">
            <a:normAutofit/>
          </a:bodyPr>
          <a:lstStyle>
            <a:lvl1pPr algn="ctr">
              <a:lnSpc>
                <a:spcPct val="90000"/>
              </a:lnSpc>
              <a:buNone/>
              <a:defRPr sz="2400" spc="-50" baseline="0">
                <a:solidFill>
                  <a:schemeClr val="tx1"/>
                </a:solidFill>
              </a:defRPr>
            </a:lvl1pPr>
          </a:lstStyle>
          <a:p>
            <a:r>
              <a:t>Образец заголовка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446276" y="1293091"/>
            <a:ext cx="9299448" cy="394392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0000"/>
              </a:lnSpc>
              <a:buNone/>
              <a:defRPr sz="26000" spc="-100" baseline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t>XX%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298FEDD-BD0E-44D0-8A43-43D2423273A1}" type="datetime1">
              <a:t>08.10.2026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82880" y="173736"/>
            <a:ext cx="10475499" cy="4850651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600" b="0" cap="none" spc="-50" baseline="0"/>
            </a:lvl1pPr>
            <a:lvl2pPr marL="228600" indent="0">
              <a:lnSpc>
                <a:spcPct val="90000"/>
              </a:lnSpc>
              <a:buNone/>
              <a:defRPr sz="6600" b="0" cap="none" spc="-50" baseline="0"/>
            </a:lvl2pPr>
            <a:lvl3pPr marL="457200" indent="0">
              <a:lnSpc>
                <a:spcPct val="90000"/>
              </a:lnSpc>
              <a:buNone/>
              <a:defRPr sz="6000" b="0" cap="none" spc="-50" baseline="0"/>
            </a:lvl3pPr>
            <a:lvl4pPr marL="685800" indent="0">
              <a:lnSpc>
                <a:spcPct val="90000"/>
              </a:lnSpc>
              <a:buNone/>
              <a:defRPr sz="5400" b="0" cap="none" spc="-50" baseline="0"/>
            </a:lvl4pPr>
            <a:lvl5pPr marL="914400" indent="0">
              <a:lnSpc>
                <a:spcPct val="90000"/>
              </a:lnSpc>
              <a:buNone/>
              <a:defRPr sz="4800" b="0" cap="none" spc="-50" baseline="0"/>
            </a:lvl5pPr>
          </a:lstStyle>
          <a:p>
            <a:pPr lvl="0">
              <a:buNone/>
            </a:pPr>
            <a:r>
              <a:t>Click to edit Statement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E04A568-6778-4326-8F60-A8331F338313}" type="datetime1">
              <a:t>08.10.2026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8784" y="5029200"/>
            <a:ext cx="9198864" cy="713232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buNone/>
              <a:defRPr sz="2000" b="1" spc="-50" baseline="0">
                <a:solidFill>
                  <a:schemeClr val="accent1"/>
                </a:solidFill>
              </a:defRPr>
            </a:lvl1pPr>
          </a:lstStyle>
          <a:p>
            <a:r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388784" y="1115568"/>
            <a:ext cx="9198864" cy="358444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Font typeface="Arial"/>
              <a:buNone/>
              <a:defRPr sz="5000" spc="-50" baseline="0"/>
            </a:lvl1pPr>
          </a:lstStyle>
          <a:p>
            <a:pPr lvl="0">
              <a:buNone/>
            </a:pPr>
            <a:r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4CB9AFD-B43D-4A4E-A9CC-7CDD69DA6899}" type="datetime1">
              <a:t>08.10.2026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1326704" cy="1041564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2E940BF-81C2-1FFB-391F-670B2E738E5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182880" y="1645920"/>
            <a:ext cx="5420409" cy="4741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FB763AB3-1DFB-9F9F-2339-33F3C49C8C1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248400" y="1645920"/>
            <a:ext cx="5261184" cy="4741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AAA61A5-2D62-4D26-A7C0-AD45D16A75BB}" type="datetime1">
              <a:t>08.10.2026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186" y="219456"/>
            <a:ext cx="11274552" cy="789851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185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D6A39E64-722E-F001-F641-974F5225314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181631" y="1649451"/>
            <a:ext cx="5212080" cy="4343400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245352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B9C0BFD-5C7B-FA0D-DCE8-95D24728FEB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245352" y="1649451"/>
            <a:ext cx="5212080" cy="4343400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BDD8A3-B7B6-45A0-9AB1-D949B0E67CE8}" type="datetime1">
              <a:t>08.10.2026</a:t>
            </a:fld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182F61C-F6E6-4155-9694-A3D31334F45B}" type="datetime1">
              <a:t>08.10.2026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3192F0B-BD47-4551-8555-95C7C7A64F41}" type="datetime1">
              <a:t>08.10.2026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861" y="207228"/>
            <a:ext cx="11001943" cy="1790700"/>
          </a:xfrm>
        </p:spPr>
        <p:txBody>
          <a:bodyPr anchor="t">
            <a:noAutofit/>
          </a:bodyPr>
          <a:lstStyle>
            <a:lvl1pPr>
              <a:buNone/>
              <a:defRPr sz="7200"/>
            </a:lvl1pPr>
          </a:lstStyle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022195" y="3264408"/>
            <a:ext cx="10147610" cy="2834640"/>
          </a:xfrm>
        </p:spPr>
        <p:txBody>
          <a:bodyPr vert="horz" lIns="91440" tIns="45720" rIns="91440" bIns="45720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D6B9F61-8169-4783-B8C4-4A18C4026503}" type="datetime1">
              <a:t>08.10.2026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5580" y="1089247"/>
            <a:ext cx="6360840" cy="2171716"/>
          </a:xfrm>
        </p:spPr>
        <p:txBody>
          <a:bodyPr anchor="b">
            <a:noAutofit/>
          </a:bodyPr>
          <a:lstStyle>
            <a:lvl1pPr algn="ctr">
              <a:buNone/>
              <a:defRPr sz="7200"/>
            </a:lvl1pPr>
          </a:lstStyle>
          <a:p>
            <a:r>
              <a:t>Образец заголовка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322864" y="3499880"/>
            <a:ext cx="5543550" cy="1771650"/>
          </a:xfrm>
        </p:spPr>
        <p:txBody>
          <a:bodyPr vert="horz" lIns="91440" tIns="45720" rIns="91440" bIns="45720">
            <a:normAutofit/>
          </a:bodyPr>
          <a:lstStyle>
            <a:lvl1pPr marL="0" indent="0" algn="ctr">
              <a:buNone/>
              <a:defRPr sz="1600"/>
            </a:lvl1pPr>
            <a:lvl2pPr marL="228600" indent="0" algn="ctr">
              <a:buNone/>
              <a:defRPr sz="1600"/>
            </a:lvl2pPr>
            <a:lvl3pPr marL="457200" indent="0" algn="ctr">
              <a:buNone/>
              <a:defRPr sz="1600"/>
            </a:lvl3pPr>
            <a:lvl4pPr marL="685800" indent="0" algn="ctr">
              <a:buNone/>
              <a:defRPr sz="1600"/>
            </a:lvl4pPr>
            <a:lvl5pPr marL="914400" indent="0" algn="ctr">
              <a:buNone/>
              <a:defRPr sz="1600"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F91BE9E-5F37-42CD-AF01-61AA02B5BBED}" type="datetime1">
              <a:t>08.10.2026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0835640" cy="969264"/>
          </a:xfrm>
          <a:prstGeom prst="rect">
            <a:avLst/>
          </a:prstGeom>
        </p:spPr>
        <p:txBody>
          <a:bodyPr vert="horz" lIns="91440" tIns="45720" rIns="91440" bIns="45720" anchor="t"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" y="1183206"/>
            <a:ext cx="10835640" cy="5088672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78704" y="6387128"/>
            <a:ext cx="2703777" cy="338328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10477500" y="6387128"/>
            <a:ext cx="1032084" cy="338328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750">
                <a:solidFill>
                  <a:schemeClr val="tx1"/>
                </a:solidFill>
              </a:defRPr>
            </a:lvl1pPr>
          </a:lstStyle>
          <a:p>
            <a:fld id="{6A14468A-DEFC-459E-8886-652A759B4AEF}" type="datetime1">
              <a:t>08.10.2026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509584" y="6387128"/>
            <a:ext cx="457200" cy="338328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750">
                <a:solidFill>
                  <a:schemeClr val="tx1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</p:sldLayoutIdLst>
  <p:hf hdr="0" ftr="0" dt="0"/>
  <p:txStyles>
    <p:titleStyle>
      <a:lvl1pPr algn="l" defTabSz="914400">
        <a:lnSpc>
          <a:spcPct val="85000"/>
        </a:lnSpc>
        <a:spcBef>
          <a:spcPct val="0"/>
        </a:spcBef>
        <a:buNone/>
        <a:defRPr sz="3000" b="0" kern="1200" spc="-100" baseline="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85750" indent="-285750" algn="l" defTabSz="914400">
        <a:lnSpc>
          <a:spcPct val="120000"/>
        </a:lnSpc>
        <a:spcBef>
          <a:spcPts val="1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1pPr>
      <a:lvl2pPr marL="5143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2pPr>
      <a:lvl3pPr marL="7429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3pPr>
      <a:lvl4pPr marL="9715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4pPr>
      <a:lvl5pPr marL="12001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3" pos="168">
          <p15:clr>
            <a:srgbClr val="F26B43"/>
          </p15:clr>
        </p15:guide>
        <p15:guide id="4" orient="horz" pos="168">
          <p15:clr>
            <a:srgbClr val="F26B43"/>
          </p15:clr>
        </p15:guide>
        <p15:guide id="5" pos="7512">
          <p15:clr>
            <a:srgbClr val="F26B43"/>
          </p15:clr>
        </p15:guide>
        <p15:guide id="6" orient="horz" pos="4152">
          <p15:clr>
            <a:srgbClr val="F26B43"/>
          </p15:clr>
        </p15:guide>
        <p15:guide id="12" pos="4728">
          <p15:clr>
            <a:srgbClr val="F26B43"/>
          </p15:clr>
        </p15:guide>
        <p15:guide id="13" pos="5328">
          <p15:clr>
            <a:srgbClr val="F26B43"/>
          </p15:clr>
        </p15:guide>
        <p15:guide id="26" pos="2952">
          <p15:clr>
            <a:srgbClr val="F26B43"/>
          </p15:clr>
        </p15:guide>
        <p15:guide id="27" pos="3096">
          <p15:clr>
            <a:srgbClr val="F26B43"/>
          </p15:clr>
        </p15:guide>
        <p15:guide id="29" pos="4128">
          <p15:clr>
            <a:srgbClr val="F26B43"/>
          </p15:clr>
        </p15:guide>
        <p15:guide id="30" pos="1392">
          <p15:clr>
            <a:srgbClr val="F26B43"/>
          </p15:clr>
        </p15:guide>
        <p15:guide id="3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C83D558-F6AF-4205-8F7A-7ECB4D074D53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025" b="0">
                <a:solidFill>
                  <a:srgbClr val="8BC9C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8BC9C9"/>
                </a:solidFill>
                <a:latin typeface="DejaVu Sans"/>
                <a:ea typeface="DejaVu Sans"/>
                <a:cs typeface="DejaVu Sans"/>
              </a:rPr>
              <a:t>Лабораторная работа № 3.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8820B11-24BD-47F3-AF5F-7935BF6D4CA3}"/>
              </a:ext>
            </a:extLst>
          </p:cNvPr>
          <p:cNvSpPr>
            <a:spLocks noGrp="1"/>
          </p:cNvSpPr>
          <p:nvPr/>
        </p:nvSpPr>
        <p:spPr>
          <a:xfrm>
            <a:off x="609600" y="1762125"/>
            <a:ext cx="7524750" cy="2762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Геометрические</a:t>
            </a:r>
          </a:p>
          <a:p>
            <a:pPr algn="l">
              <a:lnSpc>
                <a:spcPct val="113000"/>
              </a:lnSpc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преобразования</a:t>
            </a:r>
          </a:p>
          <a:p>
            <a:pPr algn="l">
              <a:lnSpc>
                <a:spcPct val="113000"/>
              </a:lnSpc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изображений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32E3A4C-9729-411F-8E21-C05ACA2B7563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763250" cy="904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rPr>
              <a:t>Выполнили Лебёдкин Владислав и Травкова Ирина,</a:t>
            </a:r>
          </a:p>
          <a:p>
            <a:pPr algn="l">
              <a:lnSpc>
                <a:spcPct val="113000"/>
              </a:lnSpc>
              <a:buNone/>
              <a:def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rPr>
              <a:t>группа 932302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E4EBCEF-3EF9-4500-90E4-3689CF98D8A7}"/>
              </a:ext>
            </a:extLst>
          </p:cNvPr>
          <p:cNvSpPr>
            <a:spLocks noGrp="1"/>
          </p:cNvSpPr>
          <p:nvPr/>
        </p:nvSpPr>
        <p:spPr>
          <a:xfrm>
            <a:off x="9448800" y="1714500"/>
            <a:ext cx="2095500" cy="1762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050" b="0">
                <a:solidFill>
                  <a:srgbClr val="39767D"/>
                </a:solidFill>
                <a:latin typeface="DejaVu Sans"/>
                <a:ea typeface="DejaVu Sans"/>
                <a:cs typeface="DejaVu Sans"/>
              </a:defRPr>
            </a:pPr>
            <a:r>
              <a:rPr sz="10050" b="0">
                <a:solidFill>
                  <a:srgbClr val="39767D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8308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4112261-7332-4BAF-A527-822A6EA822D5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Задания 4 варианта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2C66D00-2017-4A16-9758-94AD29939FEC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1345B9C-E7B6-4422-8A56-B964F0B74270}"/>
              </a:ext>
            </a:extLst>
          </p:cNvPr>
          <p:cNvSpPr>
            <a:spLocks noGrp="1"/>
          </p:cNvSpPr>
          <p:nvPr/>
        </p:nvSpPr>
        <p:spPr>
          <a:xfrm>
            <a:off x="533400" y="15716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33934D-A41E-4194-AA24-FE77096100DF}"/>
              </a:ext>
            </a:extLst>
          </p:cNvPr>
          <p:cNvSpPr>
            <a:spLocks noGrp="1"/>
          </p:cNvSpPr>
          <p:nvPr/>
        </p:nvSpPr>
        <p:spPr>
          <a:xfrm>
            <a:off x="1390650" y="1571625"/>
            <a:ext cx="100774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Масштабировать изображение в 0,25 раза (уменьшить в 4 раза).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E74A699-A3DD-4FD5-B677-72A01CEAEE18}"/>
              </a:ext>
            </a:extLst>
          </p:cNvPr>
          <p:cNvSpPr>
            <a:spLocks noGrp="1"/>
          </p:cNvSpPr>
          <p:nvPr/>
        </p:nvSpPr>
        <p:spPr>
          <a:xfrm>
            <a:off x="533400" y="24860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5AA6D5F-FDDD-4543-BC25-F977CD9BA411}"/>
              </a:ext>
            </a:extLst>
          </p:cNvPr>
          <p:cNvSpPr>
            <a:spLocks noGrp="1"/>
          </p:cNvSpPr>
          <p:nvPr/>
        </p:nvSpPr>
        <p:spPr>
          <a:xfrm>
            <a:off x="1390650" y="2486025"/>
            <a:ext cx="100774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Повернуть изображение на 180°.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0BDFDBA-E80A-4B69-9593-E4D34ADBBA57}"/>
              </a:ext>
            </a:extLst>
          </p:cNvPr>
          <p:cNvSpPr>
            <a:spLocks noGrp="1"/>
          </p:cNvSpPr>
          <p:nvPr/>
        </p:nvSpPr>
        <p:spPr>
          <a:xfrm>
            <a:off x="533400" y="34004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D8D8D0A-3D37-421A-B242-21398FF18D38}"/>
              </a:ext>
            </a:extLst>
          </p:cNvPr>
          <p:cNvSpPr>
            <a:spLocks noGrp="1"/>
          </p:cNvSpPr>
          <p:nvPr/>
        </p:nvSpPr>
        <p:spPr>
          <a:xfrm>
            <a:off x="1390650" y="3400425"/>
            <a:ext cx="100774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Сместить изображение на 150 пикселей вправо.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9A0EE0E-3231-471B-858A-67DF4464564A}"/>
              </a:ext>
            </a:extLst>
          </p:cNvPr>
          <p:cNvSpPr>
            <a:spLocks noGrp="1"/>
          </p:cNvSpPr>
          <p:nvPr/>
        </p:nvSpPr>
        <p:spPr>
          <a:xfrm>
            <a:off x="533400" y="43148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50C105-9603-4D15-B1E9-A5BBB17D4866}"/>
              </a:ext>
            </a:extLst>
          </p:cNvPr>
          <p:cNvSpPr>
            <a:spLocks noGrp="1"/>
          </p:cNvSpPr>
          <p:nvPr/>
        </p:nvSpPr>
        <p:spPr>
          <a:xfrm>
            <a:off x="1390650" y="4314825"/>
            <a:ext cx="100774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Отразить изображение относительно обеих осей сразу.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55BA13F-C334-432B-8DB7-EB36F05696A5}"/>
              </a:ext>
            </a:extLst>
          </p:cNvPr>
          <p:cNvSpPr>
            <a:spLocks noGrp="1"/>
          </p:cNvSpPr>
          <p:nvPr/>
        </p:nvSpPr>
        <p:spPr>
          <a:xfrm>
            <a:off x="533400" y="52292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BFA3F47-057F-42C2-8353-EFA9B1C11930}"/>
              </a:ext>
            </a:extLst>
          </p:cNvPr>
          <p:cNvSpPr>
            <a:spLocks noGrp="1"/>
          </p:cNvSpPr>
          <p:nvPr/>
        </p:nvSpPr>
        <p:spPr>
          <a:xfrm>
            <a:off x="1390650" y="5229225"/>
            <a:ext cx="100774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Выполнить перспективное преобразование для объекта на изображении.</a:t>
            </a:r>
          </a:p>
        </p:txBody>
      </p:sp>
    </p:spTree>
    <p:extLst>
      <p:ext uri="{BB962C8B-B14F-4D97-AF65-F5344CB8AC3E}">
        <p14:creationId xmlns:p14="http://schemas.microsoft.com/office/powerpoint/2010/main" val="1743534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9E723D7-AD75-4C77-9879-CE9A56F83A45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Теоретические сведения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B4FA407-19B3-4599-9306-2A2B275EAB6C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7D6080D-8472-4483-9E14-0B147399EB40}"/>
              </a:ext>
            </a:extLst>
          </p:cNvPr>
          <p:cNvSpPr>
            <a:spLocks noGrp="1"/>
          </p:cNvSpPr>
          <p:nvPr/>
        </p:nvSpPr>
        <p:spPr>
          <a:xfrm>
            <a:off x="533400" y="1476375"/>
            <a:ext cx="666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0CBE5C5-F24C-40A6-ACA3-F41C159FE541}"/>
              </a:ext>
            </a:extLst>
          </p:cNvPr>
          <p:cNvSpPr>
            <a:spLocks noGrp="1"/>
          </p:cNvSpPr>
          <p:nvPr/>
        </p:nvSpPr>
        <p:spPr>
          <a:xfrm>
            <a:off x="1390650" y="147637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Геометрическое преобразование изменяет координаты пикселей: размер, положение или форму изображения.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70E00F3-D2CE-40F6-8D79-FAD37F88A515}"/>
              </a:ext>
            </a:extLst>
          </p:cNvPr>
          <p:cNvSpPr>
            <a:spLocks noGrp="1"/>
          </p:cNvSpPr>
          <p:nvPr/>
        </p:nvSpPr>
        <p:spPr>
          <a:xfrm>
            <a:off x="533400" y="2647950"/>
            <a:ext cx="666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8313475-29E9-4942-964D-34FA3C5B2AE3}"/>
              </a:ext>
            </a:extLst>
          </p:cNvPr>
          <p:cNvSpPr>
            <a:spLocks noGrp="1"/>
          </p:cNvSpPr>
          <p:nvPr/>
        </p:nvSpPr>
        <p:spPr>
          <a:xfrm>
            <a:off x="1390650" y="2647950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Аффинные преобразования сохраняют прямые и параллельность. К ним относятся масштабирование, поворот, перенос и отражение.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D2B4340-F0E7-4723-AD1E-3396BCEE8E7C}"/>
              </a:ext>
            </a:extLst>
          </p:cNvPr>
          <p:cNvSpPr>
            <a:spLocks noGrp="1"/>
          </p:cNvSpPr>
          <p:nvPr/>
        </p:nvSpPr>
        <p:spPr>
          <a:xfrm>
            <a:off x="533400" y="3819525"/>
            <a:ext cx="666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EF0551C-D218-4698-A778-4BB4E97266A4}"/>
              </a:ext>
            </a:extLst>
          </p:cNvPr>
          <p:cNvSpPr>
            <a:spLocks noGrp="1"/>
          </p:cNvSpPr>
          <p:nvPr/>
        </p:nvSpPr>
        <p:spPr>
          <a:xfrm>
            <a:off x="1390650" y="381952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Перспективное преобразование задаёт соответствие между четырьмя парами точек. Прямые остаются прямыми, но параллельность может нарушаться.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C0FD82A-C016-4754-ABC2-3ABD930B02C4}"/>
              </a:ext>
            </a:extLst>
          </p:cNvPr>
          <p:cNvSpPr>
            <a:spLocks noGrp="1"/>
          </p:cNvSpPr>
          <p:nvPr/>
        </p:nvSpPr>
        <p:spPr>
          <a:xfrm>
            <a:off x="533400" y="4991100"/>
            <a:ext cx="666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2961DDC-D0A3-441F-8019-B073A8CDC6AF}"/>
              </a:ext>
            </a:extLst>
          </p:cNvPr>
          <p:cNvSpPr>
            <a:spLocks noGrp="1"/>
          </p:cNvSpPr>
          <p:nvPr/>
        </p:nvSpPr>
        <p:spPr>
          <a:xfrm>
            <a:off x="1390650" y="4991100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Интерполяция определяет значения пикселей при пересчёте координат. В работе используется билинейная интерполяция.</a:t>
            </a:r>
          </a:p>
        </p:txBody>
      </p:sp>
    </p:spTree>
    <p:extLst>
      <p:ext uri="{BB962C8B-B14F-4D97-AF65-F5344CB8AC3E}">
        <p14:creationId xmlns:p14="http://schemas.microsoft.com/office/powerpoint/2010/main" val="3807429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BD29A27-3990-44A0-BE42-89C6776FC7D1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Исходное изображение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0B43389-8B5B-4BC2-B2FA-2F0F1C523B14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3400" y="1438275"/>
            <a:ext cx="4191000" cy="41910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65FCDCB-5788-461E-8F1D-9257290640A8}"/>
              </a:ext>
            </a:extLst>
          </p:cNvPr>
          <p:cNvSpPr>
            <a:spLocks noGrp="1"/>
          </p:cNvSpPr>
          <p:nvPr/>
        </p:nvSpPr>
        <p:spPr>
          <a:xfrm>
            <a:off x="5257800" y="1504950"/>
            <a:ext cx="632460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Размер: 740 × 740 пикселей</a:t>
            </a:r>
          </a:p>
          <a:p>
            <a:pPr algn="l">
              <a:lnSpc>
                <a:spcPct val="113000"/>
              </a:lnSpc>
              <a:buNone/>
              <a:def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Цветовое представление: RGB</a:t>
            </a:r>
          </a:p>
          <a:p>
            <a:pPr algn="l">
              <a:lnSpc>
                <a:spcPct val="113000"/>
              </a:lnSpc>
              <a:buNone/>
              <a:def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Файл: abstract.jpg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E1F9941-2D6E-4CD4-83A5-88DE7D3DFE16}"/>
              </a:ext>
            </a:extLst>
          </p:cNvPr>
          <p:cNvSpPr>
            <a:spLocks noGrp="1"/>
          </p:cNvSpPr>
          <p:nvPr/>
        </p:nvSpPr>
        <p:spPr>
          <a:xfrm>
            <a:off x="5257800" y="3009900"/>
            <a:ext cx="6324600" cy="165735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original_image = cv2.imread("abstract.jpg")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changing_image = cv2.cvtColor(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original_image, cv2.COLOR_BGR2RGB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5C4E9F5-54AF-4289-B7EF-D4722CB1745E}"/>
              </a:ext>
            </a:extLst>
          </p:cNvPr>
          <p:cNvSpPr>
            <a:spLocks noGrp="1"/>
          </p:cNvSpPr>
          <p:nvPr/>
        </p:nvSpPr>
        <p:spPr>
          <a:xfrm>
            <a:off x="5257800" y="5000625"/>
            <a:ext cx="6210300" cy="1085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Каждое преобразование выполняется отдельно над исходным изображением.</a:t>
            </a:r>
          </a:p>
        </p:txBody>
      </p:sp>
    </p:spTree>
    <p:extLst>
      <p:ext uri="{BB962C8B-B14F-4D97-AF65-F5344CB8AC3E}">
        <p14:creationId xmlns:p14="http://schemas.microsoft.com/office/powerpoint/2010/main" val="3630781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5C39D65-FE40-4A6E-8CF9-B87B1341765E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1.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78B1D2A-9331-4155-B6FE-B3461FA50822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Масштабирование в 0,25 раза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8D9B055-B4DB-4D33-9452-235FB5CD7D6D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C9B5214-2604-4EBC-B22A-EA2E978E3FDC}"/>
              </a:ext>
            </a:extLst>
          </p:cNvPr>
          <p:cNvSpPr>
            <a:spLocks noGrp="1"/>
          </p:cNvSpPr>
          <p:nvPr/>
        </p:nvSpPr>
        <p:spPr>
          <a:xfrm>
            <a:off x="533400" y="1590675"/>
            <a:ext cx="4229100" cy="1971675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resized_025 = cv2.resize(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changing_image, None,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fx=0.25, fy=0.25,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interpolation=cv2.INTER_LINEAR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ECE20B0-36C3-4DC4-B5D0-D7D6FA11DC8C}"/>
              </a:ext>
            </a:extLst>
          </p:cNvPr>
          <p:cNvSpPr>
            <a:spLocks noGrp="1"/>
          </p:cNvSpPr>
          <p:nvPr/>
        </p:nvSpPr>
        <p:spPr>
          <a:xfrm>
            <a:off x="533400" y="3990975"/>
            <a:ext cx="4229100" cy="1514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740 × 740 → 185 × 185</a:t>
            </a:r>
          </a:p>
          <a:p>
            <a:endParaRPr sz="1875" b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Ширина и высота уменьшены в 4 раза, число пикселей — в 16 раз.</a:t>
            </a:r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048250" y="1724806"/>
            <a:ext cx="6629400" cy="3436964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722C2D3-866D-48CF-9B5B-3EC4E12EF22F}"/>
              </a:ext>
            </a:extLst>
          </p:cNvPr>
          <p:cNvSpPr>
            <a:spLocks noGrp="1"/>
          </p:cNvSpPr>
          <p:nvPr/>
        </p:nvSpPr>
        <p:spPr>
          <a:xfrm>
            <a:off x="533400" y="5791200"/>
            <a:ext cx="111252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На графике изображения показаны в одинаковых по размеру областях. Реальное разрешение результата меньше, поэтому заметна потеря детализации.</a:t>
            </a:r>
          </a:p>
        </p:txBody>
      </p:sp>
    </p:spTree>
    <p:extLst>
      <p:ext uri="{BB962C8B-B14F-4D97-AF65-F5344CB8AC3E}">
        <p14:creationId xmlns:p14="http://schemas.microsoft.com/office/powerpoint/2010/main" val="2865429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433CA3C-8438-4526-917F-7E1345AA94F9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2.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2B7680C-7F67-4D05-8A03-FCA0EBEEDD4D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Поворот на 180°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75E642A-670E-454D-8B26-AC3EBA8F2F04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D6F699F-334B-4CE2-9DBF-9045BACFA1D0}"/>
              </a:ext>
            </a:extLst>
          </p:cNvPr>
          <p:cNvSpPr>
            <a:spLocks noGrp="1"/>
          </p:cNvSpPr>
          <p:nvPr/>
        </p:nvSpPr>
        <p:spPr>
          <a:xfrm>
            <a:off x="533400" y="1504950"/>
            <a:ext cx="11125200" cy="255270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h, w = changing_image.shape[:2]</a:t>
            </a:r>
          </a:p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center = (w // 2, h // 2)</a:t>
            </a:r>
          </a:p>
          <a:p>
            <a:endParaRPr sz="1725" b="0">
              <a:solidFill>
                <a:srgbClr val="E6F0F1"/>
              </a:solidFill>
              <a:latin typeface="DejaVu Sans Mono"/>
              <a:ea typeface="DejaVu Sans Mono"/>
              <a:cs typeface="DejaVu Sans Mono"/>
            </a:endParaRPr>
          </a:p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M_rot = cv2.getRotationMatrix2D(center, 180, 1.0)</a:t>
            </a:r>
          </a:p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rotated_180 = cv2.warpAffine(changing_image, M_rot, (w, h))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D789DB6-BE0C-4D3E-A457-B2C6DF989559}"/>
              </a:ext>
            </a:extLst>
          </p:cNvPr>
          <p:cNvSpPr>
            <a:spLocks noGrp="1"/>
          </p:cNvSpPr>
          <p:nvPr/>
        </p:nvSpPr>
        <p:spPr>
          <a:xfrm>
            <a:off x="533400" y="4457700"/>
            <a:ext cx="111252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Центр, заданный в ноутбуке: (370, 370).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32359A5-BA24-43D6-A811-4DE2EBB39114}"/>
              </a:ext>
            </a:extLst>
          </p:cNvPr>
          <p:cNvSpPr>
            <a:spLocks noGrp="1"/>
          </p:cNvSpPr>
          <p:nvPr/>
        </p:nvSpPr>
        <p:spPr>
          <a:xfrm>
            <a:off x="533400" y="5067300"/>
            <a:ext cx="111252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Угол поворота: 180°. Коэффициент масштаба: 1,0.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FE7441-2FC0-46D2-82AB-45ABE232D862}"/>
              </a:ext>
            </a:extLst>
          </p:cNvPr>
          <p:cNvSpPr>
            <a:spLocks noGrp="1"/>
          </p:cNvSpPr>
          <p:nvPr/>
        </p:nvSpPr>
        <p:spPr>
          <a:xfrm>
            <a:off x="533400" y="5676900"/>
            <a:ext cx="111252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Размер выходного изображения: 740 × 740 пикселей.</a:t>
            </a:r>
          </a:p>
        </p:txBody>
      </p:sp>
    </p:spTree>
    <p:extLst>
      <p:ext uri="{BB962C8B-B14F-4D97-AF65-F5344CB8AC3E}">
        <p14:creationId xmlns:p14="http://schemas.microsoft.com/office/powerpoint/2010/main" val="1581217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57716E1-54FB-4C16-AF2A-FE47E361D946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2.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2DA80AC-5198-45CF-A44F-D728DD17A7CE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Результат поворота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56854A2-2068-4E5A-A8F5-F71A7CB53470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88736" y="1438275"/>
            <a:ext cx="8414528" cy="4362450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42408F0-E433-451A-8662-747CE60BC5DD}"/>
              </a:ext>
            </a:extLst>
          </p:cNvPr>
          <p:cNvSpPr>
            <a:spLocks noGrp="1"/>
          </p:cNvSpPr>
          <p:nvPr/>
        </p:nvSpPr>
        <p:spPr>
          <a:xfrm>
            <a:off x="533400" y="6000750"/>
            <a:ext cx="111252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Фигура повёрнута на 180°: её верхняя и нижняя, левая и правая части поменяли положение.</a:t>
            </a:r>
          </a:p>
        </p:txBody>
      </p:sp>
    </p:spTree>
    <p:extLst>
      <p:ext uri="{BB962C8B-B14F-4D97-AF65-F5344CB8AC3E}">
        <p14:creationId xmlns:p14="http://schemas.microsoft.com/office/powerpoint/2010/main" val="2401903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AD6BF40-638B-49F8-8F5B-9EB8B4344E7D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3.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DEBF343-142B-4E3B-823B-7A1AA48FD2A1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Сдвиг на 150 пикселей вправо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57B15AB-1D5C-424C-9336-34B95433BFA6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4C9C1C2-8868-4FA3-B315-FE0711E1BADB}"/>
              </a:ext>
            </a:extLst>
          </p:cNvPr>
          <p:cNvSpPr>
            <a:spLocks noGrp="1"/>
          </p:cNvSpPr>
          <p:nvPr/>
        </p:nvSpPr>
        <p:spPr>
          <a:xfrm>
            <a:off x="533400" y="1524000"/>
            <a:ext cx="4267200" cy="249555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matrix = np.float32([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[1, 0, 150],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[0, 1,   0]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])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shifted_image = cv2.warpAffine(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changing_image, matrix, (w, h)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236FAB5-CBD5-47FD-888B-579EA1FD7B0D}"/>
              </a:ext>
            </a:extLst>
          </p:cNvPr>
          <p:cNvSpPr>
            <a:spLocks noGrp="1"/>
          </p:cNvSpPr>
          <p:nvPr/>
        </p:nvSpPr>
        <p:spPr>
          <a:xfrm>
            <a:off x="533400" y="4267200"/>
            <a:ext cx="4191000" cy="1457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x′ = x + 150</a:t>
            </a:r>
          </a:p>
          <a:p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y′ = y</a:t>
            </a:r>
          </a:p>
          <a:p>
            <a:endParaRPr sz="1800" b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  <a:p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Размер кадра остаётся</a:t>
            </a:r>
          </a:p>
          <a:p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740 × 740 пикселей.</a:t>
            </a:r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048250" y="1734331"/>
            <a:ext cx="6629400" cy="3436964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81297E-F841-45D8-BBBE-DE631FCF5A88}"/>
              </a:ext>
            </a:extLst>
          </p:cNvPr>
          <p:cNvSpPr>
            <a:spLocks noGrp="1"/>
          </p:cNvSpPr>
          <p:nvPr/>
        </p:nvSpPr>
        <p:spPr>
          <a:xfrm>
            <a:off x="533400" y="5905500"/>
            <a:ext cx="1112520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Слева появилась чёрная полоса шириной 150 пикселей. Правая часть изображения вышла за границу кадра и обрезалась.</a:t>
            </a:r>
          </a:p>
        </p:txBody>
      </p:sp>
    </p:spTree>
    <p:extLst>
      <p:ext uri="{BB962C8B-B14F-4D97-AF65-F5344CB8AC3E}">
        <p14:creationId xmlns:p14="http://schemas.microsoft.com/office/powerpoint/2010/main" val="21600503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A1439AC-42B9-426F-ABD1-8E95A2B2E473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4.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653EBA7-29C1-44D0-9C59-DF41D4CE198F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Отражение относительно обеих осей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193D758-7589-42E4-8E26-0BE82E6DA1E1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A4B554E-6029-43CF-86B9-7962C8DE92C0}"/>
              </a:ext>
            </a:extLst>
          </p:cNvPr>
          <p:cNvSpPr>
            <a:spLocks noGrp="1"/>
          </p:cNvSpPr>
          <p:nvPr/>
        </p:nvSpPr>
        <p:spPr>
          <a:xfrm>
            <a:off x="533400" y="1457325"/>
            <a:ext cx="11125200" cy="66675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mirror_image = cv2.flip(changing_image, -1)</a:t>
            </a: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788980" y="2276475"/>
            <a:ext cx="6614040" cy="34290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5CB5643-16DC-42D8-895C-56FE5FF11D4C}"/>
              </a:ext>
            </a:extLst>
          </p:cNvPr>
          <p:cNvSpPr>
            <a:spLocks noGrp="1"/>
          </p:cNvSpPr>
          <p:nvPr/>
        </p:nvSpPr>
        <p:spPr>
          <a:xfrm>
            <a:off x="533400" y="5953125"/>
            <a:ext cx="1112520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Параметр −1 отражает изображение по горизонтали и вертикали. Это соответствует повороту на 180° вокруг центра сетки пикселей.</a:t>
            </a:r>
          </a:p>
        </p:txBody>
      </p:sp>
    </p:spTree>
    <p:extLst>
      <p:ext uri="{BB962C8B-B14F-4D97-AF65-F5344CB8AC3E}">
        <p14:creationId xmlns:p14="http://schemas.microsoft.com/office/powerpoint/2010/main" val="3893364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D133DC1-12DF-45DA-A073-D71B0AD06A9F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5.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4BD1181-EFCA-40E7-9548-2F84B354BA60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Перспективное преобразование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CCEEDE4-1D4F-48AA-B25B-8F9C8DC772EA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81231E6-9A11-4BF6-BCEF-D4571F431A57}"/>
              </a:ext>
            </a:extLst>
          </p:cNvPr>
          <p:cNvSpPr>
            <a:spLocks noGrp="1"/>
          </p:cNvSpPr>
          <p:nvPr/>
        </p:nvSpPr>
        <p:spPr>
          <a:xfrm>
            <a:off x="533400" y="1504950"/>
            <a:ext cx="5429250" cy="350520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src_points = np.float32([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[100, 80], [400, 120],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[450, 400], [70, 380]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])</a:t>
            </a:r>
          </a:p>
          <a:p>
            <a:endParaRPr sz="1575" b="0">
              <a:solidFill>
                <a:srgbClr val="E6F0F1"/>
              </a:solidFill>
              <a:latin typeface="DejaVu Sans Mono"/>
              <a:ea typeface="DejaVu Sans Mono"/>
              <a:cs typeface="DejaVu Sans Mono"/>
            </a:endParaRP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dst_points = np.float32([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[0, 0], [w - 1, 0],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[w - 1, h - 1], [0, h - 1]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])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F1FA692-A76B-40FB-9900-7491CBE25E81}"/>
              </a:ext>
            </a:extLst>
          </p:cNvPr>
          <p:cNvSpPr>
            <a:spLocks noGrp="1"/>
          </p:cNvSpPr>
          <p:nvPr/>
        </p:nvSpPr>
        <p:spPr>
          <a:xfrm>
            <a:off x="6191250" y="1504950"/>
            <a:ext cx="5486400" cy="259080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matrix = cv2.getPerspectiveTransform(</a:t>
            </a:r>
          </a:p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src_points, dst_points</a:t>
            </a:r>
          </a:p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>
            <a:endParaRPr sz="1425" b="0">
              <a:solidFill>
                <a:srgbClr val="E6F0F1"/>
              </a:solidFill>
              <a:latin typeface="DejaVu Sans Mono"/>
              <a:ea typeface="DejaVu Sans Mono"/>
              <a:cs typeface="DejaVu Sans Mono"/>
            </a:endParaRPr>
          </a:p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point_image = cv2.warpPerspective(</a:t>
            </a:r>
          </a:p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changing_image, matrix, (w, h)</a:t>
            </a:r>
          </a:p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50E58B6-47A0-4FDA-B87F-58993C996062}"/>
              </a:ext>
            </a:extLst>
          </p:cNvPr>
          <p:cNvSpPr>
            <a:spLocks noGrp="1"/>
          </p:cNvSpPr>
          <p:nvPr/>
        </p:nvSpPr>
        <p:spPr>
          <a:xfrm>
            <a:off x="6191250" y="4467225"/>
            <a:ext cx="5467350" cy="1152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Четыре исходные точки переходят в углы кадра 740 × 740. Матрица преобразования имеет размер 3 × 3.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A486132-4374-44E4-BD7E-4E9890EDC63B}"/>
              </a:ext>
            </a:extLst>
          </p:cNvPr>
          <p:cNvSpPr>
            <a:spLocks noGrp="1"/>
          </p:cNvSpPr>
          <p:nvPr/>
        </p:nvSpPr>
        <p:spPr>
          <a:xfrm>
            <a:off x="533400" y="5934075"/>
            <a:ext cx="1112520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Порядок соответствующих точек: верхняя левая, верхняя правая, нижняя правая, нижняя левая.</a:t>
            </a:r>
          </a:p>
        </p:txBody>
      </p:sp>
    </p:spTree>
    <p:extLst>
      <p:ext uri="{BB962C8B-B14F-4D97-AF65-F5344CB8AC3E}">
        <p14:creationId xmlns:p14="http://schemas.microsoft.com/office/powerpoint/2010/main" val="697761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C9D2B2F-2DD3-4BC9-9415-20ED65E067BC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5.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437F7F6-DEFE-4DC4-9DB2-CD600EFA4866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Результат перспективного преобразования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8F981B7-E74D-4881-B033-ACFCB3E21F8B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17342" y="1476375"/>
            <a:ext cx="8157315" cy="4229100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C992494-2B48-47D4-881A-D626F3184909}"/>
              </a:ext>
            </a:extLst>
          </p:cNvPr>
          <p:cNvSpPr>
            <a:spLocks noGrp="1"/>
          </p:cNvSpPr>
          <p:nvPr/>
        </p:nvSpPr>
        <p:spPr>
          <a:xfrm>
            <a:off x="533400" y="5905500"/>
            <a:ext cx="111252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Выбранная четырёхугольная область растянута на весь кадр. Она включает только часть фигуры, поэтому результат показывает увеличенный и искажённый фрагмент.</a:t>
            </a:r>
          </a:p>
        </p:txBody>
      </p:sp>
    </p:spTree>
    <p:extLst>
      <p:ext uri="{BB962C8B-B14F-4D97-AF65-F5344CB8AC3E}">
        <p14:creationId xmlns:p14="http://schemas.microsoft.com/office/powerpoint/2010/main" val="2785167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F605714-9E84-4097-8B10-8C0B610BAB5F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Выводы по работе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D84B5F8-CFF1-4265-A6D4-F7CA3FB7EA92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6FAE9EC-0072-43C3-934C-ADCC14631D95}"/>
              </a:ext>
            </a:extLst>
          </p:cNvPr>
          <p:cNvSpPr>
            <a:spLocks noGrp="1"/>
          </p:cNvSpPr>
          <p:nvPr/>
        </p:nvSpPr>
        <p:spPr>
          <a:xfrm>
            <a:off x="533400" y="14954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A08E675-6A82-4A57-994C-0668302FBC7B}"/>
              </a:ext>
            </a:extLst>
          </p:cNvPr>
          <p:cNvSpPr>
            <a:spLocks noGrp="1"/>
          </p:cNvSpPr>
          <p:nvPr/>
        </p:nvSpPr>
        <p:spPr>
          <a:xfrm>
            <a:off x="1390650" y="149542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Масштабирование уменьшило разрешение с 740 × 740 до 185 × 185 пикселей. Пропорции сохранились, детализация снизилась.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9683F3-048B-4401-9E05-05080C8C05B7}"/>
              </a:ext>
            </a:extLst>
          </p:cNvPr>
          <p:cNvSpPr>
            <a:spLocks noGrp="1"/>
          </p:cNvSpPr>
          <p:nvPr/>
        </p:nvSpPr>
        <p:spPr>
          <a:xfrm>
            <a:off x="533400" y="2667000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F1BFCF6-F138-4240-B5F8-8ABAECF1753C}"/>
              </a:ext>
            </a:extLst>
          </p:cNvPr>
          <p:cNvSpPr>
            <a:spLocks noGrp="1"/>
          </p:cNvSpPr>
          <p:nvPr/>
        </p:nvSpPr>
        <p:spPr>
          <a:xfrm>
            <a:off x="1390650" y="2667000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Поворот и отражение изменили ориентацию фигуры. Размер выходного кадра остался прежним.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4B11DB0-1299-4AEF-9CAF-9F8688052201}"/>
              </a:ext>
            </a:extLst>
          </p:cNvPr>
          <p:cNvSpPr>
            <a:spLocks noGrp="1"/>
          </p:cNvSpPr>
          <p:nvPr/>
        </p:nvSpPr>
        <p:spPr>
          <a:xfrm>
            <a:off x="533400" y="383857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C8054D0-3F1C-4811-9A16-7BF68206CD4D}"/>
              </a:ext>
            </a:extLst>
          </p:cNvPr>
          <p:cNvSpPr>
            <a:spLocks noGrp="1"/>
          </p:cNvSpPr>
          <p:nvPr/>
        </p:nvSpPr>
        <p:spPr>
          <a:xfrm>
            <a:off x="1390650" y="383857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Сдвиг изменил положение изображения на 150 пикселей вправо. Фиксированный размер кадра привёл к обрезке справа.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2360426-E8A2-438B-B4E1-6A2C5A1BFCD8}"/>
              </a:ext>
            </a:extLst>
          </p:cNvPr>
          <p:cNvSpPr>
            <a:spLocks noGrp="1"/>
          </p:cNvSpPr>
          <p:nvPr/>
        </p:nvSpPr>
        <p:spPr>
          <a:xfrm>
            <a:off x="533400" y="5010150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5EBC48B-3A35-4D04-912B-80D1722A9EC6}"/>
              </a:ext>
            </a:extLst>
          </p:cNvPr>
          <p:cNvSpPr>
            <a:spLocks noGrp="1"/>
          </p:cNvSpPr>
          <p:nvPr/>
        </p:nvSpPr>
        <p:spPr>
          <a:xfrm>
            <a:off x="1390650" y="5010150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Перспективное преобразование отобразило выбранную область на прямоугольный кадр. Результат зависит от координат четырёх исходных точек.</a:t>
            </a:r>
          </a:p>
        </p:txBody>
      </p:sp>
    </p:spTree>
    <p:extLst>
      <p:ext uri="{BB962C8B-B14F-4D97-AF65-F5344CB8AC3E}">
        <p14:creationId xmlns:p14="http://schemas.microsoft.com/office/powerpoint/2010/main" val="4046774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30D699-4708-A6C0-ED66-E446111B9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A73811B-0D44-44EB-D6A0-9C6554235186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3150" b="1" dirty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Ответы на контрольные вопросы</a:t>
            </a:r>
            <a:endParaRPr sz="3150" b="1" dirty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6C38EF8-B7F2-27CC-4566-AF502CF53D13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8E8B46D-C6F9-BC60-D379-04BE21D94EE1}"/>
              </a:ext>
            </a:extLst>
          </p:cNvPr>
          <p:cNvSpPr>
            <a:spLocks noGrp="1"/>
          </p:cNvSpPr>
          <p:nvPr/>
        </p:nvSpPr>
        <p:spPr>
          <a:xfrm>
            <a:off x="533400" y="14954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FD70840-B95A-71D4-D48F-10A8E372DEB6}"/>
              </a:ext>
            </a:extLst>
          </p:cNvPr>
          <p:cNvSpPr>
            <a:spLocks noGrp="1"/>
          </p:cNvSpPr>
          <p:nvPr/>
        </p:nvSpPr>
        <p:spPr>
          <a:xfrm>
            <a:off x="1390650" y="149542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875" b="1" dirty="0">
                <a:solidFill>
                  <a:srgbClr val="20333D"/>
                </a:solidFill>
                <a:latin typeface="DejaVu Sans"/>
              </a:rPr>
              <a:t>Какой эффект даёт уменьшение изображения с коэффициентом 0.25? </a:t>
            </a:r>
            <a:r>
              <a:rPr lang="ru-RU" sz="1875" dirty="0">
                <a:solidFill>
                  <a:srgbClr val="20333D"/>
                </a:solidFill>
                <a:latin typeface="DejaVu Sans"/>
              </a:rPr>
              <a:t>Уменьшение изображения в 0.25 раза по каждой оси означает, что его линейные размеры сокращаются в 4 раза, а общее количество пикселей уменьшается в 16 раз. К основным эффектам относятся: потеря мелких деталей и высокочастотных компонентов, снижение вычислительной нагрузки и сохранение пропорций.</a:t>
            </a:r>
          </a:p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endParaRPr sz="1875" b="0" dirty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497C8DA-E112-5912-2116-856F7A5B1E56}"/>
              </a:ext>
            </a:extLst>
          </p:cNvPr>
          <p:cNvSpPr>
            <a:spLocks noGrp="1"/>
          </p:cNvSpPr>
          <p:nvPr/>
        </p:nvSpPr>
        <p:spPr>
          <a:xfrm>
            <a:off x="533400" y="383857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 dirty="0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</a:t>
            </a:r>
            <a:r>
              <a:rPr lang="ru-RU" sz="2250" b="1" dirty="0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2</a:t>
            </a:r>
            <a:endParaRPr sz="2250" b="1" dirty="0">
              <a:solidFill>
                <a:srgbClr val="237E8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EB565DF-EDD7-B256-2052-EB5A9335DA14}"/>
              </a:ext>
            </a:extLst>
          </p:cNvPr>
          <p:cNvSpPr>
            <a:spLocks noGrp="1"/>
          </p:cNvSpPr>
          <p:nvPr/>
        </p:nvSpPr>
        <p:spPr>
          <a:xfrm>
            <a:off x="1390650" y="383857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875" b="1" dirty="0">
                <a:solidFill>
                  <a:srgbClr val="20333D"/>
                </a:solidFill>
                <a:latin typeface="DejaVu Sans"/>
              </a:rPr>
              <a:t>Сколько точек нужно для перспективного преобразования? </a:t>
            </a:r>
            <a:r>
              <a:rPr lang="ru-RU" sz="1875" dirty="0">
                <a:solidFill>
                  <a:srgbClr val="20333D"/>
                </a:solidFill>
                <a:latin typeface="DejaVu Sans"/>
              </a:rPr>
              <a:t>Для перспективного преобразования нужно 4 пары точек, так как матрица </a:t>
            </a:r>
            <a:r>
              <a:rPr lang="ru-RU" sz="1875" dirty="0" err="1">
                <a:solidFill>
                  <a:srgbClr val="20333D"/>
                </a:solidFill>
                <a:latin typeface="DejaVu Sans"/>
              </a:rPr>
              <a:t>гомографии</a:t>
            </a:r>
            <a:r>
              <a:rPr lang="ru-RU" sz="1875" dirty="0">
                <a:solidFill>
                  <a:srgbClr val="20333D"/>
                </a:solidFill>
                <a:latin typeface="DejaVu Sans"/>
              </a:rPr>
              <a:t> имеет 8 неизвестных параметров. Четыре точки дают ровно 8 уравнений, что позволяет однозначно решить систему. В коде это реализовано через cv2.getPerspectiveTransform, где мы задаём углы исходной трапеции и целевого прямоугольника.</a:t>
            </a:r>
          </a:p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endParaRPr sz="1875" b="0" dirty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21133849"/>
      </p:ext>
    </p:extLst>
  </p:cSld>
  <p:clrMapOvr>
    <a:masterClrMapping/>
  </p:clrMapOvr>
</p:sld>
</file>

<file path=ppt/theme/theme1.xml><?xml version="1.0" encoding="utf-8"?>
<a:theme xmlns:a="http://schemas.openxmlformats.org/drawingml/2006/main" name="Дюна">
  <a:themeElements>
    <a:clrScheme name="Дюна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Дюн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Дюна">
  <a:themeElements>
    <a:clrScheme name="Дюна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Дюн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1363</Words>
  <Application>Microsoft Office PowerPoint</Application>
  <DocSecurity>0</DocSecurity>
  <PresentationFormat>Широкоэкранный</PresentationFormat>
  <Paragraphs>141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Arial</vt:lpstr>
      <vt:lpstr>DejaVu Sans</vt:lpstr>
      <vt:lpstr>DejaVu Sans Mono</vt:lpstr>
      <vt:lpstr>Neue Haas Grotesk Text Pro</vt:lpstr>
      <vt:lpstr>Дюна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Ирина</cp:lastModifiedBy>
  <cp:revision>2</cp:revision>
  <dcterms:created xsi:type="dcterms:W3CDTF">2026-10-06T18:53:43Z</dcterms:created>
  <dcterms:modified xsi:type="dcterms:W3CDTF">2026-10-08T04:04:25Z</dcterms:modified>
</cp:coreProperties>
</file>