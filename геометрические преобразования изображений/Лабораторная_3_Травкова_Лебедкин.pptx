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4064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A2FF-E4B7-FC63-2FA6-50A65CFC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ED641-CF58-2E64-CDD5-0865EAE16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AD45C-17BA-5984-F406-27D014A9E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A6CDF-112A-D712-4734-B287DADB17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1694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anchor="b">
            <a:normAutofit/>
          </a:bodyPr>
          <a:lstStyle>
            <a:lvl1pPr>
              <a:buNone/>
              <a:defRPr sz="44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Образец подзаголовка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/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buNone/>
              <a:defRPr>
                <a:solidFill>
                  <a:schemeClr val="tx2"/>
                </a:solidFill>
              </a:defRPr>
            </a:lvl1pPr>
          </a:lstStyle>
          <a:p>
            <a:fld id="{9EC08F63-68FD-44F9-A52E-105615C8C7C5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ED1C2B-1434-41FF-A42D-A6C0AEFEF163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anchor="t">
            <a:normAutofit/>
          </a:bodyPr>
          <a:lstStyle>
            <a:lvl1pPr>
              <a:buNone/>
              <a:defRPr sz="50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anchor="b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Образец подзаголовка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/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370F9359-BB8B-45FD-8B86-138FF0155BE1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2"/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5744E98A-C6CB-4740-94CF-7B79157857DC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buNone/>
              <a:defRPr sz="6900">
                <a:solidFill>
                  <a:schemeClr val="tx2"/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8F314C3C-5380-447C-8C4A-80885D6C1B2B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buNone/>
              <a:defRPr sz="7600" baseline="0"/>
            </a:lvl1pPr>
          </a:lstStyle>
          <a:p>
            <a:r>
              <a:t>Образец заголовка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anchor="b"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0B1818-EA50-4E6B-B1F5-269F22071F39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buNone/>
              <a:defRPr sz="5800"/>
            </a:lvl1pPr>
          </a:lstStyle>
          <a:p>
            <a:r>
              <a:t>Образец заголовка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/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marL="228600" lvl="0" indent="-228600">
              <a:buNone/>
            </a:pPr>
            <a:r>
              <a:t>Образец текста</a:t>
            </a:r>
          </a:p>
          <a:p>
            <a:pPr marL="228600" lvl="1" indent="-228600">
              <a:buNone/>
            </a:pPr>
            <a:r>
              <a:t>Второй уровень</a:t>
            </a:r>
          </a:p>
          <a:p>
            <a:pPr marL="228600" lvl="2" indent="-228600">
              <a:buNone/>
            </a:pPr>
            <a:r>
              <a:t>Третий уровень</a:t>
            </a:r>
          </a:p>
          <a:p>
            <a:pPr marL="228600" lvl="3" indent="-228600">
              <a:buNone/>
            </a:pPr>
            <a:r>
              <a:t>Четвертый уровень</a:t>
            </a:r>
          </a:p>
          <a:p>
            <a:pPr marL="228600" lvl="4" indent="-228600">
              <a:buNone/>
            </a:pPr>
            <a:r>
              <a:t>Пятый уровень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9E84084-15D7-4F36-859F-F56C53A6F4E5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buNone/>
              <a:defRPr sz="3000"/>
            </a:lvl1pPr>
          </a:lstStyle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4255E2A-8982-450C-A923-417B0C2E922F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buNone/>
              <a:defRPr sz="3000"/>
            </a:lvl1pPr>
          </a:lstStyle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CAFA87-D25E-497C-A210-941991E7D2A4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t>Образец заголовка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/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60F6139E-B88E-4434-A7F1-B43174DC65B6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74670348-D143-436F-9129-EED979619D28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0BF40F54-ED29-4155-B487-1AE9DC91D7FE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4A6BD9A3-5529-4EFB-87FC-DF25E53CA87E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/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t>Образец заголовка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/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EAD283-6F5C-4FE7-96A5-7DA948460113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t>Образец заголовка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/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DDA65EB6-0C0C-4723-87DB-EADF164F8E5B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anchor="b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F2CEB32D-B953-42BB-A23C-01EA4E11BFF7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/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buNone/>
              <a:defRPr sz="3000"/>
            </a:lvl1pPr>
          </a:lstStyle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/>
              <a:buChar char="•"/>
              <a:defRPr sz="1400"/>
            </a:lvl1pPr>
            <a:lvl2pPr marL="514350" indent="-285750">
              <a:buFont typeface="Arial"/>
              <a:buChar char="•"/>
              <a:defRPr sz="1400"/>
            </a:lvl2pPr>
            <a:lvl3pPr marL="742950" indent="-285750">
              <a:buFont typeface="Arial"/>
              <a:buChar char="•"/>
              <a:defRPr sz="1400"/>
            </a:lvl3pPr>
            <a:lvl4pPr marL="857250" indent="-171450">
              <a:buFont typeface="Arial"/>
              <a:buChar char="•"/>
              <a:defRPr sz="1400"/>
            </a:lvl4pPr>
            <a:lvl5pPr marL="1085850" indent="-171450">
              <a:buFont typeface="Arial"/>
              <a:buChar char="•"/>
              <a:defRPr sz="1400"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2B12F209-C4FA-40C7-B9A5-2CBFF18E338A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/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buNone/>
              <a:defRPr sz="3000"/>
            </a:lvl1pPr>
          </a:lstStyle>
          <a:p>
            <a:r>
              <a:t>Образец заголовка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/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CB83988-88B5-4B4B-8004-AD74D8DCA8B3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</a:extLst>
          </p:cNvPr>
          <p:cNvSpPr>
            <a:spLocks noGrp="1"/>
          </p:cNvSpPr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0EDE6"/>
              </a:solidFill>
              <a:latin typeface="Neue Haas Grotesk Text Pro"/>
              <a:ea typeface="Neue Haas Grotesk Text Pro"/>
              <a:cs typeface="Neue Haas Grotesk Text Pr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buNone/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298FEDD-BD0E-44D0-8A43-43D2423273A1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>
              <a:buNone/>
            </a:pPr>
            <a:r>
              <a:t>Click to edit Statement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E04A568-6778-4326-8F60-A8331F338313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buNone/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/>
              <a:buNone/>
              <a:defRPr sz="5000" spc="-50" baseline="0"/>
            </a:lvl1pPr>
          </a:lstStyle>
          <a:p>
            <a:pPr lvl="0">
              <a:buNone/>
            </a:pPr>
            <a:r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4CB9AFD-B43D-4A4E-A9CC-7CDD69DA6899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AA61A5-2D62-4D26-A7C0-AD45D16A75BB}" type="datetime1">
              <a:t>15.10.2026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DD8A3-B7B6-45A0-9AB1-D949B0E67CE8}" type="datetime1">
              <a:t>15.10.2026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82F61C-F6E6-4155-9694-A3D31334F45B}" type="datetime1">
              <a:t>15.10.2026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192F0B-BD47-4551-8555-95C7C7A64F41}" type="datetime1">
              <a:t>15.10.2026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buNone/>
              <a:defRPr sz="7200"/>
            </a:lvl1pPr>
          </a:lstStyle>
          <a:p>
            <a:r>
              <a:t>Образец заголовка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D6B9F61-8169-4783-B8C4-4A18C4026503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buNone/>
              <a:defRPr sz="7200"/>
            </a:lvl1pPr>
          </a:lstStyle>
          <a:p>
            <a:r>
              <a:t>Образец заголовка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>
            <a:normAutofit/>
          </a:bodyPr>
          <a:lstStyle>
            <a:lvl1pPr marL="0" indent="0" algn="ctr">
              <a:buNone/>
              <a:defRPr sz="1600"/>
            </a:lvl1pPr>
            <a:lvl2pPr marL="228600" indent="0" algn="ctr">
              <a:buNone/>
              <a:defRPr sz="1600"/>
            </a:lvl2pPr>
            <a:lvl3pPr marL="457200" indent="0" algn="ctr">
              <a:buNone/>
              <a:defRPr sz="1600"/>
            </a:lvl3pPr>
            <a:lvl4pPr marL="685800" indent="0" algn="ctr">
              <a:buNone/>
              <a:defRPr sz="1600"/>
            </a:lvl4pPr>
            <a:lvl5pPr marL="914400" indent="0" algn="ctr">
              <a:buNone/>
              <a:defRPr sz="1600"/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91BE9E-5F37-42CD-AF01-61AA02B5BBED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94C9D9-2DEA-415A-A3DF-2372EDC3FB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750">
                <a:solidFill>
                  <a:schemeClr val="tx1"/>
                </a:solidFill>
              </a:defRPr>
            </a:lvl1pPr>
          </a:lstStyle>
          <a:p>
            <a:fld id="{6A14468A-DEFC-459E-8886-652A759B4AEF}" type="datetime1">
              <a:t>15.10.2026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750">
                <a:solidFill>
                  <a:schemeClr val="tx1"/>
                </a:solidFill>
              </a:defRPr>
            </a:lvl1pPr>
          </a:lstStyle>
          <a:p>
            <a:fld id="{E294C9D9-2DEA-415A-A3DF-2372EDC3FB1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85750" indent="-285750" algn="l" defTabSz="914400">
        <a:lnSpc>
          <a:spcPct val="120000"/>
        </a:lnSpc>
        <a:spcBef>
          <a:spcPts val="1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28575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marL="742950" indent="-28575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971550" indent="-28575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200150" indent="-28575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83D558-F6AF-4205-8F7A-7ECB4D074D5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025" b="0">
                <a:solidFill>
                  <a:srgbClr val="8BC9C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8BC9C9"/>
                </a:solidFill>
                <a:latin typeface="DejaVu Sans"/>
                <a:ea typeface="DejaVu Sans"/>
                <a:cs typeface="DejaVu Sans"/>
              </a:rPr>
              <a:t>Лабораторная</a:t>
            </a:r>
            <a:r>
              <a:rPr sz="2025" b="0" dirty="0">
                <a:solidFill>
                  <a:srgbClr val="8BC9C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8BC9C9"/>
                </a:solidFill>
                <a:latin typeface="DejaVu Sans"/>
                <a:ea typeface="DejaVu Sans"/>
                <a:cs typeface="DejaVu Sans"/>
              </a:rPr>
              <a:t>работа</a:t>
            </a:r>
            <a:r>
              <a:rPr sz="2025" b="0" dirty="0">
                <a:solidFill>
                  <a:srgbClr val="8BC9C9"/>
                </a:solidFill>
                <a:latin typeface="DejaVu Sans"/>
                <a:ea typeface="DejaVu Sans"/>
                <a:cs typeface="DejaVu Sans"/>
              </a:rPr>
              <a:t> № 3.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8820B11-24BD-47F3-AF5F-7935BF6D4CA3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75247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Геометрические</a:t>
            </a:r>
            <a:endParaRPr sz="43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3000"/>
              </a:lnSpc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преобразования</a:t>
            </a:r>
            <a:endParaRPr sz="43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3000"/>
              </a:lnSpc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изображений</a:t>
            </a:r>
            <a:endParaRPr sz="43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2E3A4C-9729-411F-8E21-C05ACA2B7563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00" b="0">
                <a:solidFill>
                  <a:srgbClr val="D5E2E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5E2E7"/>
                </a:solidFill>
                <a:latin typeface="DejaVu Sans"/>
                <a:ea typeface="DejaVu Sans"/>
                <a:cs typeface="DejaVu Sans"/>
              </a:rPr>
              <a:t>Выполнили Лебёдкин Владислав и Травкова Ирина,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D5E2E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5E2E7"/>
                </a:solidFill>
                <a:latin typeface="DejaVu Sans"/>
                <a:ea typeface="DejaVu Sans"/>
                <a:cs typeface="DejaVu Sans"/>
              </a:rPr>
              <a:t>группа 932302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4EBCEF-3EF9-4500-90E4-3689CF98D8A7}"/>
              </a:ext>
            </a:extLst>
          </p:cNvPr>
          <p:cNvSpPr>
            <a:spLocks noGrp="1"/>
          </p:cNvSpPr>
          <p:nvPr/>
        </p:nvSpPr>
        <p:spPr>
          <a:xfrm>
            <a:off x="9448800" y="1714500"/>
            <a:ext cx="209550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050" b="0">
                <a:solidFill>
                  <a:srgbClr val="39767D"/>
                </a:solidFill>
                <a:latin typeface="DejaVu Sans"/>
                <a:ea typeface="DejaVu Sans"/>
                <a:cs typeface="DejaVu Sans"/>
              </a:defRPr>
            </a:pPr>
            <a:r>
              <a:rPr sz="10050" b="0" dirty="0">
                <a:solidFill>
                  <a:srgbClr val="39767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30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112261-7332-4BAF-A527-822A6EA822D5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dirty="0" err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Задания</a:t>
            </a:r>
            <a:r>
              <a:rPr sz="3150" b="1" dirty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 4 </a:t>
            </a:r>
            <a:r>
              <a:rPr sz="3150" b="1" dirty="0" err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варианта</a:t>
            </a:r>
            <a:endParaRPr sz="3150" b="1" dirty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2C66D00-2017-4A16-9758-94AD29939FEC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345B9C-E7B6-4422-8A56-B964F0B74270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3934D-A41E-4194-AA24-FE77096100DF}"/>
              </a:ext>
            </a:extLst>
          </p:cNvPr>
          <p:cNvSpPr>
            <a:spLocks noGrp="1"/>
          </p:cNvSpPr>
          <p:nvPr/>
        </p:nvSpPr>
        <p:spPr>
          <a:xfrm>
            <a:off x="1390650" y="1571625"/>
            <a:ext cx="10077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Масштабировать изображение в 0,25 раза (уменьшить в 4 раза).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74A699-A3DD-4FD5-B677-72A01CEAEE18}"/>
              </a:ext>
            </a:extLst>
          </p:cNvPr>
          <p:cNvSpPr>
            <a:spLocks noGrp="1"/>
          </p:cNvSpPr>
          <p:nvPr/>
        </p:nvSpPr>
        <p:spPr>
          <a:xfrm>
            <a:off x="533400" y="24860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AA6D5F-FDDD-4543-BC25-F977CD9BA411}"/>
              </a:ext>
            </a:extLst>
          </p:cNvPr>
          <p:cNvSpPr>
            <a:spLocks noGrp="1"/>
          </p:cNvSpPr>
          <p:nvPr/>
        </p:nvSpPr>
        <p:spPr>
          <a:xfrm>
            <a:off x="1390650" y="2486025"/>
            <a:ext cx="10077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Повернуть изображение на 180°.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BDFDBA-E80A-4B69-9593-E4D34ADBBA57}"/>
              </a:ext>
            </a:extLst>
          </p:cNvPr>
          <p:cNvSpPr>
            <a:spLocks noGrp="1"/>
          </p:cNvSpPr>
          <p:nvPr/>
        </p:nvSpPr>
        <p:spPr>
          <a:xfrm>
            <a:off x="533400" y="34004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8D8D0A-3D37-421A-B242-21398FF18D38}"/>
              </a:ext>
            </a:extLst>
          </p:cNvPr>
          <p:cNvSpPr>
            <a:spLocks noGrp="1"/>
          </p:cNvSpPr>
          <p:nvPr/>
        </p:nvSpPr>
        <p:spPr>
          <a:xfrm>
            <a:off x="1390650" y="3400425"/>
            <a:ext cx="10077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Сместить изображение на 150 пикселей вправо.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A0EE0E-3231-471B-858A-67DF4464564A}"/>
              </a:ext>
            </a:extLst>
          </p:cNvPr>
          <p:cNvSpPr>
            <a:spLocks noGrp="1"/>
          </p:cNvSpPr>
          <p:nvPr/>
        </p:nvSpPr>
        <p:spPr>
          <a:xfrm>
            <a:off x="533400" y="43148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50C105-9603-4D15-B1E9-A5BBB17D4866}"/>
              </a:ext>
            </a:extLst>
          </p:cNvPr>
          <p:cNvSpPr>
            <a:spLocks noGrp="1"/>
          </p:cNvSpPr>
          <p:nvPr/>
        </p:nvSpPr>
        <p:spPr>
          <a:xfrm>
            <a:off x="1390650" y="4314825"/>
            <a:ext cx="10077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Отразить изображение относительно обеих осей сразу.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5BA13F-C334-432B-8DB7-EB36F05696A5}"/>
              </a:ext>
            </a:extLst>
          </p:cNvPr>
          <p:cNvSpPr>
            <a:spLocks noGrp="1"/>
          </p:cNvSpPr>
          <p:nvPr/>
        </p:nvSpPr>
        <p:spPr>
          <a:xfrm>
            <a:off x="533400" y="52292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FA3F47-057F-42C2-8353-EFA9B1C11930}"/>
              </a:ext>
            </a:extLst>
          </p:cNvPr>
          <p:cNvSpPr>
            <a:spLocks noGrp="1"/>
          </p:cNvSpPr>
          <p:nvPr/>
        </p:nvSpPr>
        <p:spPr>
          <a:xfrm>
            <a:off x="1390650" y="5229225"/>
            <a:ext cx="10077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Выполнить перспективное преобразование для объекта на изображении.</a:t>
            </a:r>
          </a:p>
        </p:txBody>
      </p:sp>
    </p:spTree>
    <p:extLst>
      <p:ext uri="{BB962C8B-B14F-4D97-AF65-F5344CB8AC3E}">
        <p14:creationId xmlns:p14="http://schemas.microsoft.com/office/powerpoint/2010/main" val="174353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9E723D7-AD75-4C77-9879-CE9A56F83A45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Теоретические сведения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4FA407-19B3-4599-9306-2A2B275EAB6C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7D6080D-8472-4483-9E14-0B147399EB40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CBE5C5-F24C-40A6-ACA3-F41C159FE541}"/>
              </a:ext>
            </a:extLst>
          </p:cNvPr>
          <p:cNvSpPr>
            <a:spLocks noGrp="1"/>
          </p:cNvSpPr>
          <p:nvPr/>
        </p:nvSpPr>
        <p:spPr>
          <a:xfrm>
            <a:off x="1390650" y="147637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Геометрическое преобразование изменяет координаты пикселей: размер, положение или форму изображения.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0E00F3-D2CE-40F6-8D79-FAD37F88A515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313475-29E9-4942-964D-34FA3C5B2AE3}"/>
              </a:ext>
            </a:extLst>
          </p:cNvPr>
          <p:cNvSpPr>
            <a:spLocks noGrp="1"/>
          </p:cNvSpPr>
          <p:nvPr/>
        </p:nvSpPr>
        <p:spPr>
          <a:xfrm>
            <a:off x="1390650" y="2647950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Аффинные преобразования сохраняют прямые и параллельность. К ним относятся масштабирование, поворот, перенос и отражение.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2B4340-F0E7-4723-AD1E-3396BCEE8E7C}"/>
              </a:ext>
            </a:extLst>
          </p:cNvPr>
          <p:cNvSpPr>
            <a:spLocks noGrp="1"/>
          </p:cNvSpPr>
          <p:nvPr/>
        </p:nvSpPr>
        <p:spPr>
          <a:xfrm>
            <a:off x="533400" y="381952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F0551C-D218-4698-A778-4BB4E97266A4}"/>
              </a:ext>
            </a:extLst>
          </p:cNvPr>
          <p:cNvSpPr>
            <a:spLocks noGrp="1"/>
          </p:cNvSpPr>
          <p:nvPr/>
        </p:nvSpPr>
        <p:spPr>
          <a:xfrm>
            <a:off x="1390650" y="381952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Перспективное преобразование задаёт соответствие между четырьмя парами точек. Прямые остаются прямыми, но параллельность может нарушаться.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0FD82A-C016-4754-ABC2-3ABD930B02C4}"/>
              </a:ext>
            </a:extLst>
          </p:cNvPr>
          <p:cNvSpPr>
            <a:spLocks noGrp="1"/>
          </p:cNvSpPr>
          <p:nvPr/>
        </p:nvSpPr>
        <p:spPr>
          <a:xfrm>
            <a:off x="533400" y="4991100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961DDC-D0A3-441F-8019-B073A8CDC6AF}"/>
              </a:ext>
            </a:extLst>
          </p:cNvPr>
          <p:cNvSpPr>
            <a:spLocks noGrp="1"/>
          </p:cNvSpPr>
          <p:nvPr/>
        </p:nvSpPr>
        <p:spPr>
          <a:xfrm>
            <a:off x="1390650" y="4991100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Интерполяция определяет значения пикселей при пересчёте координат. В работе используется билинейная интерполяция.</a:t>
            </a:r>
          </a:p>
        </p:txBody>
      </p:sp>
    </p:spTree>
    <p:extLst>
      <p:ext uri="{BB962C8B-B14F-4D97-AF65-F5344CB8AC3E}">
        <p14:creationId xmlns:p14="http://schemas.microsoft.com/office/powerpoint/2010/main" val="380742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BD29A27-3990-44A0-BE42-89C6776FC7D1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Исходное изображение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B43389-8B5B-4BC2-B2FA-2F0F1C523B14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438275"/>
            <a:ext cx="4191000" cy="4191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5FCDCB-5788-461E-8F1D-9257290640A8}"/>
              </a:ext>
            </a:extLst>
          </p:cNvPr>
          <p:cNvSpPr>
            <a:spLocks noGrp="1"/>
          </p:cNvSpPr>
          <p:nvPr/>
        </p:nvSpPr>
        <p:spPr>
          <a:xfrm>
            <a:off x="5257800" y="1504950"/>
            <a:ext cx="63246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Размер: 740 × 740 пикселей</a:t>
            </a:r>
          </a:p>
          <a:p>
            <a:pPr algn="l">
              <a:lnSpc>
                <a:spcPct val="113000"/>
              </a:lnSpc>
              <a:buNone/>
              <a:def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Цветовое представление: RGB</a:t>
            </a:r>
          </a:p>
          <a:p>
            <a:pPr algn="l">
              <a:lnSpc>
                <a:spcPct val="113000"/>
              </a:lnSpc>
              <a:buNone/>
              <a:def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Файл: abstract.jpg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1F9941-2D6E-4CD4-83A5-88DE7D3DFE16}"/>
              </a:ext>
            </a:extLst>
          </p:cNvPr>
          <p:cNvSpPr>
            <a:spLocks noGrp="1"/>
          </p:cNvSpPr>
          <p:nvPr/>
        </p:nvSpPr>
        <p:spPr>
          <a:xfrm>
            <a:off x="5257800" y="3009900"/>
            <a:ext cx="6324600" cy="165735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original_image = cv2.imread("abstract.jpg")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changing_image = cv2.cvtColor(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original_image, cv2.COLOR_BGR2RGB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C4E9F5-54AF-4289-B7EF-D4722CB1745E}"/>
              </a:ext>
            </a:extLst>
          </p:cNvPr>
          <p:cNvSpPr>
            <a:spLocks noGrp="1"/>
          </p:cNvSpPr>
          <p:nvPr/>
        </p:nvSpPr>
        <p:spPr>
          <a:xfrm>
            <a:off x="5257800" y="5000625"/>
            <a:ext cx="62103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9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Каждое преобразование выполняется отдельно над исходным изображением.</a:t>
            </a:r>
          </a:p>
        </p:txBody>
      </p:sp>
    </p:spTree>
    <p:extLst>
      <p:ext uri="{BB962C8B-B14F-4D97-AF65-F5344CB8AC3E}">
        <p14:creationId xmlns:p14="http://schemas.microsoft.com/office/powerpoint/2010/main" val="363078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C39D65-FE40-4A6E-8CF9-B87B1341765E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1.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8B1D2A-9331-4155-B6FE-B3461FA50822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Масштабирование в 0,25 раза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D9B055-B4DB-4D33-9452-235FB5CD7D6D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9B5214-2604-4EBC-B22A-EA2E978E3FDC}"/>
              </a:ext>
            </a:extLst>
          </p:cNvPr>
          <p:cNvSpPr>
            <a:spLocks noGrp="1"/>
          </p:cNvSpPr>
          <p:nvPr/>
        </p:nvSpPr>
        <p:spPr>
          <a:xfrm>
            <a:off x="533400" y="1590675"/>
            <a:ext cx="4229100" cy="1971675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resized_025 = cv2.resize(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changing_image, None,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fx=0.25, fy=0.25,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interpolation=cv2.INTER_LINEAR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CE20B0-36C3-4DC4-B5D0-D7D6FA11DC8C}"/>
              </a:ext>
            </a:extLst>
          </p:cNvPr>
          <p:cNvSpPr>
            <a:spLocks noGrp="1"/>
          </p:cNvSpPr>
          <p:nvPr/>
        </p:nvSpPr>
        <p:spPr>
          <a:xfrm>
            <a:off x="533400" y="3990975"/>
            <a:ext cx="4229100" cy="1514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740 × 740 → 185 × 185</a:t>
            </a:r>
          </a:p>
          <a:p>
            <a:endParaRPr sz="1875" b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Ширина и высота уменьшены в 4 раза, число пикселей — в 16 раз.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724806"/>
            <a:ext cx="6629400" cy="343696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22C2D3-866D-48CF-9B5B-3EC4E12EF22F}"/>
              </a:ext>
            </a:extLst>
          </p:cNvPr>
          <p:cNvSpPr>
            <a:spLocks noGrp="1"/>
          </p:cNvSpPr>
          <p:nvPr/>
        </p:nvSpPr>
        <p:spPr>
          <a:xfrm>
            <a:off x="533400" y="5791200"/>
            <a:ext cx="1112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На графике изображения показаны в одинаковых по размеру областях. Реальное разрешение результата меньше, поэтому заметна потеря детализации.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286542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33CA3C-8438-4526-917F-7E1345AA94F9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2.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B7680C-7F67-4D05-8A03-FCA0EBEEDD4D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Поворот на 180°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5E642A-670E-454D-8B26-AC3EBA8F2F04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6F699F-334B-4CE2-9DBF-9045BACFA1D0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1125200" cy="255270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h, w = changing_image.shape[:2]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center = (w // 2, h // 2)</a:t>
            </a:r>
          </a:p>
          <a:p>
            <a:endParaRPr sz="1725" b="0">
              <a:solidFill>
                <a:srgbClr val="E6F0F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M_rot = cv2.getRotationMatrix2D(center, 180, 1.0)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rotated_180 = cv2.warpAffine(changing_image, M_rot, (w, h))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789DB6-BE0C-4D3E-A457-B2C6DF989559}"/>
              </a:ext>
            </a:extLst>
          </p:cNvPr>
          <p:cNvSpPr>
            <a:spLocks noGrp="1"/>
          </p:cNvSpPr>
          <p:nvPr/>
        </p:nvSpPr>
        <p:spPr>
          <a:xfrm>
            <a:off x="533400" y="4457700"/>
            <a:ext cx="11125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Центр, заданный в ноутбуке: (370, 370).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32359A5-BA24-43D6-A811-4DE2EBB39114}"/>
              </a:ext>
            </a:extLst>
          </p:cNvPr>
          <p:cNvSpPr>
            <a:spLocks noGrp="1"/>
          </p:cNvSpPr>
          <p:nvPr/>
        </p:nvSpPr>
        <p:spPr>
          <a:xfrm>
            <a:off x="533400" y="5067300"/>
            <a:ext cx="11125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Угол поворота: 180°. Коэффициент масштаба: 1,0.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FE7441-2FC0-46D2-82AB-45ABE232D862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Размер выходного изображения: 740 × 740 пикселей.</a:t>
            </a:r>
          </a:p>
        </p:txBody>
      </p:sp>
    </p:spTree>
    <p:extLst>
      <p:ext uri="{BB962C8B-B14F-4D97-AF65-F5344CB8AC3E}">
        <p14:creationId xmlns:p14="http://schemas.microsoft.com/office/powerpoint/2010/main" val="158121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7716E1-54FB-4C16-AF2A-FE47E361D946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2.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DA80AC-5198-45CF-A44F-D728DD17A7CE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Результат поворота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6854A2-2068-4E5A-A8F5-F71A7CB53470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88736" y="1438275"/>
            <a:ext cx="8414528" cy="43624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2408F0-E433-451A-8662-747CE60BC5DD}"/>
              </a:ext>
            </a:extLst>
          </p:cNvPr>
          <p:cNvSpPr>
            <a:spLocks noGrp="1"/>
          </p:cNvSpPr>
          <p:nvPr/>
        </p:nvSpPr>
        <p:spPr>
          <a:xfrm>
            <a:off x="533400" y="6000750"/>
            <a:ext cx="111252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Фигура повёрнута на 180°: её верхняя и нижняя, левая и правая части поменяли положение.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24019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D6BF40-638B-49F8-8F5B-9EB8B4344E7D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3.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EBF343-142B-4E3B-823B-7A1AA48FD2A1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Сдвиг на 150 пикселей вправо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7B15AB-1D5C-424C-9336-34B95433BFA6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C9C1C2-8868-4FA3-B315-FE0711E1BADB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4267200" cy="249555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matrix = np.float32([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[1, 0, 150],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[0, 1,   0]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shifted_image = cv2.warpAffine(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changing_image, matrix, (w, h)</a:t>
            </a:r>
          </a:p>
          <a:p>
            <a:pPr algn="l">
              <a:lnSpc>
                <a:spcPct val="113000"/>
              </a:lnSpc>
              <a:buNone/>
              <a:def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236FAB5-CBD5-47FD-888B-579EA1FD7B0D}"/>
              </a:ext>
            </a:extLst>
          </p:cNvPr>
          <p:cNvSpPr>
            <a:spLocks noGrp="1"/>
          </p:cNvSpPr>
          <p:nvPr/>
        </p:nvSpPr>
        <p:spPr>
          <a:xfrm>
            <a:off x="533400" y="4267200"/>
            <a:ext cx="41910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x′ = x + 150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y′ = y</a:t>
            </a:r>
          </a:p>
          <a:p>
            <a:endParaRPr sz="1800" b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Размер кадра остаётся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740 × 740 пикселей.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734331"/>
            <a:ext cx="6629400" cy="343696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81297E-F841-45D8-BBBE-DE631FCF5A88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Слева появилась чёрная полоса шириной 150 пикселей. Правая часть изображения вышла за границу кадра и обрезалась.</a:t>
            </a:r>
          </a:p>
        </p:txBody>
      </p:sp>
    </p:spTree>
    <p:extLst>
      <p:ext uri="{BB962C8B-B14F-4D97-AF65-F5344CB8AC3E}">
        <p14:creationId xmlns:p14="http://schemas.microsoft.com/office/powerpoint/2010/main" val="216005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A1439AC-42B9-426F-ABD1-8E95A2B2E473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4.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53EBA7-29C1-44D0-9C59-DF41D4CE198F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Отражение относительно обеих осей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93D758-7589-42E4-8E26-0BE82E6DA1E1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4B554E-6029-43CF-86B9-7962C8DE92C0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66675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mirror_image = cv2.flip(changing_image, -1)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88980" y="2276475"/>
            <a:ext cx="6614040" cy="3429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CB5643-16DC-42D8-895C-56FE5FF11D4C}"/>
              </a:ext>
            </a:extLst>
          </p:cNvPr>
          <p:cNvSpPr>
            <a:spLocks noGrp="1"/>
          </p:cNvSpPr>
          <p:nvPr/>
        </p:nvSpPr>
        <p:spPr>
          <a:xfrm>
            <a:off x="533400" y="5953125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Параметр −1 отражает изображение по горизонтали и вертикали. Это соответствует повороту на 180° вокруг центра сетки пикселей.</a:t>
            </a:r>
          </a:p>
        </p:txBody>
      </p:sp>
    </p:spTree>
    <p:extLst>
      <p:ext uri="{BB962C8B-B14F-4D97-AF65-F5344CB8AC3E}">
        <p14:creationId xmlns:p14="http://schemas.microsoft.com/office/powerpoint/2010/main" val="389336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D133DC1-12DF-45DA-A073-D71B0AD06A9F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5.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BD1181-EFCA-40E7-9548-2F84B354BA60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Перспективное преобразование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CEEDE4-1D4F-48AA-B25B-8F9C8DC772EA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1231E6-9A11-4BF6-BCEF-D4571F431A57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5429250" cy="350520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src_points = np.float32([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[100, 80], [400, 120],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[450, 400], [70, 380]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  <a:p>
            <a:endParaRPr sz="1575" b="0">
              <a:solidFill>
                <a:srgbClr val="E6F0F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dst_points = np.float32([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[0, 0], [w - 1, 0],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[w - 1, h - 1], [0, h - 1]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1FA692-A76B-40FB-9900-7491CBE25E81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5486400" cy="2590800"/>
          </a:xfrm>
          <a:prstGeom prst="rect">
            <a:avLst/>
          </a:prstGeom>
          <a:solidFill>
            <a:srgbClr val="182E38"/>
          </a:solidFill>
          <a:ln w="0">
            <a:noFill/>
          </a:ln>
        </p:spPr>
        <p:txBody>
          <a:bodyPr lIns="209550" tIns="190500" rIns="152400" bIns="152400" anchor="t">
            <a:noAutofit/>
          </a:bodyPr>
          <a:lstStyle/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matrix = cv2.getPerspectiveTransform(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src_points, dst_points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>
            <a:endParaRPr sz="1425" b="0">
              <a:solidFill>
                <a:srgbClr val="E6F0F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point_image = cv2.warpPerspective(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    changing_image, matrix, (w, h)</a:t>
            </a:r>
          </a:p>
          <a:p>
            <a:pPr algn="l">
              <a:lnSpc>
                <a:spcPct val="113000"/>
              </a:lnSpc>
              <a:buNone/>
              <a:def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6F0F1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0E58B6-47A0-4FDA-B87F-58993C996062}"/>
              </a:ext>
            </a:extLst>
          </p:cNvPr>
          <p:cNvSpPr>
            <a:spLocks noGrp="1"/>
          </p:cNvSpPr>
          <p:nvPr/>
        </p:nvSpPr>
        <p:spPr>
          <a:xfrm>
            <a:off x="6191250" y="4467225"/>
            <a:ext cx="546735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Четыре исходные точки переходят в углы кадра 740 × 740. Матрица преобразования имеет размер 3 × 3.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A486132-4374-44E4-BD7E-4E9890EDC63B}"/>
              </a:ext>
            </a:extLst>
          </p:cNvPr>
          <p:cNvSpPr>
            <a:spLocks noGrp="1"/>
          </p:cNvSpPr>
          <p:nvPr/>
        </p:nvSpPr>
        <p:spPr>
          <a:xfrm>
            <a:off x="533400" y="5934075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Порядок соответствующих точек: верхняя левая, верхняя правая, нижняя правая, нижняя левая.</a:t>
            </a:r>
          </a:p>
        </p:txBody>
      </p:sp>
    </p:spTree>
    <p:extLst>
      <p:ext uri="{BB962C8B-B14F-4D97-AF65-F5344CB8AC3E}">
        <p14:creationId xmlns:p14="http://schemas.microsoft.com/office/powerpoint/2010/main" val="69776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9D2B2F-2DD3-4BC9-9415-20ED65E067BC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 5.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37F7F6-DEFE-4DC4-9DB2-CD600EFA4866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Результат перспективного преобразования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F981B7-E74D-4881-B033-ACFCB3E21F8B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17342" y="1476375"/>
            <a:ext cx="8157315" cy="42291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992494-2B48-47D4-881A-D626F3184909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Выбранная четырёхугольная область растянута на весь кадр. Она включает только часть фигуры, поэтому результат показывает увеличенный и искажённый фрагмент.</a:t>
            </a:r>
          </a:p>
        </p:txBody>
      </p:sp>
    </p:spTree>
    <p:extLst>
      <p:ext uri="{BB962C8B-B14F-4D97-AF65-F5344CB8AC3E}">
        <p14:creationId xmlns:p14="http://schemas.microsoft.com/office/powerpoint/2010/main" val="278516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9D2B2F-2DD3-4BC9-9415-20ED65E067BC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275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dirty="0" err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Задание</a:t>
            </a:r>
            <a:r>
              <a:rPr sz="1275" b="1" dirty="0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 5.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37F7F6-DEFE-4DC4-9DB2-CD600EFA4866}"/>
              </a:ext>
            </a:extLst>
          </p:cNvPr>
          <p:cNvSpPr>
            <a:spLocks noGrp="1"/>
          </p:cNvSpPr>
          <p:nvPr/>
        </p:nvSpPr>
        <p:spPr>
          <a:xfrm>
            <a:off x="533400" y="733425"/>
            <a:ext cx="111252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Результат перспективного преобразования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F981B7-E74D-4881-B033-ACFCB3E21F8B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992494-2B48-47D4-881A-D626F3184909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13000"/>
              </a:lnSpc>
              <a:defRPr sz="16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650" dirty="0"/>
              <a:t>Результат показывает качественное «выпрямление» обложки: углы выровнены, перспектива устранена, детализация и цветовая гамма сохранены. </a:t>
            </a:r>
            <a:endParaRPr sz="1650" b="0" dirty="0">
              <a:solidFill>
                <a:srgbClr val="566872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1ED396-493F-4BE9-AE34-C19993F9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84" y="1495425"/>
            <a:ext cx="7841832" cy="410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0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605714-9E84-4097-8B10-8C0B610BAB5F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Выводы по работе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84B5F8-CFF1-4265-A6D4-F7CA3FB7EA92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FAE9EC-0072-43C3-934C-ADCC14631D95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08E675-6A82-4A57-994C-0668302FBC7B}"/>
              </a:ext>
            </a:extLst>
          </p:cNvPr>
          <p:cNvSpPr>
            <a:spLocks noGrp="1"/>
          </p:cNvSpPr>
          <p:nvPr/>
        </p:nvSpPr>
        <p:spPr>
          <a:xfrm>
            <a:off x="1390650" y="149542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Масштабирование уменьшило разрешение с 740 × 740 до 185 × 185 пикселей. Пропорции сохранились, детализация снизилась.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B9683F3-048B-4401-9E05-05080C8C05B7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1BFCF6-F138-4240-B5F8-8ABAECF1753C}"/>
              </a:ext>
            </a:extLst>
          </p:cNvPr>
          <p:cNvSpPr>
            <a:spLocks noGrp="1"/>
          </p:cNvSpPr>
          <p:nvPr/>
        </p:nvSpPr>
        <p:spPr>
          <a:xfrm>
            <a:off x="1390650" y="2667000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Поворот и отражение изменили ориентацию фигуры. Размер выходного кадра остался прежним.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B11DB0-1299-4AEF-9CAF-9F8688052201}"/>
              </a:ext>
            </a:extLst>
          </p:cNvPr>
          <p:cNvSpPr>
            <a:spLocks noGrp="1"/>
          </p:cNvSpPr>
          <p:nvPr/>
        </p:nvSpPr>
        <p:spPr>
          <a:xfrm>
            <a:off x="533400" y="38385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8054D0-3F1C-4811-9A16-7BF68206CD4D}"/>
              </a:ext>
            </a:extLst>
          </p:cNvPr>
          <p:cNvSpPr>
            <a:spLocks noGrp="1"/>
          </p:cNvSpPr>
          <p:nvPr/>
        </p:nvSpPr>
        <p:spPr>
          <a:xfrm>
            <a:off x="1390650" y="383857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Сдвиг изменил положение изображения на 150 пикселей вправо. Фиксированный размер кадра привёл к обрезке справа.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2360426-E8A2-438B-B4E1-6A2C5A1BFCD8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EBC48B-3A35-4D04-912B-80D1722A9EC6}"/>
              </a:ext>
            </a:extLst>
          </p:cNvPr>
          <p:cNvSpPr>
            <a:spLocks noGrp="1"/>
          </p:cNvSpPr>
          <p:nvPr/>
        </p:nvSpPr>
        <p:spPr>
          <a:xfrm>
            <a:off x="1390650" y="5010150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Перспективное преобразование отобразило выбранную область на прямоугольный кадр. Результат зависит от координат четырёх исходных точек.</a:t>
            </a:r>
          </a:p>
        </p:txBody>
      </p:sp>
    </p:spTree>
    <p:extLst>
      <p:ext uri="{BB962C8B-B14F-4D97-AF65-F5344CB8AC3E}">
        <p14:creationId xmlns:p14="http://schemas.microsoft.com/office/powerpoint/2010/main" val="404677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0D699-4708-A6C0-ED66-E446111B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73811B-0D44-44EB-D6A0-9C6554235186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3150" b="1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3150" b="1" dirty="0">
                <a:solidFill>
                  <a:srgbClr val="20333D"/>
                </a:solidFill>
                <a:latin typeface="DejaVu Sans"/>
                <a:ea typeface="DejaVu Sans"/>
                <a:cs typeface="DejaVu Sans"/>
              </a:rPr>
              <a:t>Ответы на контрольные вопросы</a:t>
            </a:r>
            <a:endParaRPr sz="3150" b="1" dirty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C38EF8-B7F2-27CC-4566-AF502CF53D13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6687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E8B46D-C6F9-BC60-D379-04BE21D94EE1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D70840-B95A-71D4-D48F-10A8E372DEB6}"/>
              </a:ext>
            </a:extLst>
          </p:cNvPr>
          <p:cNvSpPr>
            <a:spLocks noGrp="1"/>
          </p:cNvSpPr>
          <p:nvPr/>
        </p:nvSpPr>
        <p:spPr>
          <a:xfrm>
            <a:off x="1390650" y="149542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875" b="1" dirty="0">
                <a:solidFill>
                  <a:srgbClr val="20333D"/>
                </a:solidFill>
                <a:latin typeface="DejaVu Sans"/>
              </a:rPr>
              <a:t>Какой эффект даёт уменьшение изображения с коэффициентом 0.25? </a:t>
            </a:r>
            <a:r>
              <a:rPr lang="ru-RU" sz="1875" dirty="0">
                <a:solidFill>
                  <a:srgbClr val="20333D"/>
                </a:solidFill>
                <a:latin typeface="DejaVu Sans"/>
              </a:rPr>
              <a:t>Уменьшение изображения в 0.25 раза по каждой оси означает, что его линейные размеры сокращаются в 4 раза, а общее количество пикселей уменьшается в 16 раз. К основным эффектам относятся: потеря мелких деталей и высокочастотных компонентов, снижение вычислительной нагрузки и сохранение пропорций.</a:t>
            </a: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endParaRPr sz="1875" b="0" dirty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97C8DA-E112-5912-2116-856F7A5B1E56}"/>
              </a:ext>
            </a:extLst>
          </p:cNvPr>
          <p:cNvSpPr>
            <a:spLocks noGrp="1"/>
          </p:cNvSpPr>
          <p:nvPr/>
        </p:nvSpPr>
        <p:spPr>
          <a:xfrm>
            <a:off x="533400" y="38385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1">
                <a:solidFill>
                  <a:srgbClr val="237E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dirty="0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ru-RU" sz="2250" b="1" dirty="0">
                <a:solidFill>
                  <a:srgbClr val="237E80"/>
                </a:solidFill>
                <a:latin typeface="DejaVu Sans"/>
                <a:ea typeface="DejaVu Sans"/>
                <a:cs typeface="DejaVu Sans"/>
              </a:rPr>
              <a:t>2</a:t>
            </a:r>
            <a:endParaRPr sz="2250" b="1" dirty="0">
              <a:solidFill>
                <a:srgbClr val="237E8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B565DF-EDD7-B256-2052-EB5A9335DA14}"/>
              </a:ext>
            </a:extLst>
          </p:cNvPr>
          <p:cNvSpPr>
            <a:spLocks noGrp="1"/>
          </p:cNvSpPr>
          <p:nvPr/>
        </p:nvSpPr>
        <p:spPr>
          <a:xfrm>
            <a:off x="1390650" y="3838575"/>
            <a:ext cx="100774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875" b="1" dirty="0">
                <a:solidFill>
                  <a:srgbClr val="20333D"/>
                </a:solidFill>
                <a:latin typeface="DejaVu Sans"/>
              </a:rPr>
              <a:t>Сколько точек нужно для перспективного преобразования? </a:t>
            </a:r>
            <a:r>
              <a:rPr lang="ru-RU" sz="1875" dirty="0">
                <a:solidFill>
                  <a:srgbClr val="20333D"/>
                </a:solidFill>
                <a:latin typeface="DejaVu Sans"/>
              </a:rPr>
              <a:t>Для перспективного преобразования нужно 4 пары точек, так как матрица </a:t>
            </a:r>
            <a:r>
              <a:rPr lang="ru-RU" sz="1875" dirty="0" err="1">
                <a:solidFill>
                  <a:srgbClr val="20333D"/>
                </a:solidFill>
                <a:latin typeface="DejaVu Sans"/>
              </a:rPr>
              <a:t>гомографии</a:t>
            </a:r>
            <a:r>
              <a:rPr lang="ru-RU" sz="1875" dirty="0">
                <a:solidFill>
                  <a:srgbClr val="20333D"/>
                </a:solidFill>
                <a:latin typeface="DejaVu Sans"/>
              </a:rPr>
              <a:t> имеет 8 неизвестных параметров. Четыре точки дают ровно 8 уравнений, что позволяет однозначно решить систему. В коде это реализовано через cv2.getPerspectiveTransform, где мы задаём углы исходной трапеции и целевого прямоугольника.</a:t>
            </a: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20333D"/>
                </a:solidFill>
                <a:latin typeface="DejaVu Sans"/>
                <a:ea typeface="DejaVu Sans"/>
                <a:cs typeface="DejaVu Sans"/>
              </a:defRPr>
            </a:pPr>
            <a:endParaRPr sz="1875" b="0" dirty="0">
              <a:solidFill>
                <a:srgbClr val="20333D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1133849"/>
      </p:ext>
    </p:extLst>
  </p:cSld>
  <p:clrMapOvr>
    <a:masterClrMapping/>
  </p:clrMapOvr>
</p:sld>
</file>

<file path=ppt/theme/theme1.xml><?xml version="1.0" encoding="utf-8"?>
<a:theme xmlns:a="http://schemas.openxmlformats.org/drawingml/2006/main" name="Дюна">
  <a:themeElements>
    <a:clrScheme name="Дюна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Дюн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Дюна">
  <a:themeElements>
    <a:clrScheme name="Дюна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Дюн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925</Words>
  <Application>Microsoft Office PowerPoint</Application>
  <DocSecurity>0</DocSecurity>
  <PresentationFormat>Широкоэкранный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DejaVu Sans</vt:lpstr>
      <vt:lpstr>DejaVu Sans Mono</vt:lpstr>
      <vt:lpstr>Neue Haas Grotesk Text Pro</vt:lpstr>
      <vt:lpstr>Дюна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Ирина</cp:lastModifiedBy>
  <cp:revision>6</cp:revision>
  <dcterms:created xsi:type="dcterms:W3CDTF">2026-10-06T18:53:43Z</dcterms:created>
  <dcterms:modified xsi:type="dcterms:W3CDTF">2026-10-15T03:51:58Z</dcterms:modified>
</cp:coreProperties>
</file>